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309" r:id="rId4"/>
    <p:sldId id="1592" r:id="rId5"/>
    <p:sldId id="1593" r:id="rId7"/>
    <p:sldId id="1596" r:id="rId8"/>
    <p:sldId id="1598" r:id="rId9"/>
    <p:sldId id="1599" r:id="rId10"/>
    <p:sldId id="1600" r:id="rId11"/>
    <p:sldId id="1587" r:id="rId12"/>
    <p:sldId id="1569" r:id="rId13"/>
    <p:sldId id="1499" r:id="rId14"/>
    <p:sldId id="1588" r:id="rId15"/>
    <p:sldId id="1590" r:id="rId16"/>
    <p:sldId id="1591" r:id="rId17"/>
    <p:sldId id="1502" r:id="rId18"/>
    <p:sldId id="1589" r:id="rId19"/>
    <p:sldId id="1582" r:id="rId20"/>
    <p:sldId id="259" r:id="rId21"/>
  </p:sldIdLst>
  <p:sldSz cx="12192000" cy="6858000"/>
  <p:notesSz cx="6858000" cy="9144000"/>
  <p:custDataLst>
    <p:tags r:id="rId26"/>
  </p:custDataLst>
  <p:defaultTextStyle>
    <a:defPPr>
      <a:defRPr lang="en-US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lvl="1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lvl="2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lvl="3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lvl="4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lvl="5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lvl="6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lvl="7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lvl="8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谭秀鹏" initials="谭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407BAF"/>
    <a:srgbClr val="F3F9FA"/>
    <a:srgbClr val="0C57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240"/>
    <p:restoredTop sz="94607"/>
  </p:normalViewPr>
  <p:slideViewPr>
    <p:cSldViewPr showGuides="1">
      <p:cViewPr varScale="1">
        <p:scale>
          <a:sx n="108" d="100"/>
          <a:sy n="108" d="100"/>
        </p:scale>
        <p:origin x="1158" y="132"/>
      </p:cViewPr>
      <p:guideLst>
        <p:guide orient="horz" pos="2300"/>
        <p:guide pos="3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59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9" name="Notes Placeholder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lang="zh-CN" altLang="en-US" sz="1200" strike="noStrike" noProof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102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pitchFamily="2" charset="-122"/>
                <a:ea typeface="等线" panose="02010600030101010101" pitchFamily="2" charset="-122"/>
              </a:rPr>
            </a:fld>
            <a:endParaRPr lang="zh-CN" altLang="en-US" sz="12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1"/>
          <p:cNvCxnSpPr/>
          <p:nvPr/>
        </p:nvCxnSpPr>
        <p:spPr>
          <a:xfrm>
            <a:off x="-19050" y="692150"/>
            <a:ext cx="12185650" cy="0"/>
          </a:xfrm>
          <a:prstGeom prst="line">
            <a:avLst/>
          </a:prstGeom>
          <a:ln w="60325" cmpd="thinThick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8110" y="-171400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1"/>
          <p:cNvCxnSpPr/>
          <p:nvPr/>
        </p:nvCxnSpPr>
        <p:spPr>
          <a:xfrm>
            <a:off x="-19050" y="692150"/>
            <a:ext cx="12185650" cy="0"/>
          </a:xfrm>
          <a:prstGeom prst="line">
            <a:avLst/>
          </a:prstGeom>
          <a:ln w="60325" cmpd="thinThick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92615" cy="4525963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00201"/>
            <a:ext cx="5392615" cy="4525963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8110" y="-171400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1"/>
          <p:cNvCxnSpPr/>
          <p:nvPr/>
        </p:nvCxnSpPr>
        <p:spPr>
          <a:xfrm>
            <a:off x="-19050" y="692150"/>
            <a:ext cx="12185650" cy="0"/>
          </a:xfrm>
          <a:prstGeom prst="line">
            <a:avLst/>
          </a:prstGeom>
          <a:ln w="60325" cmpd="thinThick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154" y="1681163"/>
            <a:ext cx="5158154" cy="823912"/>
          </a:xfrm>
        </p:spPr>
        <p:txBody>
          <a:bodyPr anchor="b"/>
          <a:lstStyle>
            <a:lvl1pPr marL="0" indent="0">
              <a:buNone/>
              <a:defRPr sz="2955" b="1"/>
            </a:lvl1pPr>
            <a:lvl2pPr marL="562610" indent="0">
              <a:buNone/>
              <a:defRPr sz="2460" b="1"/>
            </a:lvl2pPr>
            <a:lvl3pPr marL="1125220" indent="0">
              <a:buNone/>
              <a:defRPr sz="2215" b="1"/>
            </a:lvl3pPr>
            <a:lvl4pPr marL="1688465" indent="0">
              <a:buNone/>
              <a:defRPr sz="1970" b="1"/>
            </a:lvl4pPr>
            <a:lvl5pPr marL="2251075" indent="0">
              <a:buNone/>
              <a:defRPr sz="1970" b="1"/>
            </a:lvl5pPr>
            <a:lvl6pPr marL="2813685" indent="0">
              <a:buNone/>
              <a:defRPr sz="1970" b="1"/>
            </a:lvl6pPr>
            <a:lvl7pPr marL="3376295" indent="0">
              <a:buNone/>
              <a:defRPr sz="1970" b="1"/>
            </a:lvl7pPr>
            <a:lvl8pPr marL="3938905" indent="0">
              <a:buNone/>
              <a:defRPr sz="1970" b="1"/>
            </a:lvl8pPr>
            <a:lvl9pPr marL="4501515" indent="0">
              <a:buNone/>
              <a:defRPr sz="1970" b="1"/>
            </a:lvl9pPr>
          </a:lstStyle>
          <a:p>
            <a:pPr lvl="0" fontAlgn="base"/>
            <a:r>
              <a:rPr lang="en-US" altLang="zh-CN" sz="2955" strike="noStrike" noProof="1"/>
              <a:t>Edit Master text styles</a:t>
            </a:r>
            <a:endParaRPr lang="en-US" altLang="zh-CN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154" y="2505075"/>
            <a:ext cx="5158154" cy="3684588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553" cy="823912"/>
          </a:xfrm>
        </p:spPr>
        <p:txBody>
          <a:bodyPr anchor="b"/>
          <a:lstStyle>
            <a:lvl1pPr marL="0" indent="0">
              <a:buNone/>
              <a:defRPr sz="2955" b="1"/>
            </a:lvl1pPr>
            <a:lvl2pPr marL="562610" indent="0">
              <a:buNone/>
              <a:defRPr sz="2460" b="1"/>
            </a:lvl2pPr>
            <a:lvl3pPr marL="1125220" indent="0">
              <a:buNone/>
              <a:defRPr sz="2215" b="1"/>
            </a:lvl3pPr>
            <a:lvl4pPr marL="1688465" indent="0">
              <a:buNone/>
              <a:defRPr sz="1970" b="1"/>
            </a:lvl4pPr>
            <a:lvl5pPr marL="2251075" indent="0">
              <a:buNone/>
              <a:defRPr sz="1970" b="1"/>
            </a:lvl5pPr>
            <a:lvl6pPr marL="2813685" indent="0">
              <a:buNone/>
              <a:defRPr sz="1970" b="1"/>
            </a:lvl6pPr>
            <a:lvl7pPr marL="3376295" indent="0">
              <a:buNone/>
              <a:defRPr sz="1970" b="1"/>
            </a:lvl7pPr>
            <a:lvl8pPr marL="3938905" indent="0">
              <a:buNone/>
              <a:defRPr sz="1970" b="1"/>
            </a:lvl8pPr>
            <a:lvl9pPr marL="4501515" indent="0">
              <a:buNone/>
              <a:defRPr sz="1970" b="1"/>
            </a:lvl9pPr>
          </a:lstStyle>
          <a:p>
            <a:pPr lvl="0" fontAlgn="base"/>
            <a:r>
              <a:rPr lang="en-US" altLang="zh-CN" sz="2955" strike="noStrike" noProof="1"/>
              <a:t>Edit Master text styles</a:t>
            </a:r>
            <a:endParaRPr lang="en-US" altLang="zh-CN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553" cy="3684588"/>
          </a:xfrm>
        </p:spPr>
        <p:txBody>
          <a:bodyPr/>
          <a:lstStyle/>
          <a:p>
            <a:pPr lvl="0" fontAlgn="base"/>
            <a:r>
              <a:rPr lang="en-US" altLang="zh-CN" strike="noStrike" noProof="1"/>
              <a:t>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58110" y="-171400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225" y="185738"/>
            <a:ext cx="1527175" cy="2619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4" name="组合 8"/>
          <p:cNvGrpSpPr/>
          <p:nvPr userDrawn="1"/>
        </p:nvGrpSpPr>
        <p:grpSpPr>
          <a:xfrm>
            <a:off x="320675" y="60325"/>
            <a:ext cx="638175" cy="506413"/>
            <a:chOff x="-10583" y="105502"/>
            <a:chExt cx="615821" cy="487307"/>
          </a:xfrm>
        </p:grpSpPr>
        <p:sp>
          <p:nvSpPr>
            <p:cNvPr id="7" name="菱形 6"/>
            <p:cNvSpPr/>
            <p:nvPr/>
          </p:nvSpPr>
          <p:spPr>
            <a:xfrm>
              <a:off x="232988" y="163551"/>
              <a:ext cx="372250" cy="371209"/>
            </a:xfrm>
            <a:prstGeom prst="diamond">
              <a:avLst/>
            </a:prstGeom>
            <a:solidFill>
              <a:srgbClr val="B0C8E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菱形 7"/>
            <p:cNvSpPr/>
            <p:nvPr/>
          </p:nvSpPr>
          <p:spPr>
            <a:xfrm>
              <a:off x="-10583" y="105502"/>
              <a:ext cx="487142" cy="487307"/>
            </a:xfrm>
            <a:prstGeom prst="diamond">
              <a:avLst/>
            </a:prstGeom>
            <a:solidFill>
              <a:srgbClr val="0C5D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320675" y="611188"/>
            <a:ext cx="11515725" cy="47625"/>
          </a:xfrm>
          <a:prstGeom prst="rect">
            <a:avLst/>
          </a:prstGeom>
          <a:solidFill>
            <a:srgbClr val="005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8" name="Picture 2" descr="C:\Users\10859\Desktop\0图1片1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2192338"/>
            <a:ext cx="12192000" cy="4665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9FE242F-4C14-49B4-AAC2-7285167CA354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algn="r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zh-CN" altLang="en-US" strike="noStrike" noProof="1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3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ea typeface="等线" panose="02010600030101010101" pitchFamily="2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Calibri" panose="020F0502020204030204" pitchFamily="34" charset="0"/>
                <a:ea typeface="等线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Calibri" panose="020F0502020204030204" pitchFamily="34" charset="0"/>
            </a:endParaRPr>
          </a:p>
        </p:txBody>
      </p:sp>
      <p:pic>
        <p:nvPicPr>
          <p:cNvPr id="1031" name="Picture 7" descr="杰锐思VI PPT-02"/>
          <p:cNvPicPr>
            <a:picLocks noChangeAspect="1"/>
          </p:cNvPicPr>
          <p:nvPr userDrawn="1"/>
        </p:nvPicPr>
        <p:blipFill>
          <a:blip r:embed="rId16"/>
          <a:srcRect b="91219"/>
          <a:stretch>
            <a:fillRect/>
          </a:stretch>
        </p:blipFill>
        <p:spPr>
          <a:xfrm>
            <a:off x="-6350" y="6245225"/>
            <a:ext cx="12192000" cy="6016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0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6.png"/><Relationship Id="rId7" Type="http://schemas.openxmlformats.org/officeDocument/2006/relationships/image" Target="../media/image13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image" Target="../media/image13.png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35.xml"/><Relationship Id="rId29" Type="http://schemas.openxmlformats.org/officeDocument/2006/relationships/tags" Target="../tags/tag57.xml"/><Relationship Id="rId28" Type="http://schemas.openxmlformats.org/officeDocument/2006/relationships/image" Target="../media/image27.png"/><Relationship Id="rId27" Type="http://schemas.openxmlformats.org/officeDocument/2006/relationships/image" Target="../media/image23.png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4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image" Target="../media/image25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6.png"/><Relationship Id="rId3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tags" Target="../tags/tag5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69" name="Group 4"/>
          <p:cNvGrpSpPr/>
          <p:nvPr/>
        </p:nvGrpSpPr>
        <p:grpSpPr>
          <a:xfrm>
            <a:off x="0" y="0"/>
            <a:ext cx="12192000" cy="6278245"/>
            <a:chOff x="0" y="0"/>
            <a:chExt cx="9906000" cy="6929864"/>
          </a:xfrm>
        </p:grpSpPr>
        <p:pic>
          <p:nvPicPr>
            <p:cNvPr id="7170" name="Picture 5" descr="杰锐思VI PPT-0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9906000" cy="692986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1" name="Picture 5" descr="杰锐思VI PPT-01"/>
            <p:cNvPicPr>
              <a:picLocks noChangeAspect="1"/>
            </p:cNvPicPr>
            <p:nvPr/>
          </p:nvPicPr>
          <p:blipFill>
            <a:blip r:embed="rId1"/>
            <a:srcRect t="24666" r="34093" b="51195"/>
            <a:stretch>
              <a:fillRect/>
            </a:stretch>
          </p:blipFill>
          <p:spPr>
            <a:xfrm>
              <a:off x="200472" y="3573016"/>
              <a:ext cx="6528792" cy="165618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TextBox 1"/>
          <p:cNvSpPr txBox="1"/>
          <p:nvPr/>
        </p:nvSpPr>
        <p:spPr>
          <a:xfrm>
            <a:off x="479425" y="1844675"/>
            <a:ext cx="11456988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45720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JC250028 </a:t>
            </a:r>
            <a:r>
              <a:rPr kumimoji="0" lang="zh-CN" altLang="en-US" sz="4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浙江锂威数码卷绕机</a:t>
            </a:r>
            <a:r>
              <a:rPr kumimoji="0" lang="zh-CN" altLang="en-US" sz="4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视觉方案</a:t>
            </a:r>
            <a:r>
              <a:rPr kumimoji="0" lang="zh-CN" altLang="en-US" sz="2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kumimoji="0" lang="en-US" altLang="zh-CN" sz="2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V1.2</a:t>
            </a:r>
            <a:r>
              <a:rPr kumimoji="0" lang="zh-CN" altLang="en-US" sz="2000" b="1" kern="1200" cap="none" spc="0" normalizeH="0" baseline="0" noProof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0" lang="en-US" altLang="zh-CN" sz="2000" b="1" kern="1200" cap="none" spc="0" normalizeH="0" baseline="0" noProof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244" name="TextBox 6"/>
          <p:cNvSpPr txBox="1">
            <a:spLocks noChangeArrowheads="1"/>
          </p:cNvSpPr>
          <p:nvPr/>
        </p:nvSpPr>
        <p:spPr bwMode="auto">
          <a:xfrm>
            <a:off x="766763" y="4581525"/>
            <a:ext cx="10017125" cy="5461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2025</a:t>
            </a:r>
            <a:r>
              <a:rPr kumimoji="0" lang="zh-CN" altLang="en-US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02</a:t>
            </a:r>
            <a:r>
              <a:rPr kumimoji="0" lang="zh-CN" altLang="en-US" sz="29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月</a:t>
            </a:r>
            <a:endParaRPr kumimoji="0" lang="zh-CN" altLang="en-US" sz="295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1"/>
          <p:cNvSpPr>
            <a:spLocks noGrp="1" noChangeArrowheads="1"/>
          </p:cNvSpPr>
          <p:nvPr>
            <p:ph type="title"/>
          </p:nvPr>
        </p:nvSpPr>
        <p:spPr>
          <a:xfrm>
            <a:off x="0" y="115888"/>
            <a:ext cx="10972800" cy="5334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更新记录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479425" y="1773238"/>
          <a:ext cx="10972800" cy="2686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4906"/>
                <a:gridCol w="2279015"/>
                <a:gridCol w="2110104"/>
                <a:gridCol w="5148775"/>
              </a:tblGrid>
              <a:tr h="44776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版本</a:t>
                      </a:r>
                      <a:endParaRPr lang="zh-CN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更新时间</a:t>
                      </a:r>
                      <a:endParaRPr lang="zh-CN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12565" marR="112565" marT="56235" marB="5623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工程师</a:t>
                      </a:r>
                      <a:endParaRPr lang="zh-CN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12565" marR="112565" marT="56235" marB="5623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dirty="0">
                          <a:solidFill>
                            <a:schemeClr val="tx1"/>
                          </a:solidFill>
                        </a:rPr>
                        <a:t>备注</a:t>
                      </a:r>
                      <a:endParaRPr lang="zh-CN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439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V1.0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20250211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夏鹏帅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根据技术规格，初版方案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V1.1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20250306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夏鹏帅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更新各个工位相机选型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3998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V1.2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20250308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夏鹏帅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更新切口检测工位和焊接工位镜头型号及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工作距离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39983">
                <a:tc>
                  <a:txBody>
                    <a:bodyPr/>
                    <a:p>
                      <a:pPr algn="ctr"/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p>
                      <a:pPr algn="ctr"/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39983">
                <a:tc>
                  <a:txBody>
                    <a:bodyPr/>
                    <a:lstStyle/>
                    <a:p>
                      <a:pPr algn="ctr"/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/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2565" marR="112565" marT="56235" marB="5623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335915" y="1268413"/>
            <a:ext cx="3308350" cy="2952750"/>
            <a:chOff x="1187624" y="1671750"/>
            <a:chExt cx="2016225" cy="1800000"/>
          </a:xfrm>
        </p:grpSpPr>
        <p:sp>
          <p:nvSpPr>
            <p:cNvPr id="4" name="六边形 3"/>
            <p:cNvSpPr/>
            <p:nvPr/>
          </p:nvSpPr>
          <p:spPr>
            <a:xfrm>
              <a:off x="1187624" y="1671750"/>
              <a:ext cx="2016225" cy="1800000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955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3"/>
            <p:cNvSpPr txBox="1"/>
            <p:nvPr/>
          </p:nvSpPr>
          <p:spPr>
            <a:xfrm>
              <a:off x="1394664" y="2125621"/>
              <a:ext cx="1583762" cy="85741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R="0" algn="ctr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910" b="1" kern="1200" cap="none" spc="0" normalizeH="0" baseline="0" noProof="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  录</a:t>
              </a:r>
              <a:endParaRPr kumimoji="0" lang="en-US" altLang="zh-CN" sz="5910" b="1" kern="1200" cap="none" spc="0" normalizeH="0" baseline="0" noProof="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R="0" algn="ctr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30" b="1" kern="1200" cap="none" spc="0" normalizeH="0" baseline="0" noProof="0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CONTENTS</a:t>
              </a:r>
              <a:endParaRPr kumimoji="0" lang="en-US" altLang="zh-CN" sz="2630" b="1" kern="1200" cap="none" spc="0" normalizeH="0" baseline="0" noProof="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"/>
            </p:custDataLst>
          </p:nvPr>
        </p:nvGrpSpPr>
        <p:grpSpPr>
          <a:xfrm>
            <a:off x="4047944" y="405130"/>
            <a:ext cx="7470956" cy="4598958"/>
            <a:chOff x="6425" y="1196"/>
            <a:chExt cx="11765" cy="7879"/>
          </a:xfrm>
        </p:grpSpPr>
        <p:grpSp>
          <p:nvGrpSpPr>
            <p:cNvPr id="29" name="组合 28"/>
            <p:cNvGrpSpPr/>
            <p:nvPr>
              <p:custDataLst>
                <p:tags r:id="rId2"/>
              </p:custDataLst>
            </p:nvPr>
          </p:nvGrpSpPr>
          <p:grpSpPr>
            <a:xfrm>
              <a:off x="6425" y="1196"/>
              <a:ext cx="11765" cy="6588"/>
              <a:chOff x="7036" y="1083"/>
              <a:chExt cx="12741" cy="6889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036" y="2488"/>
                <a:ext cx="11483" cy="5484"/>
                <a:chOff x="7036" y="1859"/>
                <a:chExt cx="11792" cy="6113"/>
              </a:xfrm>
            </p:grpSpPr>
            <p:sp>
              <p:nvSpPr>
                <p:cNvPr id="19" name="TextBox 19"/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8760" y="3740"/>
                  <a:ext cx="9640" cy="919"/>
                </a:xfrm>
                <a:prstGeom prst="rect">
                  <a:avLst/>
                </a:prstGeom>
                <a:noFill/>
              </p:spPr>
              <p:txBody>
                <a:bodyPr>
                  <a:spAutoFit/>
                </a:bodyPr>
                <a:lstStyle/>
                <a:p>
                  <a:pPr marR="0" defTabSz="45720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工位</a:t>
                  </a:r>
                  <a:r>
                    <a:rPr kumimoji="0" lang="en-US" sz="2400" b="1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3 </a:t>
                  </a:r>
                  <a:r>
                    <a:rPr kumimoji="0" lang="zh-CN" altLang="en-US" sz="2400" b="1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阴</a:t>
                  </a:r>
                  <a:r>
                    <a:rPr kumimoji="0" lang="en-US" altLang="zh-CN" sz="2400" b="1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/</a:t>
                  </a:r>
                  <a:r>
                    <a:rPr kumimoji="0" lang="zh-CN" altLang="en-US" sz="2400" b="1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阳极绿胶检测工位</a:t>
                  </a:r>
                  <a:endParaRPr kumimoji="0" lang="zh-CN" altLang="en-US" sz="2400" kern="1200" cap="none" spc="0" normalizeH="0" baseline="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grpSp>
              <p:nvGrpSpPr>
                <p:cNvPr id="11" name="组合 10"/>
                <p:cNvGrpSpPr/>
                <p:nvPr/>
              </p:nvGrpSpPr>
              <p:grpSpPr>
                <a:xfrm>
                  <a:off x="7036" y="1859"/>
                  <a:ext cx="11792" cy="6113"/>
                  <a:chOff x="7036" y="1859"/>
                  <a:chExt cx="11792" cy="6113"/>
                </a:xfrm>
              </p:grpSpPr>
              <p:grpSp>
                <p:nvGrpSpPr>
                  <p:cNvPr id="6" name="组合 5"/>
                  <p:cNvGrpSpPr/>
                  <p:nvPr>
                    <p:custDataLst>
                      <p:tags r:id="rId4"/>
                    </p:custDataLst>
                  </p:nvPr>
                </p:nvGrpSpPr>
                <p:grpSpPr>
                  <a:xfrm>
                    <a:off x="7036" y="1859"/>
                    <a:ext cx="1563" cy="1396"/>
                    <a:chOff x="4022432" y="654195"/>
                    <a:chExt cx="604868" cy="540000"/>
                  </a:xfr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100000">
                        <a:schemeClr val="bg1"/>
                      </a:gs>
                    </a:gsLst>
                    <a:lin ang="7200000" scaled="0"/>
                  </a:gradFill>
                  <a:effectLst>
                    <a:outerShdw blurRad="228600" dist="228600" dir="5400000" algn="t" rotWithShape="0">
                      <a:prstClr val="black">
                        <a:alpha val="30000"/>
                      </a:prstClr>
                    </a:outerShdw>
                  </a:effectLst>
                </p:grpSpPr>
                <p:sp>
                  <p:nvSpPr>
                    <p:cNvPr id="7" name="六边形 6"/>
                    <p:cNvSpPr>
                      <a:spLocks noChangeAspect="1"/>
                    </p:cNvSpPr>
                    <p:nvPr>
                      <p:custDataLst>
                        <p:tags r:id="rId5"/>
                      </p:custDataLst>
                    </p:nvPr>
                  </p:nvSpPr>
                  <p:spPr>
                    <a:xfrm>
                      <a:off x="4022432" y="654195"/>
                      <a:ext cx="604868" cy="540000"/>
                    </a:xfrm>
                    <a:prstGeom prst="hexagon">
                      <a:avLst/>
                    </a:prstGeom>
                    <a:grpFill/>
                    <a:ln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>
                              <a:lumMod val="75000"/>
                            </a:schemeClr>
                          </a:gs>
                        </a:gsLst>
                        <a:lin ang="5400000" scaled="0"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" name="TextBox 6"/>
                    <p:cNvSpPr txBox="1"/>
                    <p:nvPr>
                      <p:custDataLst>
                        <p:tags r:id="rId6"/>
                      </p:custDataLst>
                    </p:nvPr>
                  </p:nvSpPr>
                  <p:spPr>
                    <a:xfrm>
                      <a:off x="4168799" y="768870"/>
                      <a:ext cx="288032" cy="3556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1" name="TextBox 19"/>
                  <p:cNvSpPr txBox="1"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8760" y="2286"/>
                    <a:ext cx="7713" cy="919"/>
                  </a:xfrm>
                  <a:prstGeom prst="rect">
                    <a:avLst/>
                  </a:prstGeom>
                  <a:noFill/>
                </p:spPr>
                <p:txBody>
                  <a:bodyPr>
                    <a:spAutoFit/>
                  </a:bodyPr>
                  <a:lstStyle/>
                  <a:p>
                    <a:pPr marR="0" defTabSz="457200" fontAlgn="auto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工位</a:t>
                    </a:r>
                    <a:r>
                      <a:rPr kumimoji="0" lang="en-US" altLang="zh-CN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2</a:t>
                    </a: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 阴</a:t>
                    </a:r>
                    <a:r>
                      <a:rPr kumimoji="0" lang="en-US" altLang="zh-CN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/</a:t>
                    </a: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阳极焊接工位</a:t>
                    </a:r>
                    <a:endParaRPr kumimoji="0" lang="zh-CN" altLang="en-US" sz="2400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16" name="组合 15"/>
                  <p:cNvGrpSpPr/>
                  <p:nvPr>
                    <p:custDataLst>
                      <p:tags r:id="rId8"/>
                    </p:custDataLst>
                  </p:nvPr>
                </p:nvGrpSpPr>
                <p:grpSpPr>
                  <a:xfrm>
                    <a:off x="7036" y="3433"/>
                    <a:ext cx="1563" cy="1396"/>
                    <a:chOff x="3991874" y="654654"/>
                    <a:chExt cx="604868" cy="540000"/>
                  </a:xfr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100000">
                        <a:schemeClr val="bg1"/>
                      </a:gs>
                    </a:gsLst>
                    <a:lin ang="7200000" scaled="0"/>
                  </a:gradFill>
                  <a:effectLst>
                    <a:outerShdw blurRad="228600" dist="228600" dir="5400000" algn="t" rotWithShape="0">
                      <a:prstClr val="black">
                        <a:alpha val="30000"/>
                      </a:prstClr>
                    </a:outerShdw>
                  </a:effectLst>
                </p:grpSpPr>
                <p:sp>
                  <p:nvSpPr>
                    <p:cNvPr id="17" name="六边形 16"/>
                    <p:cNvSpPr>
                      <a:spLocks noChangeAspect="1"/>
                    </p:cNvSpPr>
                    <p:nvPr>
                      <p:custDataLst>
                        <p:tags r:id="rId9"/>
                      </p:custDataLst>
                    </p:nvPr>
                  </p:nvSpPr>
                  <p:spPr>
                    <a:xfrm>
                      <a:off x="3991874" y="654654"/>
                      <a:ext cx="604868" cy="540000"/>
                    </a:xfrm>
                    <a:prstGeom prst="hexagon">
                      <a:avLst/>
                    </a:prstGeom>
                    <a:grpFill/>
                    <a:ln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>
                              <a:lumMod val="75000"/>
                            </a:schemeClr>
                          </a:gs>
                        </a:gsLst>
                        <a:lin ang="5400000" scaled="0"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8" name="TextBox 6"/>
                    <p:cNvSpPr txBox="1"/>
                    <p:nvPr>
                      <p:custDataLst>
                        <p:tags r:id="rId10"/>
                      </p:custDataLst>
                    </p:nvPr>
                  </p:nvSpPr>
                  <p:spPr>
                    <a:xfrm>
                      <a:off x="4138242" y="724599"/>
                      <a:ext cx="288032" cy="3556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" name="组合 11"/>
                  <p:cNvGrpSpPr/>
                  <p:nvPr>
                    <p:custDataLst>
                      <p:tags r:id="rId11"/>
                    </p:custDataLst>
                  </p:nvPr>
                </p:nvGrpSpPr>
                <p:grpSpPr>
                  <a:xfrm>
                    <a:off x="7036" y="6576"/>
                    <a:ext cx="1563" cy="1396"/>
                    <a:chOff x="3991874" y="655145"/>
                    <a:chExt cx="604868" cy="540000"/>
                  </a:xfr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100000">
                        <a:schemeClr val="bg1"/>
                      </a:gs>
                    </a:gsLst>
                    <a:lin ang="7200000" scaled="0"/>
                  </a:gradFill>
                  <a:effectLst>
                    <a:outerShdw blurRad="228600" dist="228600" dir="5400000" algn="t" rotWithShape="0">
                      <a:prstClr val="black">
                        <a:alpha val="30000"/>
                      </a:prstClr>
                    </a:outerShdw>
                  </a:effectLst>
                </p:grpSpPr>
                <p:sp>
                  <p:nvSpPr>
                    <p:cNvPr id="13" name="六边形 12"/>
                    <p:cNvSpPr>
                      <a:spLocks noChangeAspect="1"/>
                    </p:cNvSpPr>
                    <p:nvPr>
                      <p:custDataLst>
                        <p:tags r:id="rId12"/>
                      </p:custDataLst>
                    </p:nvPr>
                  </p:nvSpPr>
                  <p:spPr>
                    <a:xfrm>
                      <a:off x="3991874" y="655145"/>
                      <a:ext cx="604868" cy="540000"/>
                    </a:xfrm>
                    <a:prstGeom prst="hexagon">
                      <a:avLst/>
                    </a:prstGeom>
                    <a:grpFill/>
                    <a:ln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>
                              <a:lumMod val="75000"/>
                            </a:schemeClr>
                          </a:gs>
                        </a:gsLst>
                        <a:lin ang="5400000" scaled="0"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" name="TextBox 6"/>
                    <p:cNvSpPr txBox="1"/>
                    <p:nvPr>
                      <p:custDataLst>
                        <p:tags r:id="rId13"/>
                      </p:custDataLst>
                    </p:nvPr>
                  </p:nvSpPr>
                  <p:spPr>
                    <a:xfrm>
                      <a:off x="4159760" y="756083"/>
                      <a:ext cx="288032" cy="3556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15" name="TextBox 19"/>
                  <p:cNvSpPr txBox="1"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8801" y="6854"/>
                    <a:ext cx="8082" cy="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R="0" defTabSz="457200" fontAlgn="auto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工位</a:t>
                    </a:r>
                    <a:r>
                      <a:rPr kumimoji="0" 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5 </a:t>
                    </a: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卷绕收尾错位检测</a:t>
                    </a: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工位</a:t>
                    </a:r>
                    <a:endParaRPr kumimoji="0" lang="zh-CN" altLang="en-US" sz="2400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grpSp>
                <p:nvGrpSpPr>
                  <p:cNvPr id="25" name="组合 24"/>
                  <p:cNvGrpSpPr/>
                  <p:nvPr>
                    <p:custDataLst>
                      <p:tags r:id="rId15"/>
                    </p:custDataLst>
                  </p:nvPr>
                </p:nvGrpSpPr>
                <p:grpSpPr>
                  <a:xfrm>
                    <a:off x="7036" y="5006"/>
                    <a:ext cx="1563" cy="1396"/>
                    <a:chOff x="3991874" y="654654"/>
                    <a:chExt cx="604868" cy="540000"/>
                  </a:xfrm>
                  <a:gradFill>
                    <a:gsLst>
                      <a:gs pos="0">
                        <a:schemeClr val="bg1">
                          <a:lumMod val="75000"/>
                        </a:schemeClr>
                      </a:gs>
                      <a:gs pos="100000">
                        <a:schemeClr val="bg1"/>
                      </a:gs>
                    </a:gsLst>
                    <a:lin ang="7200000" scaled="0"/>
                  </a:gradFill>
                  <a:effectLst>
                    <a:outerShdw blurRad="228600" dist="228600" dir="5400000" algn="t" rotWithShape="0">
                      <a:prstClr val="black">
                        <a:alpha val="30000"/>
                      </a:prstClr>
                    </a:outerShdw>
                  </a:effectLst>
                </p:grpSpPr>
                <p:sp>
                  <p:nvSpPr>
                    <p:cNvPr id="26" name="六边形 25"/>
                    <p:cNvSpPr>
                      <a:spLocks noChangeAspect="1"/>
                    </p:cNvSpPr>
                    <p:nvPr>
                      <p:custDataLst>
                        <p:tags r:id="rId16"/>
                      </p:custDataLst>
                    </p:nvPr>
                  </p:nvSpPr>
                  <p:spPr>
                    <a:xfrm>
                      <a:off x="3991874" y="654654"/>
                      <a:ext cx="604868" cy="540000"/>
                    </a:xfrm>
                    <a:prstGeom prst="hexagon">
                      <a:avLst/>
                    </a:prstGeom>
                    <a:grpFill/>
                    <a:ln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>
                              <a:lumMod val="75000"/>
                            </a:schemeClr>
                          </a:gs>
                        </a:gsLst>
                        <a:lin ang="5400000" scaled="0"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7" name="TextBox 6"/>
                    <p:cNvSpPr txBox="1"/>
                    <p:nvPr>
                      <p:custDataLst>
                        <p:tags r:id="rId17"/>
                      </p:custDataLst>
                    </p:nvPr>
                  </p:nvSpPr>
                  <p:spPr>
                    <a:xfrm>
                      <a:off x="4138242" y="732938"/>
                      <a:ext cx="288032" cy="3556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endParaRPr kumimoji="0" lang="en-US" altLang="zh-CN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8" name="TextBox 19"/>
                  <p:cNvSpPr txBox="1"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8760" y="5342"/>
                    <a:ext cx="10068" cy="165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R="0" defTabSz="457200" fontAlgn="auto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工位</a:t>
                    </a:r>
                    <a:r>
                      <a:rPr kumimoji="0" lang="en-US" altLang="zh-CN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4 </a:t>
                    </a:r>
                    <a:r>
                      <a:rPr kumimoji="0" lang="zh-CN" altLang="en-US" sz="2400" b="1" kern="1200" cap="none" spc="0" normalizeH="0" baseline="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卷绕对齐度及入料打折检测工位</a:t>
                    </a:r>
                    <a:endParaRPr kumimoji="0" lang="zh-CN" altLang="en-US" sz="2400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  <a:p>
                    <a:pPr marR="0" defTabSz="457200" fontAlgn="auto"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kern="1200" cap="none" spc="0" normalizeH="0" baseline="0" noProof="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22" name="六边形 21"/>
              <p:cNvSpPr>
                <a:spLocks noChangeAspec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7036" y="1083"/>
                <a:ext cx="1522" cy="1252"/>
              </a:xfrm>
              <a:prstGeom prst="hexagon">
                <a:avLst/>
              </a:prstGeom>
              <a:gradFill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7200000" scaled="0"/>
              </a:gradFill>
              <a:ln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0"/>
                </a:gradFill>
              </a:ln>
              <a:effectLst>
                <a:outerShdw blurRad="228600" dist="228600" dir="5400000" algn="t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404" y="1273"/>
                <a:ext cx="725" cy="8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8600" dist="228600" dir="5400000" algn="t" rotWithShape="0">
                  <a:prstClr val="black">
                    <a:alpha val="30000"/>
                  </a:prstClr>
                </a:outerShdw>
              </a:effectLst>
            </p:spPr>
            <p:txBody>
              <a:bodyPr>
                <a:spAutoFit/>
              </a:bodyPr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TextBox 19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635" y="1381"/>
                <a:ext cx="11142" cy="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p>
                <a:pPr marR="0" defTabSz="457200" fontAlgn="auto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kern="1200" cap="none" spc="0" normalizeH="0" baseline="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工位</a:t>
                </a:r>
                <a:r>
                  <a:rPr kumimoji="0" lang="en-US" altLang="zh-CN" sz="2400" b="1" kern="1200" cap="none" spc="0" normalizeH="0" baseline="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1</a:t>
                </a:r>
                <a:r>
                  <a:rPr kumimoji="0" lang="zh-CN" altLang="en-US" sz="2400" b="1" kern="1200" cap="none" spc="0" normalizeH="0" baseline="0" noProof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阴极模切后切口检测工位</a:t>
                </a:r>
                <a:endPara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" name="六边形 1"/>
            <p:cNvSpPr>
              <a:spLocks noChangeAspect="1"/>
            </p:cNvSpPr>
            <p:nvPr>
              <p:custDataLst>
                <p:tags r:id="rId22"/>
              </p:custDataLst>
            </p:nvPr>
          </p:nvSpPr>
          <p:spPr>
            <a:xfrm>
              <a:off x="6425" y="7877"/>
              <a:ext cx="1405" cy="1198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6"/>
            <p:cNvSpPr txBox="1"/>
            <p:nvPr>
              <p:custDataLst>
                <p:tags r:id="rId23"/>
              </p:custDataLst>
            </p:nvPr>
          </p:nvSpPr>
          <p:spPr>
            <a:xfrm>
              <a:off x="6702" y="8048"/>
              <a:ext cx="669" cy="789"/>
            </a:xfrm>
            <a:prstGeom prst="rect">
              <a:avLst/>
            </a:prstGeom>
            <a:noFill/>
            <a:ln>
              <a:noFill/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txBody>
            <a:bodyPr>
              <a:spAutoFit/>
            </a:bodyPr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TextBox 19"/>
            <p:cNvSpPr txBox="1"/>
            <p:nvPr>
              <p:custDataLst>
                <p:tags r:id="rId24"/>
              </p:custDataLst>
            </p:nvPr>
          </p:nvSpPr>
          <p:spPr>
            <a:xfrm>
              <a:off x="8014" y="8122"/>
              <a:ext cx="6141" cy="7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工位</a:t>
              </a:r>
              <a:r>
                <a:rPr kumimoji="0" 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 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下料尺寸检测工位</a:t>
              </a:r>
              <a:endParaRPr kumimoji="0" lang="zh-CN" altLang="en-US" sz="2400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25"/>
            </p:custDataLst>
          </p:nvPr>
        </p:nvGrpSpPr>
        <p:grpSpPr>
          <a:xfrm>
            <a:off x="4048125" y="5125720"/>
            <a:ext cx="4938395" cy="698500"/>
            <a:chOff x="6375" y="8072"/>
            <a:chExt cx="7777" cy="1100"/>
          </a:xfrm>
        </p:grpSpPr>
        <p:sp>
          <p:nvSpPr>
            <p:cNvPr id="30" name="六边形 29"/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6375" y="8072"/>
              <a:ext cx="1405" cy="1101"/>
            </a:xfrm>
            <a:prstGeom prst="hexagon">
              <a:avLst/>
            </a:prstGeom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7200000" scaled="0"/>
            </a:gradFill>
            <a:ln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0"/>
              </a:gradFill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6"/>
            <p:cNvSpPr txBox="1"/>
            <p:nvPr>
              <p:custDataLst>
                <p:tags r:id="rId27"/>
              </p:custDataLst>
            </p:nvPr>
          </p:nvSpPr>
          <p:spPr>
            <a:xfrm>
              <a:off x="6765" y="8281"/>
              <a:ext cx="669" cy="725"/>
            </a:xfrm>
            <a:prstGeom prst="rect">
              <a:avLst/>
            </a:prstGeom>
            <a:noFill/>
            <a:ln>
              <a:noFill/>
            </a:ln>
            <a:effectLst>
              <a:outerShdw blurRad="228600" dist="228600" dir="5400000" algn="t" rotWithShape="0">
                <a:prstClr val="black">
                  <a:alpha val="30000"/>
                </a:prstClr>
              </a:outerShdw>
            </a:effectLst>
          </p:spPr>
          <p:txBody>
            <a:bodyPr>
              <a:spAutoFit/>
            </a:bodyPr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TextBox 19"/>
            <p:cNvSpPr txBox="1"/>
            <p:nvPr>
              <p:custDataLst>
                <p:tags r:id="rId28"/>
              </p:custDataLst>
            </p:nvPr>
          </p:nvSpPr>
          <p:spPr>
            <a:xfrm>
              <a:off x="8012" y="8235"/>
              <a:ext cx="6141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marR="0" defTabSz="45720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硬件安装及</a:t>
              </a:r>
              <a:r>
                <a:rPr kumimoji="0" lang="zh-CN" altLang="en-US" sz="2400" b="1" kern="1200" cap="none" spc="0" normalizeH="0" baseline="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注意事项</a:t>
              </a:r>
              <a:endParaRPr kumimoji="0" lang="zh-CN" altLang="en-US" sz="2400" b="1" kern="1200" cap="none" spc="0" normalizeH="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/>
                <a:gridCol w="6314253"/>
                <a:gridCol w="3136807"/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  <a:endParaRPr lang="zh-CN" altLang="en-US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视觉需求：未完全切断、切口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方向位置偏移和槽位喷黑蓝墨等，当检测切口状态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NG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，设备能够自动报警，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NG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片不进焊接，保证下料准确单卷。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极片兼容尺寸：极片宽度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≤160mm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</a:t>
                      </a:r>
                      <a:r>
                        <a:rPr lang="zh-CN" altLang="en-US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极耳高度</a:t>
                      </a:r>
                      <a:r>
                        <a:rPr lang="en-US" altLang="zh-CN" sz="1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10-40mm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；极片长度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400~3000 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；切刀宽度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9mm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检测精度：±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0.5mm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，单像素精度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/3=0.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mm/px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走带速度：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≤660mm/s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8175" y="939800"/>
            <a:ext cx="251460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380" y="91440"/>
            <a:ext cx="10972800" cy="42735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工位一 阴极模切后切口检测工位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9815" y="5445125"/>
            <a:ext cx="2254250" cy="279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415" y="3189605"/>
            <a:ext cx="2870835" cy="11639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415" y="4246880"/>
            <a:ext cx="2886075" cy="9544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195" y="2132330"/>
            <a:ext cx="2447925" cy="9925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63208" y="797099"/>
            <a:ext cx="1619250" cy="30540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硬件选型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工位一 阴极模切后切口检测工位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文本框 12"/>
          <p:cNvSpPr txBox="1"/>
          <p:nvPr/>
        </p:nvSpPr>
        <p:spPr>
          <a:xfrm>
            <a:off x="263525" y="2448460"/>
            <a:ext cx="1250315" cy="3056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54635" y="1176020"/>
          <a:ext cx="11433810" cy="1041400"/>
        </p:xfrm>
        <a:graphic>
          <a:graphicData uri="http://schemas.openxmlformats.org/drawingml/2006/table">
            <a:tbl>
              <a:tblPr/>
              <a:tblGrid>
                <a:gridCol w="1437640"/>
                <a:gridCol w="1049655"/>
                <a:gridCol w="1031875"/>
                <a:gridCol w="1216025"/>
                <a:gridCol w="1048385"/>
                <a:gridCol w="1305560"/>
                <a:gridCol w="1064895"/>
                <a:gridCol w="1359535"/>
                <a:gridCol w="1920240"/>
              </a:tblGrid>
              <a:tr h="33020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设计视野（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像素精度（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mm/px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镜头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工作距离（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前光源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背光源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MV-CS050-10GC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2448 </a:t>
                      </a: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2048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72*60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0.028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24.2 fps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FA1602D</a:t>
                      </a:r>
                      <a:endParaRPr lang="en-US" altLang="zh-CN" sz="1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endParaRPr lang="en-US" altLang="zh-CN" sz="1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OPT-RSTZ85-W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OPT-RSBLP9080-W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 rot="16200000">
            <a:off x="600075" y="2919095"/>
            <a:ext cx="2982595" cy="3051175"/>
            <a:chOff x="415" y="3279"/>
            <a:chExt cx="5893" cy="5551"/>
          </a:xfrm>
        </p:grpSpPr>
        <p:sp>
          <p:nvSpPr>
            <p:cNvPr id="12" name="矩形 8"/>
            <p:cNvSpPr/>
            <p:nvPr/>
          </p:nvSpPr>
          <p:spPr bwMode="auto">
            <a:xfrm flipH="1">
              <a:off x="3623" y="7880"/>
              <a:ext cx="1434" cy="518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3354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8" y="5903"/>
              <a:ext cx="2130" cy="198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5" name="TextBox 23"/>
            <p:cNvSpPr txBox="1"/>
            <p:nvPr/>
          </p:nvSpPr>
          <p:spPr>
            <a:xfrm>
              <a:off x="415" y="7656"/>
              <a:ext cx="1832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10±5mm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 bwMode="auto">
            <a:xfrm flipH="1">
              <a:off x="1678" y="4984"/>
              <a:ext cx="26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57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" y="3567"/>
              <a:ext cx="527" cy="1396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3" name="直接连接符 12"/>
            <p:cNvCxnSpPr/>
            <p:nvPr/>
          </p:nvCxnSpPr>
          <p:spPr bwMode="auto">
            <a:xfrm flipH="1">
              <a:off x="810" y="7739"/>
              <a:ext cx="36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 bwMode="auto">
            <a:xfrm>
              <a:off x="2598" y="7750"/>
              <a:ext cx="1144" cy="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360" name="TextBox 39"/>
            <p:cNvSpPr txBox="1"/>
            <p:nvPr/>
          </p:nvSpPr>
          <p:spPr>
            <a:xfrm rot="5400000">
              <a:off x="788" y="6253"/>
              <a:ext cx="1991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126±10mm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 bwMode="auto">
            <a:xfrm flipH="1">
              <a:off x="3203" y="7452"/>
              <a:ext cx="147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 bwMode="auto">
            <a:xfrm flipH="1">
              <a:off x="4469" y="7441"/>
              <a:ext cx="5" cy="29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 bwMode="auto">
            <a:xfrm>
              <a:off x="2050" y="5048"/>
              <a:ext cx="0" cy="260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64" name="组合 33"/>
            <p:cNvGrpSpPr/>
            <p:nvPr/>
          </p:nvGrpSpPr>
          <p:grpSpPr>
            <a:xfrm rot="0">
              <a:off x="4147" y="5543"/>
              <a:ext cx="2157" cy="854"/>
              <a:chOff x="4073524" y="2563648"/>
              <a:chExt cx="1437495" cy="617701"/>
            </a:xfrm>
          </p:grpSpPr>
          <p:sp>
            <p:nvSpPr>
              <p:cNvPr id="18" name="矩形 76"/>
              <p:cNvSpPr/>
              <p:nvPr/>
            </p:nvSpPr>
            <p:spPr bwMode="auto">
              <a:xfrm flipH="1">
                <a:off x="4862486" y="2564277"/>
                <a:ext cx="647750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光源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矩形 8"/>
              <p:cNvSpPr/>
              <p:nvPr/>
            </p:nvSpPr>
            <p:spPr bwMode="auto">
              <a:xfrm flipH="1" flipV="1">
                <a:off x="4073437" y="267220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3367" name="组合 36"/>
            <p:cNvGrpSpPr/>
            <p:nvPr/>
          </p:nvGrpSpPr>
          <p:grpSpPr>
            <a:xfrm rot="0">
              <a:off x="3175" y="3279"/>
              <a:ext cx="2157" cy="854"/>
              <a:chOff x="4073524" y="2563648"/>
              <a:chExt cx="1437495" cy="617701"/>
            </a:xfrm>
          </p:grpSpPr>
          <p:sp>
            <p:nvSpPr>
              <p:cNvPr id="21" name="矩形 76"/>
              <p:cNvSpPr/>
              <p:nvPr/>
            </p:nvSpPr>
            <p:spPr bwMode="auto">
              <a:xfrm flipH="1">
                <a:off x="4862435" y="2563607"/>
                <a:ext cx="649338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矩形 8"/>
              <p:cNvSpPr/>
              <p:nvPr/>
            </p:nvSpPr>
            <p:spPr bwMode="auto">
              <a:xfrm flipH="1" flipV="1">
                <a:off x="4073386" y="267153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5" name="矩形 76"/>
            <p:cNvSpPr/>
            <p:nvPr/>
          </p:nvSpPr>
          <p:spPr bwMode="auto">
            <a:xfrm flipH="1">
              <a:off x="4685" y="8211"/>
              <a:ext cx="1222" cy="344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槽位切口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98" name="矩形 12297"/>
            <p:cNvSpPr/>
            <p:nvPr/>
          </p:nvSpPr>
          <p:spPr bwMode="auto">
            <a:xfrm>
              <a:off x="2455" y="8051"/>
              <a:ext cx="1492" cy="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99" name="矩形 76"/>
            <p:cNvSpPr/>
            <p:nvPr/>
          </p:nvSpPr>
          <p:spPr bwMode="auto">
            <a:xfrm flipH="1">
              <a:off x="1573" y="8531"/>
              <a:ext cx="972" cy="299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背光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300" name="矩形 8"/>
            <p:cNvSpPr/>
            <p:nvPr/>
          </p:nvSpPr>
          <p:spPr bwMode="auto">
            <a:xfrm>
              <a:off x="2455" y="8156"/>
              <a:ext cx="863" cy="518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302" name="直接连接符 12301"/>
            <p:cNvCxnSpPr/>
            <p:nvPr/>
          </p:nvCxnSpPr>
          <p:spPr bwMode="auto">
            <a:xfrm flipH="1" flipV="1">
              <a:off x="1507" y="8046"/>
              <a:ext cx="1251" cy="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5" name="直接箭头连接符 12304"/>
            <p:cNvCxnSpPr/>
            <p:nvPr/>
          </p:nvCxnSpPr>
          <p:spPr bwMode="auto">
            <a:xfrm>
              <a:off x="2187" y="7720"/>
              <a:ext cx="24" cy="36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78" name="TextBox 23"/>
            <p:cNvSpPr txBox="1"/>
            <p:nvPr/>
          </p:nvSpPr>
          <p:spPr>
            <a:xfrm>
              <a:off x="4476" y="7377"/>
              <a:ext cx="1832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20±10mm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339" name="组合 49"/>
          <p:cNvGrpSpPr/>
          <p:nvPr/>
        </p:nvGrpSpPr>
        <p:grpSpPr>
          <a:xfrm>
            <a:off x="4819650" y="3119120"/>
            <a:ext cx="3062605" cy="1636395"/>
            <a:chOff x="5159896" y="1987887"/>
            <a:chExt cx="3881752" cy="1993959"/>
          </a:xfrm>
        </p:grpSpPr>
        <p:sp>
          <p:nvSpPr>
            <p:cNvPr id="26" name="矩形 25"/>
            <p:cNvSpPr/>
            <p:nvPr/>
          </p:nvSpPr>
          <p:spPr>
            <a:xfrm>
              <a:off x="5159896" y="2688871"/>
              <a:ext cx="2942347" cy="86558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341" name="组合 40"/>
            <p:cNvGrpSpPr/>
            <p:nvPr/>
          </p:nvGrpSpPr>
          <p:grpSpPr>
            <a:xfrm>
              <a:off x="5580720" y="1987887"/>
              <a:ext cx="2380201" cy="1993959"/>
              <a:chOff x="5580720" y="1987887"/>
              <a:chExt cx="2380201" cy="1993959"/>
            </a:xfrm>
          </p:grpSpPr>
          <p:pic>
            <p:nvPicPr>
              <p:cNvPr id="13342" name="图片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343221" y="2225385"/>
                <a:ext cx="1909979" cy="143498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13344" name="组合 21"/>
              <p:cNvGrpSpPr/>
              <p:nvPr/>
            </p:nvGrpSpPr>
            <p:grpSpPr>
              <a:xfrm>
                <a:off x="6240258" y="2157891"/>
                <a:ext cx="1464190" cy="598347"/>
                <a:chOff x="3903045" y="2048562"/>
                <a:chExt cx="1464190" cy="598347"/>
              </a:xfrm>
            </p:grpSpPr>
            <p:sp>
              <p:nvSpPr>
                <p:cNvPr id="12296" name="矩形 8"/>
                <p:cNvSpPr/>
                <p:nvPr/>
              </p:nvSpPr>
              <p:spPr bwMode="auto">
                <a:xfrm flipH="1" flipV="1">
                  <a:off x="3903045" y="2138489"/>
                  <a:ext cx="955597" cy="508420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295" name="矩形 76"/>
                <p:cNvSpPr/>
                <p:nvPr/>
              </p:nvSpPr>
              <p:spPr bwMode="auto">
                <a:xfrm flipH="1">
                  <a:off x="4741811" y="2048562"/>
                  <a:ext cx="625424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3347" name="组合 30"/>
              <p:cNvGrpSpPr/>
              <p:nvPr/>
            </p:nvGrpSpPr>
            <p:grpSpPr>
              <a:xfrm>
                <a:off x="6468742" y="3404634"/>
                <a:ext cx="1492179" cy="577212"/>
                <a:chOff x="3831768" y="1906661"/>
                <a:chExt cx="1492179" cy="577212"/>
              </a:xfrm>
            </p:grpSpPr>
            <p:sp>
              <p:nvSpPr>
                <p:cNvPr id="12291" name="矩形 76"/>
                <p:cNvSpPr/>
                <p:nvPr/>
              </p:nvSpPr>
              <p:spPr bwMode="auto">
                <a:xfrm flipH="1">
                  <a:off x="4676981" y="2267795"/>
                  <a:ext cx="647647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光源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292" name="矩形 8"/>
                <p:cNvSpPr/>
                <p:nvPr/>
              </p:nvSpPr>
              <p:spPr bwMode="auto">
                <a:xfrm flipH="1">
                  <a:off x="3832501" y="1907134"/>
                  <a:ext cx="955596" cy="460755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pic>
            <p:nvPicPr>
              <p:cNvPr id="13343" name="图片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5949336" y="2375847"/>
                <a:ext cx="639337" cy="63494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7" name="矩形 76"/>
            <p:cNvSpPr/>
            <p:nvPr/>
          </p:nvSpPr>
          <p:spPr bwMode="auto">
            <a:xfrm flipH="1">
              <a:off x="8394001" y="2284996"/>
              <a:ext cx="647647" cy="216078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矩形 8"/>
            <p:cNvSpPr/>
            <p:nvPr/>
          </p:nvSpPr>
          <p:spPr bwMode="auto">
            <a:xfrm flipH="1" flipV="1">
              <a:off x="7704131" y="2394624"/>
              <a:ext cx="689553" cy="686366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142095" y="2448560"/>
            <a:ext cx="1955995" cy="2867168"/>
            <a:chOff x="14589" y="2451"/>
            <a:chExt cx="4073" cy="6397"/>
          </a:xfrm>
        </p:grpSpPr>
        <p:grpSp>
          <p:nvGrpSpPr>
            <p:cNvPr id="34" name="组合 33"/>
            <p:cNvGrpSpPr/>
            <p:nvPr/>
          </p:nvGrpSpPr>
          <p:grpSpPr>
            <a:xfrm>
              <a:off x="14589" y="6731"/>
              <a:ext cx="2339" cy="1142"/>
              <a:chOff x="14289" y="6747"/>
              <a:chExt cx="3758" cy="1409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4289" y="6996"/>
                <a:ext cx="3758" cy="116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5301" y="6988"/>
                <a:ext cx="696" cy="51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4924" y="6747"/>
                <a:ext cx="1496" cy="941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3319" name="图片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56" y="3048"/>
              <a:ext cx="496" cy="139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42" name="直接连接符 41"/>
            <p:cNvCxnSpPr>
              <a:stCxn id="13319" idx="2"/>
            </p:cNvCxnSpPr>
            <p:nvPr/>
          </p:nvCxnSpPr>
          <p:spPr>
            <a:xfrm flipH="1">
              <a:off x="15006" y="4438"/>
              <a:ext cx="398" cy="2663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3319" idx="2"/>
              <a:endCxn id="40" idx="3"/>
            </p:cNvCxnSpPr>
            <p:nvPr/>
          </p:nvCxnSpPr>
          <p:spPr>
            <a:xfrm>
              <a:off x="15404" y="4438"/>
              <a:ext cx="511" cy="2675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5443" y="2451"/>
              <a:ext cx="0" cy="6124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8"/>
            <p:cNvSpPr/>
            <p:nvPr/>
          </p:nvSpPr>
          <p:spPr bwMode="auto">
            <a:xfrm flipH="1" flipV="1">
              <a:off x="15497" y="6080"/>
              <a:ext cx="1086" cy="1080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矩形 8"/>
            <p:cNvSpPr/>
            <p:nvPr/>
          </p:nvSpPr>
          <p:spPr bwMode="auto">
            <a:xfrm flipH="1">
              <a:off x="15652" y="7555"/>
              <a:ext cx="824" cy="904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矩形 76"/>
            <p:cNvSpPr/>
            <p:nvPr/>
          </p:nvSpPr>
          <p:spPr bwMode="auto">
            <a:xfrm flipH="1">
              <a:off x="16177" y="8111"/>
              <a:ext cx="2485" cy="73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相机视野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72*60mm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8" name="矩形 76"/>
            <p:cNvSpPr/>
            <p:nvPr/>
          </p:nvSpPr>
          <p:spPr bwMode="auto">
            <a:xfrm flipH="1">
              <a:off x="16289" y="5967"/>
              <a:ext cx="1328" cy="295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切口区域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3313" name="文本框 49"/>
          <p:cNvSpPr txBox="1"/>
          <p:nvPr/>
        </p:nvSpPr>
        <p:spPr>
          <a:xfrm>
            <a:off x="4032885" y="5193665"/>
            <a:ext cx="5746115" cy="98361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eaLnBrk="0" hangingPunct="0">
              <a:buFontTx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光源安装方向必须如图所示；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、安装时，切口检测区域要在相机视野中心，光源安装以相机视野中心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、相机光源最好横向安装，避免背光上面粉尘过多，影响成像效果和检测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/>
                <a:gridCol w="6314253"/>
                <a:gridCol w="3136807"/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  <a:endParaRPr lang="zh-CN" altLang="en-US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视觉需求：相机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台，阴阳极各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台，检测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sealant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至极片距离、焊接定位距，极耳焊反检测，极耳角度检测，检测视野要求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≥60mm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，闭环控制；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3.4.19A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与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的极差首检＜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，焊后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CCD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在线测量倒圆高度差；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极片兼容尺寸：极片宽度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≤160mm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，极耳高度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10-40mm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；极片长度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400~3000 mm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极耳胶兼容尺寸：长宽23*33mm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相机要求：海康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检测精度：±0.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mm，单像素精度0.6/3=0.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mm/px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走带速度：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≤660mm/s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479425" y="939800"/>
            <a:ext cx="2514600" cy="3730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工位二 </a:t>
            </a:r>
            <a:r>
              <a:rPr kumimoji="0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阴/阳极焊接检测工位</a:t>
            </a:r>
            <a:endParaRPr kumimoji="0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2170" y="3932555"/>
            <a:ext cx="2646045" cy="1463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25" y="2132330"/>
            <a:ext cx="2218055" cy="1580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73685" y="1196340"/>
          <a:ext cx="11604625" cy="1245870"/>
        </p:xfrm>
        <a:graphic>
          <a:graphicData uri="http://schemas.openxmlformats.org/drawingml/2006/table">
            <a:tbl>
              <a:tblPr/>
              <a:tblGrid>
                <a:gridCol w="1459230"/>
                <a:gridCol w="1065530"/>
                <a:gridCol w="1330325"/>
                <a:gridCol w="1477645"/>
                <a:gridCol w="986155"/>
                <a:gridCol w="915670"/>
                <a:gridCol w="1363980"/>
                <a:gridCol w="1428115"/>
                <a:gridCol w="1577975"/>
              </a:tblGrid>
              <a:tr h="285115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设计视野（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像素精度（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mm/px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镜头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工作距离（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前光源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背光源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71170"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MV-CS050-10GM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2448 </a:t>
                      </a: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2048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72*60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0.028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24.2 fps 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FA1602D</a:t>
                      </a:r>
                      <a:endParaRPr lang="en-US" altLang="zh-CN" sz="1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126</a:t>
                      </a:r>
                      <a:r>
                        <a:rPr lang="zh-CN" altLang="en-US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endParaRPr lang="en-US" altLang="zh-CN" sz="1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OPT-RSTZ85-W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OPT-RSBLP9080-W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63208" y="797099"/>
            <a:ext cx="1619250" cy="30540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硬件选型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工位二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阳极焊接检测工位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文本框 12"/>
          <p:cNvSpPr txBox="1"/>
          <p:nvPr/>
        </p:nvSpPr>
        <p:spPr>
          <a:xfrm>
            <a:off x="287655" y="2132230"/>
            <a:ext cx="1250315" cy="3056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 rot="16200000">
            <a:off x="630143" y="2653253"/>
            <a:ext cx="3034220" cy="3051175"/>
            <a:chOff x="415" y="3279"/>
            <a:chExt cx="5995" cy="5551"/>
          </a:xfrm>
        </p:grpSpPr>
        <p:sp>
          <p:nvSpPr>
            <p:cNvPr id="12" name="矩形 8"/>
            <p:cNvSpPr/>
            <p:nvPr/>
          </p:nvSpPr>
          <p:spPr bwMode="auto">
            <a:xfrm flipH="1">
              <a:off x="3623" y="7880"/>
              <a:ext cx="1434" cy="518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3354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8" y="5903"/>
              <a:ext cx="2130" cy="198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3355" name="TextBox 23"/>
            <p:cNvSpPr txBox="1"/>
            <p:nvPr/>
          </p:nvSpPr>
          <p:spPr>
            <a:xfrm>
              <a:off x="415" y="7656"/>
              <a:ext cx="1832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10±5mm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 bwMode="auto">
            <a:xfrm flipH="1">
              <a:off x="1678" y="4984"/>
              <a:ext cx="26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357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" y="3567"/>
              <a:ext cx="527" cy="1396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3" name="直接连接符 12"/>
            <p:cNvCxnSpPr/>
            <p:nvPr/>
          </p:nvCxnSpPr>
          <p:spPr bwMode="auto">
            <a:xfrm flipH="1">
              <a:off x="810" y="7739"/>
              <a:ext cx="36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 bwMode="auto">
            <a:xfrm>
              <a:off x="2598" y="7750"/>
              <a:ext cx="1144" cy="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360" name="TextBox 39"/>
            <p:cNvSpPr txBox="1"/>
            <p:nvPr/>
          </p:nvSpPr>
          <p:spPr>
            <a:xfrm rot="5400000">
              <a:off x="788" y="6253"/>
              <a:ext cx="1991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126±10mm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 bwMode="auto">
            <a:xfrm flipH="1">
              <a:off x="3203" y="7452"/>
              <a:ext cx="147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 bwMode="auto">
            <a:xfrm flipH="1">
              <a:off x="4469" y="7441"/>
              <a:ext cx="5" cy="29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 bwMode="auto">
            <a:xfrm>
              <a:off x="2050" y="5048"/>
              <a:ext cx="0" cy="2608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64" name="组合 33"/>
            <p:cNvGrpSpPr/>
            <p:nvPr/>
          </p:nvGrpSpPr>
          <p:grpSpPr>
            <a:xfrm rot="0">
              <a:off x="4147" y="5543"/>
              <a:ext cx="2157" cy="854"/>
              <a:chOff x="4073524" y="2563648"/>
              <a:chExt cx="1437495" cy="617701"/>
            </a:xfrm>
          </p:grpSpPr>
          <p:sp>
            <p:nvSpPr>
              <p:cNvPr id="18" name="矩形 76"/>
              <p:cNvSpPr/>
              <p:nvPr/>
            </p:nvSpPr>
            <p:spPr bwMode="auto">
              <a:xfrm flipH="1">
                <a:off x="4862486" y="2564277"/>
                <a:ext cx="647750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光源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矩形 8"/>
              <p:cNvSpPr/>
              <p:nvPr/>
            </p:nvSpPr>
            <p:spPr bwMode="auto">
              <a:xfrm flipH="1" flipV="1">
                <a:off x="4073437" y="267220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13367" name="组合 36"/>
            <p:cNvGrpSpPr/>
            <p:nvPr/>
          </p:nvGrpSpPr>
          <p:grpSpPr>
            <a:xfrm rot="0">
              <a:off x="3175" y="3279"/>
              <a:ext cx="2157" cy="854"/>
              <a:chOff x="4073524" y="2563648"/>
              <a:chExt cx="1437495" cy="617701"/>
            </a:xfrm>
          </p:grpSpPr>
          <p:sp>
            <p:nvSpPr>
              <p:cNvPr id="21" name="矩形 76"/>
              <p:cNvSpPr/>
              <p:nvPr/>
            </p:nvSpPr>
            <p:spPr bwMode="auto">
              <a:xfrm flipH="1">
                <a:off x="4862435" y="2563607"/>
                <a:ext cx="649338" cy="215850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矩形 8"/>
              <p:cNvSpPr/>
              <p:nvPr/>
            </p:nvSpPr>
            <p:spPr bwMode="auto">
              <a:xfrm flipH="1" flipV="1">
                <a:off x="4073386" y="2671532"/>
                <a:ext cx="955749" cy="5094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5" name="矩形 76"/>
            <p:cNvSpPr/>
            <p:nvPr/>
          </p:nvSpPr>
          <p:spPr bwMode="auto">
            <a:xfrm flipH="1">
              <a:off x="4685" y="8211"/>
              <a:ext cx="1725" cy="464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极耳焊接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区域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98" name="矩形 12297"/>
            <p:cNvSpPr/>
            <p:nvPr/>
          </p:nvSpPr>
          <p:spPr bwMode="auto">
            <a:xfrm>
              <a:off x="2455" y="8051"/>
              <a:ext cx="1492" cy="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99" name="矩形 76"/>
            <p:cNvSpPr/>
            <p:nvPr/>
          </p:nvSpPr>
          <p:spPr bwMode="auto">
            <a:xfrm flipH="1">
              <a:off x="1573" y="8531"/>
              <a:ext cx="972" cy="299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背光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300" name="矩形 8"/>
            <p:cNvSpPr/>
            <p:nvPr/>
          </p:nvSpPr>
          <p:spPr bwMode="auto">
            <a:xfrm>
              <a:off x="2455" y="8156"/>
              <a:ext cx="863" cy="518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302" name="直接连接符 12301"/>
            <p:cNvCxnSpPr/>
            <p:nvPr/>
          </p:nvCxnSpPr>
          <p:spPr bwMode="auto">
            <a:xfrm flipH="1" flipV="1">
              <a:off x="1507" y="8046"/>
              <a:ext cx="1251" cy="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05" name="直接箭头连接符 12304"/>
            <p:cNvCxnSpPr/>
            <p:nvPr/>
          </p:nvCxnSpPr>
          <p:spPr bwMode="auto">
            <a:xfrm>
              <a:off x="2187" y="7720"/>
              <a:ext cx="24" cy="36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78" name="TextBox 23"/>
            <p:cNvSpPr txBox="1"/>
            <p:nvPr/>
          </p:nvSpPr>
          <p:spPr>
            <a:xfrm>
              <a:off x="4476" y="7377"/>
              <a:ext cx="1832" cy="44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>
                <a:buFontTx/>
              </a:pPr>
              <a:r>
                <a: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20±10mm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339" name="组合 49"/>
          <p:cNvGrpSpPr/>
          <p:nvPr/>
        </p:nvGrpSpPr>
        <p:grpSpPr>
          <a:xfrm>
            <a:off x="4799965" y="3069590"/>
            <a:ext cx="3062605" cy="1636395"/>
            <a:chOff x="5159896" y="1987887"/>
            <a:chExt cx="3881752" cy="1993959"/>
          </a:xfrm>
        </p:grpSpPr>
        <p:sp>
          <p:nvSpPr>
            <p:cNvPr id="26" name="矩形 25"/>
            <p:cNvSpPr/>
            <p:nvPr/>
          </p:nvSpPr>
          <p:spPr>
            <a:xfrm>
              <a:off x="5159896" y="2688871"/>
              <a:ext cx="2942347" cy="865584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341" name="组合 40"/>
            <p:cNvGrpSpPr/>
            <p:nvPr/>
          </p:nvGrpSpPr>
          <p:grpSpPr>
            <a:xfrm>
              <a:off x="5580720" y="1987887"/>
              <a:ext cx="2380201" cy="1993959"/>
              <a:chOff x="5580720" y="1987887"/>
              <a:chExt cx="2380201" cy="1993959"/>
            </a:xfrm>
          </p:grpSpPr>
          <p:pic>
            <p:nvPicPr>
              <p:cNvPr id="13342" name="图片 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343221" y="2225385"/>
                <a:ext cx="1909979" cy="143498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13344" name="组合 21"/>
              <p:cNvGrpSpPr/>
              <p:nvPr/>
            </p:nvGrpSpPr>
            <p:grpSpPr>
              <a:xfrm>
                <a:off x="6240258" y="2157891"/>
                <a:ext cx="1464190" cy="598347"/>
                <a:chOff x="3903045" y="2048562"/>
                <a:chExt cx="1464190" cy="598347"/>
              </a:xfrm>
            </p:grpSpPr>
            <p:sp>
              <p:nvSpPr>
                <p:cNvPr id="12296" name="矩形 8"/>
                <p:cNvSpPr/>
                <p:nvPr/>
              </p:nvSpPr>
              <p:spPr bwMode="auto">
                <a:xfrm flipH="1" flipV="1">
                  <a:off x="3903045" y="2138489"/>
                  <a:ext cx="955597" cy="508420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295" name="矩形 76"/>
                <p:cNvSpPr/>
                <p:nvPr/>
              </p:nvSpPr>
              <p:spPr bwMode="auto">
                <a:xfrm flipH="1">
                  <a:off x="4741811" y="2048562"/>
                  <a:ext cx="625424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3347" name="组合 30"/>
              <p:cNvGrpSpPr/>
              <p:nvPr/>
            </p:nvGrpSpPr>
            <p:grpSpPr>
              <a:xfrm>
                <a:off x="6468742" y="3404634"/>
                <a:ext cx="1492179" cy="577212"/>
                <a:chOff x="3831768" y="1906661"/>
                <a:chExt cx="1492179" cy="577212"/>
              </a:xfrm>
            </p:grpSpPr>
            <p:sp>
              <p:nvSpPr>
                <p:cNvPr id="12291" name="矩形 76"/>
                <p:cNvSpPr/>
                <p:nvPr/>
              </p:nvSpPr>
              <p:spPr bwMode="auto">
                <a:xfrm flipH="1">
                  <a:off x="4676981" y="2267795"/>
                  <a:ext cx="647647" cy="21607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光源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2292" name="矩形 8"/>
                <p:cNvSpPr/>
                <p:nvPr/>
              </p:nvSpPr>
              <p:spPr bwMode="auto">
                <a:xfrm flipH="1">
                  <a:off x="3832501" y="1907134"/>
                  <a:ext cx="955596" cy="460755"/>
                </a:xfrm>
                <a:custGeom>
                  <a:avLst/>
                  <a:gdLst>
                    <a:gd name="connsiteX0" fmla="*/ 1395 w 1395"/>
                    <a:gd name="connsiteY0" fmla="*/ 0 h 3145"/>
                    <a:gd name="connsiteX1" fmla="*/ 707 w 1395"/>
                    <a:gd name="connsiteY1" fmla="*/ 3145 h 3145"/>
                    <a:gd name="connsiteX2" fmla="*/ 0 w 1395"/>
                    <a:gd name="connsiteY2" fmla="*/ 3145 h 3145"/>
                    <a:gd name="connsiteX0-1" fmla="*/ 9140 w 9140"/>
                    <a:gd name="connsiteY0-2" fmla="*/ 0 h 10000"/>
                    <a:gd name="connsiteX1-3" fmla="*/ 5068 w 9140"/>
                    <a:gd name="connsiteY1-4" fmla="*/ 10000 h 10000"/>
                    <a:gd name="connsiteX2-5" fmla="*/ 0 w 9140"/>
                    <a:gd name="connsiteY2-6" fmla="*/ 10000 h 10000"/>
                    <a:gd name="connsiteX0-7" fmla="*/ 10000 w 10000"/>
                    <a:gd name="connsiteY0-8" fmla="*/ 0 h 9322"/>
                    <a:gd name="connsiteX1-9" fmla="*/ 5545 w 10000"/>
                    <a:gd name="connsiteY1-10" fmla="*/ 9322 h 9322"/>
                    <a:gd name="connsiteX2-11" fmla="*/ 0 w 10000"/>
                    <a:gd name="connsiteY2-12" fmla="*/ 9322 h 9322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10000" h="9322">
                      <a:moveTo>
                        <a:pt x="10000" y="0"/>
                      </a:moveTo>
                      <a:lnTo>
                        <a:pt x="5545" y="9322"/>
                      </a:lnTo>
                      <a:lnTo>
                        <a:pt x="0" y="9322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pic>
            <p:nvPicPr>
              <p:cNvPr id="13343" name="图片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5400000">
                <a:off x="5949336" y="2375847"/>
                <a:ext cx="639337" cy="63494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sp>
          <p:nvSpPr>
            <p:cNvPr id="27" name="矩形 76"/>
            <p:cNvSpPr/>
            <p:nvPr/>
          </p:nvSpPr>
          <p:spPr bwMode="auto">
            <a:xfrm flipH="1">
              <a:off x="8394001" y="2284996"/>
              <a:ext cx="647647" cy="216078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" name="矩形 8"/>
            <p:cNvSpPr/>
            <p:nvPr/>
          </p:nvSpPr>
          <p:spPr bwMode="auto">
            <a:xfrm flipH="1" flipV="1">
              <a:off x="7704131" y="2394624"/>
              <a:ext cx="689553" cy="686366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9286240" y="2423160"/>
            <a:ext cx="1955995" cy="2867168"/>
            <a:chOff x="14589" y="2451"/>
            <a:chExt cx="4073" cy="6397"/>
          </a:xfrm>
        </p:grpSpPr>
        <p:grpSp>
          <p:nvGrpSpPr>
            <p:cNvPr id="34" name="组合 33"/>
            <p:cNvGrpSpPr/>
            <p:nvPr/>
          </p:nvGrpSpPr>
          <p:grpSpPr>
            <a:xfrm>
              <a:off x="14589" y="6731"/>
              <a:ext cx="2339" cy="1142"/>
              <a:chOff x="14289" y="6747"/>
              <a:chExt cx="3758" cy="1409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4289" y="6996"/>
                <a:ext cx="3758" cy="116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5301" y="6988"/>
                <a:ext cx="696" cy="51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14924" y="6747"/>
                <a:ext cx="1496" cy="941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3319" name="图片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156" y="3048"/>
              <a:ext cx="496" cy="139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42" name="直接连接符 41"/>
            <p:cNvCxnSpPr>
              <a:stCxn id="13319" idx="2"/>
            </p:cNvCxnSpPr>
            <p:nvPr/>
          </p:nvCxnSpPr>
          <p:spPr>
            <a:xfrm flipH="1">
              <a:off x="15006" y="4438"/>
              <a:ext cx="398" cy="2663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3319" idx="2"/>
              <a:endCxn id="40" idx="3"/>
            </p:cNvCxnSpPr>
            <p:nvPr/>
          </p:nvCxnSpPr>
          <p:spPr>
            <a:xfrm>
              <a:off x="15404" y="4438"/>
              <a:ext cx="511" cy="2675"/>
            </a:xfrm>
            <a:prstGeom prst="line">
              <a:avLst/>
            </a:prstGeom>
            <a:ln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5443" y="2451"/>
              <a:ext cx="0" cy="6124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8"/>
            <p:cNvSpPr/>
            <p:nvPr/>
          </p:nvSpPr>
          <p:spPr bwMode="auto">
            <a:xfrm flipH="1" flipV="1">
              <a:off x="15497" y="6080"/>
              <a:ext cx="1086" cy="1080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矩形 8"/>
            <p:cNvSpPr/>
            <p:nvPr/>
          </p:nvSpPr>
          <p:spPr bwMode="auto">
            <a:xfrm flipH="1">
              <a:off x="15652" y="7555"/>
              <a:ext cx="824" cy="904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矩形 76"/>
            <p:cNvSpPr/>
            <p:nvPr/>
          </p:nvSpPr>
          <p:spPr bwMode="auto">
            <a:xfrm flipH="1">
              <a:off x="16177" y="8111"/>
              <a:ext cx="2485" cy="73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相机视野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72*60mm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8" name="矩形 76"/>
            <p:cNvSpPr/>
            <p:nvPr/>
          </p:nvSpPr>
          <p:spPr bwMode="auto">
            <a:xfrm flipH="1">
              <a:off x="16289" y="5967"/>
              <a:ext cx="1328" cy="295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切口区域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3313" name="文本框 49"/>
          <p:cNvSpPr txBox="1"/>
          <p:nvPr/>
        </p:nvSpPr>
        <p:spPr>
          <a:xfrm>
            <a:off x="4032885" y="5193665"/>
            <a:ext cx="5746115" cy="98361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eaLnBrk="0" hangingPunct="0">
              <a:buFontTx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光源安装方向必须如图所示；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、安装时，焊接检测区域要在相机视野中心，光源安装以相机视野中心为准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、相机光源最好横向安装，避免背光上面粉尘过多，影响成像效果和检测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23888" y="1555750"/>
          <a:ext cx="10710863" cy="4337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/>
                <a:gridCol w="6314253"/>
                <a:gridCol w="3136807"/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  <a:endParaRPr lang="zh-CN" altLang="en-US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视觉需求：检测绿胶位置以及极片缺陷；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极片兼容尺寸：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≤160mm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，极耳高度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10-40mm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；极片长度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400~3000 mm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相机要求：彩色相机，阴极阳极各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0.05mm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，单像素精度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0.1/3=0.03mm/px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走带速度：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≤660mm/s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38175" y="938213"/>
            <a:ext cx="1863725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工位三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阳极绿胶检测工位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025" y="2981325"/>
            <a:ext cx="2929255" cy="14846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63208" y="797099"/>
            <a:ext cx="1619250" cy="30540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硬件选型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*4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三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阳极绿胶检测工位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41325" y="1136015"/>
          <a:ext cx="11308715" cy="1290320"/>
        </p:xfrm>
        <a:graphic>
          <a:graphicData uri="http://schemas.openxmlformats.org/drawingml/2006/table">
            <a:tbl>
              <a:tblPr/>
              <a:tblGrid>
                <a:gridCol w="1210310"/>
                <a:gridCol w="1134745"/>
                <a:gridCol w="1007110"/>
                <a:gridCol w="1150620"/>
                <a:gridCol w="916305"/>
                <a:gridCol w="1305560"/>
                <a:gridCol w="2283460"/>
                <a:gridCol w="970280"/>
                <a:gridCol w="1330325"/>
              </a:tblGrid>
              <a:tr h="46228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设计视野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像素精度（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mm/px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镜头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接圈型号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工作距离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光源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828040"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PN8KCL-33KC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8192 * 3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220mm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0.026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33KHz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OPT-JST60-5.6-0.17X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OPT-ADP-V38M42-E18-23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OPT-ADP-M42M72-E8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OPT-ETB-M72E6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OPT-ETB-M72E15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265</a:t>
                      </a: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OPT-RSGXG316-W3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本框 12"/>
          <p:cNvSpPr txBox="1"/>
          <p:nvPr/>
        </p:nvSpPr>
        <p:spPr>
          <a:xfrm>
            <a:off x="263525" y="2448460"/>
            <a:ext cx="1250315" cy="3056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409" name="文本框 49"/>
          <p:cNvSpPr txBox="1"/>
          <p:nvPr/>
        </p:nvSpPr>
        <p:spPr>
          <a:xfrm>
            <a:off x="4583430" y="4660900"/>
            <a:ext cx="7062470" cy="1418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ct val="120000"/>
              </a:lnSpc>
              <a:buFontTx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、相机安装方向必须如图所示；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相机、光源、过棍中心一致，法线是过棍中心与拍照点所连成的直线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、相机镜头护罩需按照相机视野角设计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、气冷光源注意气孔位置安装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20000"/>
              </a:lnSpc>
              <a:buFontTx/>
            </a:pP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、相机、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光源线缆长度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5m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，工控机、光源控制器需要正负极分开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摆放，确认线缆长度是否足够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293" name="组合 25"/>
          <p:cNvGrpSpPr/>
          <p:nvPr/>
        </p:nvGrpSpPr>
        <p:grpSpPr>
          <a:xfrm rot="0">
            <a:off x="5754370" y="2927985"/>
            <a:ext cx="4309110" cy="1673225"/>
            <a:chOff x="5256212" y="1700404"/>
            <a:chExt cx="3876676" cy="2935401"/>
          </a:xfrm>
        </p:grpSpPr>
        <p:sp>
          <p:nvSpPr>
            <p:cNvPr id="59" name="矩形 12290"/>
            <p:cNvSpPr/>
            <p:nvPr/>
          </p:nvSpPr>
          <p:spPr bwMode="auto">
            <a:xfrm>
              <a:off x="5256212" y="2689347"/>
              <a:ext cx="2592388" cy="126038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8"/>
            <p:cNvSpPr/>
            <p:nvPr/>
          </p:nvSpPr>
          <p:spPr bwMode="auto">
            <a:xfrm flipH="1" flipV="1">
              <a:off x="7496175" y="2916345"/>
              <a:ext cx="1152525" cy="831792"/>
            </a:xfrm>
            <a:custGeom>
              <a:avLst/>
              <a:gdLst>
                <a:gd name="connsiteX0" fmla="*/ 0 w 854003"/>
                <a:gd name="connsiteY0" fmla="*/ 0 h 854003"/>
                <a:gd name="connsiteX1" fmla="*/ 854003 w 854003"/>
                <a:gd name="connsiteY1" fmla="*/ 0 h 854003"/>
                <a:gd name="connsiteX2" fmla="*/ 854003 w 854003"/>
                <a:gd name="connsiteY2" fmla="*/ 854003 h 854003"/>
                <a:gd name="connsiteX3" fmla="*/ 0 w 854003"/>
                <a:gd name="connsiteY3" fmla="*/ 854003 h 854003"/>
                <a:gd name="connsiteX4" fmla="*/ 0 w 854003"/>
                <a:gd name="connsiteY4" fmla="*/ 0 h 854003"/>
                <a:gd name="connsiteX0-1" fmla="*/ 0 w 854003"/>
                <a:gd name="connsiteY0-2" fmla="*/ 0 h 854003"/>
                <a:gd name="connsiteX1-3" fmla="*/ 854003 w 854003"/>
                <a:gd name="connsiteY1-4" fmla="*/ 0 h 854003"/>
                <a:gd name="connsiteX2-5" fmla="*/ 854003 w 854003"/>
                <a:gd name="connsiteY2-6" fmla="*/ 854003 h 854003"/>
                <a:gd name="connsiteX3-7" fmla="*/ 0 w 854003"/>
                <a:gd name="connsiteY3-8" fmla="*/ 854003 h 854003"/>
                <a:gd name="connsiteX4-9" fmla="*/ 91440 w 854003"/>
                <a:gd name="connsiteY4-10" fmla="*/ 91440 h 854003"/>
                <a:gd name="connsiteX0-11" fmla="*/ 854003 w 854003"/>
                <a:gd name="connsiteY0-12" fmla="*/ 0 h 854003"/>
                <a:gd name="connsiteX1-13" fmla="*/ 854003 w 854003"/>
                <a:gd name="connsiteY1-14" fmla="*/ 854003 h 854003"/>
                <a:gd name="connsiteX2-15" fmla="*/ 0 w 854003"/>
                <a:gd name="connsiteY2-16" fmla="*/ 854003 h 854003"/>
                <a:gd name="connsiteX3-17" fmla="*/ 91440 w 854003"/>
                <a:gd name="connsiteY3-18" fmla="*/ 91440 h 854003"/>
                <a:gd name="connsiteX0-19" fmla="*/ 854003 w 854003"/>
                <a:gd name="connsiteY0-20" fmla="*/ 0 h 854003"/>
                <a:gd name="connsiteX1-21" fmla="*/ 854003 w 854003"/>
                <a:gd name="connsiteY1-22" fmla="*/ 854003 h 854003"/>
                <a:gd name="connsiteX2-23" fmla="*/ 0 w 854003"/>
                <a:gd name="connsiteY2-24" fmla="*/ 854003 h 854003"/>
                <a:gd name="connsiteX0-25" fmla="*/ 1019595 w 1019595"/>
                <a:gd name="connsiteY0-26" fmla="*/ 0 h 72953"/>
                <a:gd name="connsiteX1-27" fmla="*/ 854003 w 1019595"/>
                <a:gd name="connsiteY1-28" fmla="*/ 72953 h 72953"/>
                <a:gd name="connsiteX2-29" fmla="*/ 0 w 1019595"/>
                <a:gd name="connsiteY2-30" fmla="*/ 72953 h 72953"/>
                <a:gd name="connsiteX0-31" fmla="*/ 1049223 w 1049223"/>
                <a:gd name="connsiteY0-32" fmla="*/ 0 h 306315"/>
                <a:gd name="connsiteX1-33" fmla="*/ 854003 w 1049223"/>
                <a:gd name="connsiteY1-34" fmla="*/ 306315 h 306315"/>
                <a:gd name="connsiteX2-35" fmla="*/ 0 w 1049223"/>
                <a:gd name="connsiteY2-36" fmla="*/ 306315 h 306315"/>
                <a:gd name="connsiteX0-37" fmla="*/ 1054161 w 1054161"/>
                <a:gd name="connsiteY0-38" fmla="*/ 0 h 325365"/>
                <a:gd name="connsiteX1-39" fmla="*/ 854003 w 1054161"/>
                <a:gd name="connsiteY1-40" fmla="*/ 325365 h 325365"/>
                <a:gd name="connsiteX2-41" fmla="*/ 0 w 1054161"/>
                <a:gd name="connsiteY2-42" fmla="*/ 325365 h 325365"/>
                <a:gd name="connsiteX0-43" fmla="*/ 1038427 w 1038427"/>
                <a:gd name="connsiteY0-44" fmla="*/ 0 h 302685"/>
                <a:gd name="connsiteX1-45" fmla="*/ 854003 w 1038427"/>
                <a:gd name="connsiteY1-46" fmla="*/ 302685 h 302685"/>
                <a:gd name="connsiteX2-47" fmla="*/ 0 w 1038427"/>
                <a:gd name="connsiteY2-48" fmla="*/ 302685 h 302685"/>
                <a:gd name="connsiteX0-49" fmla="*/ 736399 w 736399"/>
                <a:gd name="connsiteY0-50" fmla="*/ 0 h 302685"/>
                <a:gd name="connsiteX1-51" fmla="*/ 551975 w 736399"/>
                <a:gd name="connsiteY1-52" fmla="*/ 302685 h 302685"/>
                <a:gd name="connsiteX2-53" fmla="*/ 0 w 736399"/>
                <a:gd name="connsiteY2-54" fmla="*/ 301872 h 302685"/>
                <a:gd name="connsiteX0-55" fmla="*/ 687641 w 687641"/>
                <a:gd name="connsiteY0-56" fmla="*/ 0 h 220527"/>
                <a:gd name="connsiteX1-57" fmla="*/ 551975 w 687641"/>
                <a:gd name="connsiteY1-58" fmla="*/ 220527 h 220527"/>
                <a:gd name="connsiteX2-59" fmla="*/ 0 w 687641"/>
                <a:gd name="connsiteY2-60" fmla="*/ 219714 h 220527"/>
                <a:gd name="connsiteX0-61" fmla="*/ 747234 w 747234"/>
                <a:gd name="connsiteY0-62" fmla="*/ 0 h 220527"/>
                <a:gd name="connsiteX1-63" fmla="*/ 611568 w 747234"/>
                <a:gd name="connsiteY1-64" fmla="*/ 220527 h 220527"/>
                <a:gd name="connsiteX2-65" fmla="*/ 0 w 747234"/>
                <a:gd name="connsiteY2-66" fmla="*/ 219714 h 220527"/>
                <a:gd name="connsiteX0-67" fmla="*/ 548547 w 548547"/>
                <a:gd name="connsiteY0-68" fmla="*/ 0 h 220528"/>
                <a:gd name="connsiteX1-69" fmla="*/ 412881 w 548547"/>
                <a:gd name="connsiteY1-70" fmla="*/ 220527 h 220528"/>
                <a:gd name="connsiteX2-71" fmla="*/ 0 w 548547"/>
                <a:gd name="connsiteY2-72" fmla="*/ 220528 h 220528"/>
                <a:gd name="connsiteX0-73" fmla="*/ 657109 w 657109"/>
                <a:gd name="connsiteY0-74" fmla="*/ 0 h 52144"/>
                <a:gd name="connsiteX1-75" fmla="*/ 412881 w 657109"/>
                <a:gd name="connsiteY1-76" fmla="*/ 52143 h 52144"/>
                <a:gd name="connsiteX2-77" fmla="*/ 0 w 657109"/>
                <a:gd name="connsiteY2-78" fmla="*/ 52144 h 52144"/>
                <a:gd name="connsiteX0-79" fmla="*/ 663254 w 663254"/>
                <a:gd name="connsiteY0-80" fmla="*/ 0 h 52144"/>
                <a:gd name="connsiteX1-81" fmla="*/ 419026 w 663254"/>
                <a:gd name="connsiteY1-82" fmla="*/ 52143 h 52144"/>
                <a:gd name="connsiteX2-83" fmla="*/ 0 w 663254"/>
                <a:gd name="connsiteY2-84" fmla="*/ 52144 h 52144"/>
                <a:gd name="connsiteX0-85" fmla="*/ 630481 w 630481"/>
                <a:gd name="connsiteY0-86" fmla="*/ 0 h 253879"/>
                <a:gd name="connsiteX1-87" fmla="*/ 419026 w 630481"/>
                <a:gd name="connsiteY1-88" fmla="*/ 253878 h 253879"/>
                <a:gd name="connsiteX2-89" fmla="*/ 0 w 630481"/>
                <a:gd name="connsiteY2-90" fmla="*/ 253879 h 253879"/>
                <a:gd name="connsiteX0-91" fmla="*/ 663254 w 663254"/>
                <a:gd name="connsiteY0-92" fmla="*/ 0 h 297263"/>
                <a:gd name="connsiteX1-93" fmla="*/ 419026 w 663254"/>
                <a:gd name="connsiteY1-94" fmla="*/ 297262 h 297263"/>
                <a:gd name="connsiteX2-95" fmla="*/ 0 w 663254"/>
                <a:gd name="connsiteY2-96" fmla="*/ 297263 h 297263"/>
                <a:gd name="connsiteX0-97" fmla="*/ 581321 w 581321"/>
                <a:gd name="connsiteY0-98" fmla="*/ 0 h 300517"/>
                <a:gd name="connsiteX1-99" fmla="*/ 419026 w 581321"/>
                <a:gd name="connsiteY1-100" fmla="*/ 300516 h 300517"/>
                <a:gd name="connsiteX2-101" fmla="*/ 0 w 581321"/>
                <a:gd name="connsiteY2-102" fmla="*/ 300517 h 300517"/>
                <a:gd name="connsiteX0-103" fmla="*/ 581321 w 581321"/>
                <a:gd name="connsiteY0-104" fmla="*/ 0 h 300517"/>
                <a:gd name="connsiteX1-105" fmla="*/ 386252 w 581321"/>
                <a:gd name="connsiteY1-106" fmla="*/ 300516 h 300517"/>
                <a:gd name="connsiteX2-107" fmla="*/ 0 w 581321"/>
                <a:gd name="connsiteY2-108" fmla="*/ 300517 h 300517"/>
                <a:gd name="connsiteX0-109" fmla="*/ 646867 w 646867"/>
                <a:gd name="connsiteY0-110" fmla="*/ 0 h 385116"/>
                <a:gd name="connsiteX1-111" fmla="*/ 386252 w 646867"/>
                <a:gd name="connsiteY1-112" fmla="*/ 385115 h 385116"/>
                <a:gd name="connsiteX2-113" fmla="*/ 0 w 646867"/>
                <a:gd name="connsiteY2-114" fmla="*/ 385116 h 3851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646867" h="385116">
                  <a:moveTo>
                    <a:pt x="646867" y="0"/>
                  </a:moveTo>
                  <a:lnTo>
                    <a:pt x="386252" y="385115"/>
                  </a:lnTo>
                  <a:lnTo>
                    <a:pt x="0" y="385116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矩形 76"/>
            <p:cNvSpPr/>
            <p:nvPr/>
          </p:nvSpPr>
          <p:spPr bwMode="auto">
            <a:xfrm flipH="1">
              <a:off x="8415338" y="2806814"/>
              <a:ext cx="717550" cy="215885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极片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308" name="直接箭头连接符 12307"/>
            <p:cNvCxnSpPr/>
            <p:nvPr/>
          </p:nvCxnSpPr>
          <p:spPr bwMode="auto">
            <a:xfrm>
              <a:off x="5919787" y="4221179"/>
              <a:ext cx="1265237" cy="111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12308"/>
            <p:cNvSpPr txBox="1"/>
            <p:nvPr/>
          </p:nvSpPr>
          <p:spPr bwMode="auto">
            <a:xfrm>
              <a:off x="5886767" y="4217369"/>
              <a:ext cx="1541780" cy="4184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zh-CN"/>
              </a:defPPr>
              <a:lvl1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1200" b="0" i="0" u="none" strike="noStrike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极片运行方向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2327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6128650" y="2203449"/>
              <a:ext cx="633774" cy="197167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3" name="矩形 8"/>
            <p:cNvSpPr/>
            <p:nvPr/>
          </p:nvSpPr>
          <p:spPr bwMode="auto">
            <a:xfrm flipH="1" flipV="1">
              <a:off x="6404383" y="1842564"/>
              <a:ext cx="1152525" cy="1415952"/>
            </a:xfrm>
            <a:custGeom>
              <a:avLst/>
              <a:gdLst>
                <a:gd name="connsiteX0" fmla="*/ 0 w 854003"/>
                <a:gd name="connsiteY0" fmla="*/ 0 h 854003"/>
                <a:gd name="connsiteX1" fmla="*/ 854003 w 854003"/>
                <a:gd name="connsiteY1" fmla="*/ 0 h 854003"/>
                <a:gd name="connsiteX2" fmla="*/ 854003 w 854003"/>
                <a:gd name="connsiteY2" fmla="*/ 854003 h 854003"/>
                <a:gd name="connsiteX3" fmla="*/ 0 w 854003"/>
                <a:gd name="connsiteY3" fmla="*/ 854003 h 854003"/>
                <a:gd name="connsiteX4" fmla="*/ 0 w 854003"/>
                <a:gd name="connsiteY4" fmla="*/ 0 h 854003"/>
                <a:gd name="connsiteX0-1" fmla="*/ 0 w 854003"/>
                <a:gd name="connsiteY0-2" fmla="*/ 0 h 854003"/>
                <a:gd name="connsiteX1-3" fmla="*/ 854003 w 854003"/>
                <a:gd name="connsiteY1-4" fmla="*/ 0 h 854003"/>
                <a:gd name="connsiteX2-5" fmla="*/ 854003 w 854003"/>
                <a:gd name="connsiteY2-6" fmla="*/ 854003 h 854003"/>
                <a:gd name="connsiteX3-7" fmla="*/ 0 w 854003"/>
                <a:gd name="connsiteY3-8" fmla="*/ 854003 h 854003"/>
                <a:gd name="connsiteX4-9" fmla="*/ 91440 w 854003"/>
                <a:gd name="connsiteY4-10" fmla="*/ 91440 h 854003"/>
                <a:gd name="connsiteX0-11" fmla="*/ 854003 w 854003"/>
                <a:gd name="connsiteY0-12" fmla="*/ 0 h 854003"/>
                <a:gd name="connsiteX1-13" fmla="*/ 854003 w 854003"/>
                <a:gd name="connsiteY1-14" fmla="*/ 854003 h 854003"/>
                <a:gd name="connsiteX2-15" fmla="*/ 0 w 854003"/>
                <a:gd name="connsiteY2-16" fmla="*/ 854003 h 854003"/>
                <a:gd name="connsiteX3-17" fmla="*/ 91440 w 854003"/>
                <a:gd name="connsiteY3-18" fmla="*/ 91440 h 854003"/>
                <a:gd name="connsiteX0-19" fmla="*/ 854003 w 854003"/>
                <a:gd name="connsiteY0-20" fmla="*/ 0 h 854003"/>
                <a:gd name="connsiteX1-21" fmla="*/ 854003 w 854003"/>
                <a:gd name="connsiteY1-22" fmla="*/ 854003 h 854003"/>
                <a:gd name="connsiteX2-23" fmla="*/ 0 w 854003"/>
                <a:gd name="connsiteY2-24" fmla="*/ 854003 h 854003"/>
                <a:gd name="connsiteX0-25" fmla="*/ 1019595 w 1019595"/>
                <a:gd name="connsiteY0-26" fmla="*/ 0 h 72953"/>
                <a:gd name="connsiteX1-27" fmla="*/ 854003 w 1019595"/>
                <a:gd name="connsiteY1-28" fmla="*/ 72953 h 72953"/>
                <a:gd name="connsiteX2-29" fmla="*/ 0 w 1019595"/>
                <a:gd name="connsiteY2-30" fmla="*/ 72953 h 72953"/>
                <a:gd name="connsiteX0-31" fmla="*/ 1049223 w 1049223"/>
                <a:gd name="connsiteY0-32" fmla="*/ 0 h 306315"/>
                <a:gd name="connsiteX1-33" fmla="*/ 854003 w 1049223"/>
                <a:gd name="connsiteY1-34" fmla="*/ 306315 h 306315"/>
                <a:gd name="connsiteX2-35" fmla="*/ 0 w 1049223"/>
                <a:gd name="connsiteY2-36" fmla="*/ 306315 h 306315"/>
                <a:gd name="connsiteX0-37" fmla="*/ 1054161 w 1054161"/>
                <a:gd name="connsiteY0-38" fmla="*/ 0 h 325365"/>
                <a:gd name="connsiteX1-39" fmla="*/ 854003 w 1054161"/>
                <a:gd name="connsiteY1-40" fmla="*/ 325365 h 325365"/>
                <a:gd name="connsiteX2-41" fmla="*/ 0 w 1054161"/>
                <a:gd name="connsiteY2-42" fmla="*/ 325365 h 325365"/>
                <a:gd name="connsiteX0-43" fmla="*/ 1038427 w 1038427"/>
                <a:gd name="connsiteY0-44" fmla="*/ 0 h 302685"/>
                <a:gd name="connsiteX1-45" fmla="*/ 854003 w 1038427"/>
                <a:gd name="connsiteY1-46" fmla="*/ 302685 h 302685"/>
                <a:gd name="connsiteX2-47" fmla="*/ 0 w 1038427"/>
                <a:gd name="connsiteY2-48" fmla="*/ 302685 h 302685"/>
                <a:gd name="connsiteX0-49" fmla="*/ 736399 w 736399"/>
                <a:gd name="connsiteY0-50" fmla="*/ 0 h 302685"/>
                <a:gd name="connsiteX1-51" fmla="*/ 551975 w 736399"/>
                <a:gd name="connsiteY1-52" fmla="*/ 302685 h 302685"/>
                <a:gd name="connsiteX2-53" fmla="*/ 0 w 736399"/>
                <a:gd name="connsiteY2-54" fmla="*/ 301872 h 302685"/>
                <a:gd name="connsiteX0-55" fmla="*/ 687641 w 687641"/>
                <a:gd name="connsiteY0-56" fmla="*/ 0 h 220527"/>
                <a:gd name="connsiteX1-57" fmla="*/ 551975 w 687641"/>
                <a:gd name="connsiteY1-58" fmla="*/ 220527 h 220527"/>
                <a:gd name="connsiteX2-59" fmla="*/ 0 w 687641"/>
                <a:gd name="connsiteY2-60" fmla="*/ 219714 h 220527"/>
                <a:gd name="connsiteX0-61" fmla="*/ 747234 w 747234"/>
                <a:gd name="connsiteY0-62" fmla="*/ 0 h 220527"/>
                <a:gd name="connsiteX1-63" fmla="*/ 611568 w 747234"/>
                <a:gd name="connsiteY1-64" fmla="*/ 220527 h 220527"/>
                <a:gd name="connsiteX2-65" fmla="*/ 0 w 747234"/>
                <a:gd name="connsiteY2-66" fmla="*/ 219714 h 220527"/>
                <a:gd name="connsiteX0-67" fmla="*/ 548547 w 548547"/>
                <a:gd name="connsiteY0-68" fmla="*/ 0 h 220528"/>
                <a:gd name="connsiteX1-69" fmla="*/ 412881 w 548547"/>
                <a:gd name="connsiteY1-70" fmla="*/ 220527 h 220528"/>
                <a:gd name="connsiteX2-71" fmla="*/ 0 w 548547"/>
                <a:gd name="connsiteY2-72" fmla="*/ 220528 h 220528"/>
                <a:gd name="connsiteX0-73" fmla="*/ 657109 w 657109"/>
                <a:gd name="connsiteY0-74" fmla="*/ 0 h 52144"/>
                <a:gd name="connsiteX1-75" fmla="*/ 412881 w 657109"/>
                <a:gd name="connsiteY1-76" fmla="*/ 52143 h 52144"/>
                <a:gd name="connsiteX2-77" fmla="*/ 0 w 657109"/>
                <a:gd name="connsiteY2-78" fmla="*/ 52144 h 52144"/>
                <a:gd name="connsiteX0-79" fmla="*/ 663254 w 663254"/>
                <a:gd name="connsiteY0-80" fmla="*/ 0 h 52144"/>
                <a:gd name="connsiteX1-81" fmla="*/ 419026 w 663254"/>
                <a:gd name="connsiteY1-82" fmla="*/ 52143 h 52144"/>
                <a:gd name="connsiteX2-83" fmla="*/ 0 w 663254"/>
                <a:gd name="connsiteY2-84" fmla="*/ 52144 h 52144"/>
                <a:gd name="connsiteX0-85" fmla="*/ 630481 w 630481"/>
                <a:gd name="connsiteY0-86" fmla="*/ 0 h 253879"/>
                <a:gd name="connsiteX1-87" fmla="*/ 419026 w 630481"/>
                <a:gd name="connsiteY1-88" fmla="*/ 253878 h 253879"/>
                <a:gd name="connsiteX2-89" fmla="*/ 0 w 630481"/>
                <a:gd name="connsiteY2-90" fmla="*/ 253879 h 253879"/>
                <a:gd name="connsiteX0-91" fmla="*/ 663254 w 663254"/>
                <a:gd name="connsiteY0-92" fmla="*/ 0 h 297263"/>
                <a:gd name="connsiteX1-93" fmla="*/ 419026 w 663254"/>
                <a:gd name="connsiteY1-94" fmla="*/ 297262 h 297263"/>
                <a:gd name="connsiteX2-95" fmla="*/ 0 w 663254"/>
                <a:gd name="connsiteY2-96" fmla="*/ 297263 h 297263"/>
                <a:gd name="connsiteX0-97" fmla="*/ 581321 w 581321"/>
                <a:gd name="connsiteY0-98" fmla="*/ 0 h 300517"/>
                <a:gd name="connsiteX1-99" fmla="*/ 419026 w 581321"/>
                <a:gd name="connsiteY1-100" fmla="*/ 300516 h 300517"/>
                <a:gd name="connsiteX2-101" fmla="*/ 0 w 581321"/>
                <a:gd name="connsiteY2-102" fmla="*/ 300517 h 300517"/>
                <a:gd name="connsiteX0-103" fmla="*/ 581321 w 581321"/>
                <a:gd name="connsiteY0-104" fmla="*/ 0 h 300517"/>
                <a:gd name="connsiteX1-105" fmla="*/ 386252 w 581321"/>
                <a:gd name="connsiteY1-106" fmla="*/ 300516 h 300517"/>
                <a:gd name="connsiteX2-107" fmla="*/ 0 w 581321"/>
                <a:gd name="connsiteY2-108" fmla="*/ 300517 h 300517"/>
                <a:gd name="connsiteX0-109" fmla="*/ 646867 w 646867"/>
                <a:gd name="connsiteY0-110" fmla="*/ 0 h 385116"/>
                <a:gd name="connsiteX1-111" fmla="*/ 386252 w 646867"/>
                <a:gd name="connsiteY1-112" fmla="*/ 385115 h 385116"/>
                <a:gd name="connsiteX2-113" fmla="*/ 0 w 646867"/>
                <a:gd name="connsiteY2-114" fmla="*/ 385116 h 3851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646867" h="385116">
                  <a:moveTo>
                    <a:pt x="646867" y="0"/>
                  </a:moveTo>
                  <a:lnTo>
                    <a:pt x="386252" y="385115"/>
                  </a:lnTo>
                  <a:lnTo>
                    <a:pt x="0" y="385116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矩形 8"/>
            <p:cNvSpPr/>
            <p:nvPr/>
          </p:nvSpPr>
          <p:spPr bwMode="auto">
            <a:xfrm flipV="1">
              <a:off x="5903912" y="1767074"/>
              <a:ext cx="517525" cy="652417"/>
            </a:xfrm>
            <a:custGeom>
              <a:avLst/>
              <a:gdLst>
                <a:gd name="connsiteX0" fmla="*/ 0 w 854003"/>
                <a:gd name="connsiteY0" fmla="*/ 0 h 854003"/>
                <a:gd name="connsiteX1" fmla="*/ 854003 w 854003"/>
                <a:gd name="connsiteY1" fmla="*/ 0 h 854003"/>
                <a:gd name="connsiteX2" fmla="*/ 854003 w 854003"/>
                <a:gd name="connsiteY2" fmla="*/ 854003 h 854003"/>
                <a:gd name="connsiteX3" fmla="*/ 0 w 854003"/>
                <a:gd name="connsiteY3" fmla="*/ 854003 h 854003"/>
                <a:gd name="connsiteX4" fmla="*/ 0 w 854003"/>
                <a:gd name="connsiteY4" fmla="*/ 0 h 854003"/>
                <a:gd name="connsiteX0-1" fmla="*/ 0 w 854003"/>
                <a:gd name="connsiteY0-2" fmla="*/ 0 h 854003"/>
                <a:gd name="connsiteX1-3" fmla="*/ 854003 w 854003"/>
                <a:gd name="connsiteY1-4" fmla="*/ 0 h 854003"/>
                <a:gd name="connsiteX2-5" fmla="*/ 854003 w 854003"/>
                <a:gd name="connsiteY2-6" fmla="*/ 854003 h 854003"/>
                <a:gd name="connsiteX3-7" fmla="*/ 0 w 854003"/>
                <a:gd name="connsiteY3-8" fmla="*/ 854003 h 854003"/>
                <a:gd name="connsiteX4-9" fmla="*/ 91440 w 854003"/>
                <a:gd name="connsiteY4-10" fmla="*/ 91440 h 854003"/>
                <a:gd name="connsiteX0-11" fmla="*/ 854003 w 854003"/>
                <a:gd name="connsiteY0-12" fmla="*/ 0 h 854003"/>
                <a:gd name="connsiteX1-13" fmla="*/ 854003 w 854003"/>
                <a:gd name="connsiteY1-14" fmla="*/ 854003 h 854003"/>
                <a:gd name="connsiteX2-15" fmla="*/ 0 w 854003"/>
                <a:gd name="connsiteY2-16" fmla="*/ 854003 h 854003"/>
                <a:gd name="connsiteX3-17" fmla="*/ 91440 w 854003"/>
                <a:gd name="connsiteY3-18" fmla="*/ 91440 h 854003"/>
                <a:gd name="connsiteX0-19" fmla="*/ 854003 w 854003"/>
                <a:gd name="connsiteY0-20" fmla="*/ 0 h 854003"/>
                <a:gd name="connsiteX1-21" fmla="*/ 854003 w 854003"/>
                <a:gd name="connsiteY1-22" fmla="*/ 854003 h 854003"/>
                <a:gd name="connsiteX2-23" fmla="*/ 0 w 854003"/>
                <a:gd name="connsiteY2-24" fmla="*/ 854003 h 854003"/>
                <a:gd name="connsiteX0-25" fmla="*/ 1019595 w 1019595"/>
                <a:gd name="connsiteY0-26" fmla="*/ 0 h 72953"/>
                <a:gd name="connsiteX1-27" fmla="*/ 854003 w 1019595"/>
                <a:gd name="connsiteY1-28" fmla="*/ 72953 h 72953"/>
                <a:gd name="connsiteX2-29" fmla="*/ 0 w 1019595"/>
                <a:gd name="connsiteY2-30" fmla="*/ 72953 h 72953"/>
                <a:gd name="connsiteX0-31" fmla="*/ 1049223 w 1049223"/>
                <a:gd name="connsiteY0-32" fmla="*/ 0 h 306315"/>
                <a:gd name="connsiteX1-33" fmla="*/ 854003 w 1049223"/>
                <a:gd name="connsiteY1-34" fmla="*/ 306315 h 306315"/>
                <a:gd name="connsiteX2-35" fmla="*/ 0 w 1049223"/>
                <a:gd name="connsiteY2-36" fmla="*/ 306315 h 306315"/>
                <a:gd name="connsiteX0-37" fmla="*/ 1054161 w 1054161"/>
                <a:gd name="connsiteY0-38" fmla="*/ 0 h 325365"/>
                <a:gd name="connsiteX1-39" fmla="*/ 854003 w 1054161"/>
                <a:gd name="connsiteY1-40" fmla="*/ 325365 h 325365"/>
                <a:gd name="connsiteX2-41" fmla="*/ 0 w 1054161"/>
                <a:gd name="connsiteY2-42" fmla="*/ 325365 h 325365"/>
                <a:gd name="connsiteX0-43" fmla="*/ 1038427 w 1038427"/>
                <a:gd name="connsiteY0-44" fmla="*/ 0 h 302685"/>
                <a:gd name="connsiteX1-45" fmla="*/ 854003 w 1038427"/>
                <a:gd name="connsiteY1-46" fmla="*/ 302685 h 302685"/>
                <a:gd name="connsiteX2-47" fmla="*/ 0 w 1038427"/>
                <a:gd name="connsiteY2-48" fmla="*/ 302685 h 302685"/>
                <a:gd name="connsiteX0-49" fmla="*/ 736399 w 736399"/>
                <a:gd name="connsiteY0-50" fmla="*/ 0 h 302685"/>
                <a:gd name="connsiteX1-51" fmla="*/ 551975 w 736399"/>
                <a:gd name="connsiteY1-52" fmla="*/ 302685 h 302685"/>
                <a:gd name="connsiteX2-53" fmla="*/ 0 w 736399"/>
                <a:gd name="connsiteY2-54" fmla="*/ 301872 h 302685"/>
                <a:gd name="connsiteX0-55" fmla="*/ 687641 w 687641"/>
                <a:gd name="connsiteY0-56" fmla="*/ 0 h 220527"/>
                <a:gd name="connsiteX1-57" fmla="*/ 551975 w 687641"/>
                <a:gd name="connsiteY1-58" fmla="*/ 220527 h 220527"/>
                <a:gd name="connsiteX2-59" fmla="*/ 0 w 687641"/>
                <a:gd name="connsiteY2-60" fmla="*/ 219714 h 220527"/>
                <a:gd name="connsiteX0-61" fmla="*/ 747234 w 747234"/>
                <a:gd name="connsiteY0-62" fmla="*/ 0 h 220527"/>
                <a:gd name="connsiteX1-63" fmla="*/ 611568 w 747234"/>
                <a:gd name="connsiteY1-64" fmla="*/ 220527 h 220527"/>
                <a:gd name="connsiteX2-65" fmla="*/ 0 w 747234"/>
                <a:gd name="connsiteY2-66" fmla="*/ 219714 h 220527"/>
                <a:gd name="connsiteX0-67" fmla="*/ 548547 w 548547"/>
                <a:gd name="connsiteY0-68" fmla="*/ 0 h 220528"/>
                <a:gd name="connsiteX1-69" fmla="*/ 412881 w 548547"/>
                <a:gd name="connsiteY1-70" fmla="*/ 220527 h 220528"/>
                <a:gd name="connsiteX2-71" fmla="*/ 0 w 548547"/>
                <a:gd name="connsiteY2-72" fmla="*/ 220528 h 220528"/>
                <a:gd name="connsiteX0-73" fmla="*/ 657109 w 657109"/>
                <a:gd name="connsiteY0-74" fmla="*/ 0 h 52144"/>
                <a:gd name="connsiteX1-75" fmla="*/ 412881 w 657109"/>
                <a:gd name="connsiteY1-76" fmla="*/ 52143 h 52144"/>
                <a:gd name="connsiteX2-77" fmla="*/ 0 w 657109"/>
                <a:gd name="connsiteY2-78" fmla="*/ 52144 h 52144"/>
                <a:gd name="connsiteX0-79" fmla="*/ 663254 w 663254"/>
                <a:gd name="connsiteY0-80" fmla="*/ 0 h 52144"/>
                <a:gd name="connsiteX1-81" fmla="*/ 419026 w 663254"/>
                <a:gd name="connsiteY1-82" fmla="*/ 52143 h 52144"/>
                <a:gd name="connsiteX2-83" fmla="*/ 0 w 663254"/>
                <a:gd name="connsiteY2-84" fmla="*/ 52144 h 52144"/>
                <a:gd name="connsiteX0-85" fmla="*/ 630481 w 630481"/>
                <a:gd name="connsiteY0-86" fmla="*/ 0 h 253879"/>
                <a:gd name="connsiteX1-87" fmla="*/ 419026 w 630481"/>
                <a:gd name="connsiteY1-88" fmla="*/ 253878 h 253879"/>
                <a:gd name="connsiteX2-89" fmla="*/ 0 w 630481"/>
                <a:gd name="connsiteY2-90" fmla="*/ 253879 h 253879"/>
                <a:gd name="connsiteX0-91" fmla="*/ 663254 w 663254"/>
                <a:gd name="connsiteY0-92" fmla="*/ 0 h 297263"/>
                <a:gd name="connsiteX1-93" fmla="*/ 419026 w 663254"/>
                <a:gd name="connsiteY1-94" fmla="*/ 297262 h 297263"/>
                <a:gd name="connsiteX2-95" fmla="*/ 0 w 663254"/>
                <a:gd name="connsiteY2-96" fmla="*/ 297263 h 297263"/>
                <a:gd name="connsiteX0-97" fmla="*/ 581321 w 581321"/>
                <a:gd name="connsiteY0-98" fmla="*/ 0 h 300517"/>
                <a:gd name="connsiteX1-99" fmla="*/ 419026 w 581321"/>
                <a:gd name="connsiteY1-100" fmla="*/ 300516 h 300517"/>
                <a:gd name="connsiteX2-101" fmla="*/ 0 w 581321"/>
                <a:gd name="connsiteY2-102" fmla="*/ 300517 h 300517"/>
                <a:gd name="connsiteX0-103" fmla="*/ 581321 w 581321"/>
                <a:gd name="connsiteY0-104" fmla="*/ 0 h 300517"/>
                <a:gd name="connsiteX1-105" fmla="*/ 386252 w 581321"/>
                <a:gd name="connsiteY1-106" fmla="*/ 300516 h 300517"/>
                <a:gd name="connsiteX2-107" fmla="*/ 0 w 581321"/>
                <a:gd name="connsiteY2-108" fmla="*/ 300517 h 300517"/>
                <a:gd name="connsiteX0-109" fmla="*/ 646867 w 646867"/>
                <a:gd name="connsiteY0-110" fmla="*/ 0 h 385116"/>
                <a:gd name="connsiteX1-111" fmla="*/ 386252 w 646867"/>
                <a:gd name="connsiteY1-112" fmla="*/ 385115 h 385116"/>
                <a:gd name="connsiteX2-113" fmla="*/ 0 w 646867"/>
                <a:gd name="connsiteY2-114" fmla="*/ 385116 h 3851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646867" h="385116">
                  <a:moveTo>
                    <a:pt x="646867" y="0"/>
                  </a:moveTo>
                  <a:lnTo>
                    <a:pt x="386252" y="385115"/>
                  </a:lnTo>
                  <a:lnTo>
                    <a:pt x="0" y="385116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矩形 76"/>
            <p:cNvSpPr/>
            <p:nvPr/>
          </p:nvSpPr>
          <p:spPr bwMode="auto">
            <a:xfrm flipH="1">
              <a:off x="7345363" y="1708340"/>
              <a:ext cx="717550" cy="215885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相机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矩形 76"/>
            <p:cNvSpPr/>
            <p:nvPr/>
          </p:nvSpPr>
          <p:spPr bwMode="auto">
            <a:xfrm flipH="1">
              <a:off x="5402262" y="1700404"/>
              <a:ext cx="717550" cy="215885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光源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1390650" y="2851150"/>
            <a:ext cx="3053715" cy="3531870"/>
            <a:chOff x="1532" y="4412"/>
            <a:chExt cx="5662" cy="4811"/>
          </a:xfrm>
        </p:grpSpPr>
        <p:grpSp>
          <p:nvGrpSpPr>
            <p:cNvPr id="70" name="组合 69"/>
            <p:cNvGrpSpPr/>
            <p:nvPr/>
          </p:nvGrpSpPr>
          <p:grpSpPr>
            <a:xfrm rot="0">
              <a:off x="1532" y="4412"/>
              <a:ext cx="4639" cy="4811"/>
              <a:chOff x="950" y="2021"/>
              <a:chExt cx="4973" cy="7440"/>
            </a:xfrm>
          </p:grpSpPr>
          <p:sp>
            <p:nvSpPr>
              <p:cNvPr id="6" name="文本框 5"/>
              <p:cNvSpPr txBox="1"/>
              <p:nvPr/>
            </p:nvSpPr>
            <p:spPr bwMode="auto">
              <a:xfrm>
                <a:off x="3671" y="2021"/>
                <a:ext cx="1000" cy="53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>
                <a:defPPr>
                  <a:defRPr lang="zh-CN"/>
                </a:defPPr>
                <a:lvl1pPr marR="0" lvl="0" indent="0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kumimoji="0" sz="1200" b="0" i="0" u="none" strike="noStrike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法线</a:t>
                </a:r>
                <a:endParaRPr kumimoji="0" 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950" y="2284"/>
                <a:ext cx="4973" cy="7177"/>
                <a:chOff x="1930" y="2321"/>
                <a:chExt cx="4973" cy="7177"/>
              </a:xfrm>
            </p:grpSpPr>
            <p:pic>
              <p:nvPicPr>
                <p:cNvPr id="29" name="图片 28"/>
                <p:cNvPicPr>
                  <a:picLocks noChangeAspect="1"/>
                </p:cNvPicPr>
                <p:nvPr/>
              </p:nvPicPr>
              <p:blipFill>
                <a:blip r:embed="rId3" cstate="print"/>
                <a:srcRect l="3070" t="8372" r="2271" b="8125"/>
                <a:stretch>
                  <a:fillRect/>
                </a:stretch>
              </p:blipFill>
              <p:spPr>
                <a:xfrm>
                  <a:off x="4546" y="6648"/>
                  <a:ext cx="1628" cy="756"/>
                </a:xfrm>
                <a:prstGeom prst="rect">
                  <a:avLst/>
                </a:prstGeom>
              </p:spPr>
            </p:pic>
            <p:grpSp>
              <p:nvGrpSpPr>
                <p:cNvPr id="33" name="组合 20"/>
                <p:cNvGrpSpPr/>
                <p:nvPr/>
              </p:nvGrpSpPr>
              <p:grpSpPr>
                <a:xfrm>
                  <a:off x="1930" y="2321"/>
                  <a:ext cx="4962" cy="7177"/>
                  <a:chOff x="996950" y="1439863"/>
                  <a:chExt cx="3269644" cy="4557018"/>
                </a:xfrm>
              </p:grpSpPr>
              <p:grpSp>
                <p:nvGrpSpPr>
                  <p:cNvPr id="7" name="组合 4"/>
                  <p:cNvGrpSpPr/>
                  <p:nvPr/>
                </p:nvGrpSpPr>
                <p:grpSpPr>
                  <a:xfrm flipH="1">
                    <a:off x="1095142" y="3517509"/>
                    <a:ext cx="1657162" cy="809475"/>
                    <a:chOff x="14010" y="4905"/>
                    <a:chExt cx="2358" cy="1277"/>
                  </a:xfrm>
                </p:grpSpPr>
                <p:sp>
                  <p:nvSpPr>
                    <p:cNvPr id="8" name="矩形 8"/>
                    <p:cNvSpPr/>
                    <p:nvPr/>
                  </p:nvSpPr>
                  <p:spPr>
                    <a:xfrm flipH="1" flipV="1">
                      <a:off x="14009" y="5040"/>
                      <a:ext cx="1586" cy="1142"/>
                    </a:xfrm>
                    <a:custGeom>
                      <a:avLst/>
                      <a:gdLst>
                        <a:gd name="connsiteX0" fmla="*/ 0 w 854003"/>
                        <a:gd name="connsiteY0" fmla="*/ 0 h 854003"/>
                        <a:gd name="connsiteX1" fmla="*/ 854003 w 854003"/>
                        <a:gd name="connsiteY1" fmla="*/ 0 h 854003"/>
                        <a:gd name="connsiteX2" fmla="*/ 854003 w 854003"/>
                        <a:gd name="connsiteY2" fmla="*/ 854003 h 854003"/>
                        <a:gd name="connsiteX3" fmla="*/ 0 w 854003"/>
                        <a:gd name="connsiteY3" fmla="*/ 854003 h 854003"/>
                        <a:gd name="connsiteX4" fmla="*/ 0 w 854003"/>
                        <a:gd name="connsiteY4" fmla="*/ 0 h 854003"/>
                        <a:gd name="connsiteX0-1" fmla="*/ 0 w 854003"/>
                        <a:gd name="connsiteY0-2" fmla="*/ 0 h 854003"/>
                        <a:gd name="connsiteX1-3" fmla="*/ 854003 w 854003"/>
                        <a:gd name="connsiteY1-4" fmla="*/ 0 h 854003"/>
                        <a:gd name="connsiteX2-5" fmla="*/ 854003 w 854003"/>
                        <a:gd name="connsiteY2-6" fmla="*/ 854003 h 854003"/>
                        <a:gd name="connsiteX3-7" fmla="*/ 0 w 854003"/>
                        <a:gd name="connsiteY3-8" fmla="*/ 854003 h 854003"/>
                        <a:gd name="connsiteX4-9" fmla="*/ 91440 w 854003"/>
                        <a:gd name="connsiteY4-10" fmla="*/ 91440 h 854003"/>
                        <a:gd name="connsiteX0-11" fmla="*/ 854003 w 854003"/>
                        <a:gd name="connsiteY0-12" fmla="*/ 0 h 854003"/>
                        <a:gd name="connsiteX1-13" fmla="*/ 854003 w 854003"/>
                        <a:gd name="connsiteY1-14" fmla="*/ 854003 h 854003"/>
                        <a:gd name="connsiteX2-15" fmla="*/ 0 w 854003"/>
                        <a:gd name="connsiteY2-16" fmla="*/ 854003 h 854003"/>
                        <a:gd name="connsiteX3-17" fmla="*/ 91440 w 854003"/>
                        <a:gd name="connsiteY3-18" fmla="*/ 91440 h 854003"/>
                        <a:gd name="connsiteX0-19" fmla="*/ 854003 w 854003"/>
                        <a:gd name="connsiteY0-20" fmla="*/ 0 h 854003"/>
                        <a:gd name="connsiteX1-21" fmla="*/ 854003 w 854003"/>
                        <a:gd name="connsiteY1-22" fmla="*/ 854003 h 854003"/>
                        <a:gd name="connsiteX2-23" fmla="*/ 0 w 854003"/>
                        <a:gd name="connsiteY2-24" fmla="*/ 854003 h 854003"/>
                        <a:gd name="connsiteX0-25" fmla="*/ 1019595 w 1019595"/>
                        <a:gd name="connsiteY0-26" fmla="*/ 0 h 72953"/>
                        <a:gd name="connsiteX1-27" fmla="*/ 854003 w 1019595"/>
                        <a:gd name="connsiteY1-28" fmla="*/ 72953 h 72953"/>
                        <a:gd name="connsiteX2-29" fmla="*/ 0 w 1019595"/>
                        <a:gd name="connsiteY2-30" fmla="*/ 72953 h 72953"/>
                        <a:gd name="connsiteX0-31" fmla="*/ 1049223 w 1049223"/>
                        <a:gd name="connsiteY0-32" fmla="*/ 0 h 306315"/>
                        <a:gd name="connsiteX1-33" fmla="*/ 854003 w 1049223"/>
                        <a:gd name="connsiteY1-34" fmla="*/ 306315 h 306315"/>
                        <a:gd name="connsiteX2-35" fmla="*/ 0 w 1049223"/>
                        <a:gd name="connsiteY2-36" fmla="*/ 306315 h 306315"/>
                        <a:gd name="connsiteX0-37" fmla="*/ 1054161 w 1054161"/>
                        <a:gd name="connsiteY0-38" fmla="*/ 0 h 325365"/>
                        <a:gd name="connsiteX1-39" fmla="*/ 854003 w 1054161"/>
                        <a:gd name="connsiteY1-40" fmla="*/ 325365 h 325365"/>
                        <a:gd name="connsiteX2-41" fmla="*/ 0 w 1054161"/>
                        <a:gd name="connsiteY2-42" fmla="*/ 325365 h 325365"/>
                        <a:gd name="connsiteX0-43" fmla="*/ 1038427 w 1038427"/>
                        <a:gd name="connsiteY0-44" fmla="*/ 0 h 302685"/>
                        <a:gd name="connsiteX1-45" fmla="*/ 854003 w 1038427"/>
                        <a:gd name="connsiteY1-46" fmla="*/ 302685 h 302685"/>
                        <a:gd name="connsiteX2-47" fmla="*/ 0 w 1038427"/>
                        <a:gd name="connsiteY2-48" fmla="*/ 302685 h 302685"/>
                        <a:gd name="connsiteX0-49" fmla="*/ 736399 w 736399"/>
                        <a:gd name="connsiteY0-50" fmla="*/ 0 h 302685"/>
                        <a:gd name="connsiteX1-51" fmla="*/ 551975 w 736399"/>
                        <a:gd name="connsiteY1-52" fmla="*/ 302685 h 302685"/>
                        <a:gd name="connsiteX2-53" fmla="*/ 0 w 736399"/>
                        <a:gd name="connsiteY2-54" fmla="*/ 301872 h 302685"/>
                        <a:gd name="connsiteX0-55" fmla="*/ 687641 w 687641"/>
                        <a:gd name="connsiteY0-56" fmla="*/ 0 h 220527"/>
                        <a:gd name="connsiteX1-57" fmla="*/ 551975 w 687641"/>
                        <a:gd name="connsiteY1-58" fmla="*/ 220527 h 220527"/>
                        <a:gd name="connsiteX2-59" fmla="*/ 0 w 687641"/>
                        <a:gd name="connsiteY2-60" fmla="*/ 219714 h 220527"/>
                        <a:gd name="connsiteX0-61" fmla="*/ 747234 w 747234"/>
                        <a:gd name="connsiteY0-62" fmla="*/ 0 h 220527"/>
                        <a:gd name="connsiteX1-63" fmla="*/ 611568 w 747234"/>
                        <a:gd name="connsiteY1-64" fmla="*/ 220527 h 220527"/>
                        <a:gd name="connsiteX2-65" fmla="*/ 0 w 747234"/>
                        <a:gd name="connsiteY2-66" fmla="*/ 219714 h 220527"/>
                        <a:gd name="connsiteX0-67" fmla="*/ 548547 w 548547"/>
                        <a:gd name="connsiteY0-68" fmla="*/ 0 h 220528"/>
                        <a:gd name="connsiteX1-69" fmla="*/ 412881 w 548547"/>
                        <a:gd name="connsiteY1-70" fmla="*/ 220527 h 220528"/>
                        <a:gd name="connsiteX2-71" fmla="*/ 0 w 548547"/>
                        <a:gd name="connsiteY2-72" fmla="*/ 220528 h 220528"/>
                        <a:gd name="connsiteX0-73" fmla="*/ 657109 w 657109"/>
                        <a:gd name="connsiteY0-74" fmla="*/ 0 h 52144"/>
                        <a:gd name="connsiteX1-75" fmla="*/ 412881 w 657109"/>
                        <a:gd name="connsiteY1-76" fmla="*/ 52143 h 52144"/>
                        <a:gd name="connsiteX2-77" fmla="*/ 0 w 657109"/>
                        <a:gd name="connsiteY2-78" fmla="*/ 52144 h 52144"/>
                        <a:gd name="connsiteX0-79" fmla="*/ 663254 w 663254"/>
                        <a:gd name="connsiteY0-80" fmla="*/ 0 h 52144"/>
                        <a:gd name="connsiteX1-81" fmla="*/ 419026 w 663254"/>
                        <a:gd name="connsiteY1-82" fmla="*/ 52143 h 52144"/>
                        <a:gd name="connsiteX2-83" fmla="*/ 0 w 663254"/>
                        <a:gd name="connsiteY2-84" fmla="*/ 52144 h 52144"/>
                        <a:gd name="connsiteX0-85" fmla="*/ 630481 w 630481"/>
                        <a:gd name="connsiteY0-86" fmla="*/ 0 h 253879"/>
                        <a:gd name="connsiteX1-87" fmla="*/ 419026 w 630481"/>
                        <a:gd name="connsiteY1-88" fmla="*/ 253878 h 253879"/>
                        <a:gd name="connsiteX2-89" fmla="*/ 0 w 630481"/>
                        <a:gd name="connsiteY2-90" fmla="*/ 253879 h 253879"/>
                        <a:gd name="connsiteX0-91" fmla="*/ 663254 w 663254"/>
                        <a:gd name="connsiteY0-92" fmla="*/ 0 h 297263"/>
                        <a:gd name="connsiteX1-93" fmla="*/ 419026 w 663254"/>
                        <a:gd name="connsiteY1-94" fmla="*/ 297262 h 297263"/>
                        <a:gd name="connsiteX2-95" fmla="*/ 0 w 663254"/>
                        <a:gd name="connsiteY2-96" fmla="*/ 297263 h 297263"/>
                        <a:gd name="connsiteX0-97" fmla="*/ 581321 w 581321"/>
                        <a:gd name="connsiteY0-98" fmla="*/ 0 h 300517"/>
                        <a:gd name="connsiteX1-99" fmla="*/ 419026 w 581321"/>
                        <a:gd name="connsiteY1-100" fmla="*/ 300516 h 300517"/>
                        <a:gd name="connsiteX2-101" fmla="*/ 0 w 581321"/>
                        <a:gd name="connsiteY2-102" fmla="*/ 300517 h 300517"/>
                        <a:gd name="connsiteX0-103" fmla="*/ 581321 w 581321"/>
                        <a:gd name="connsiteY0-104" fmla="*/ 0 h 300517"/>
                        <a:gd name="connsiteX1-105" fmla="*/ 386252 w 581321"/>
                        <a:gd name="connsiteY1-106" fmla="*/ 300516 h 300517"/>
                        <a:gd name="connsiteX2-107" fmla="*/ 0 w 581321"/>
                        <a:gd name="connsiteY2-108" fmla="*/ 300517 h 300517"/>
                        <a:gd name="connsiteX0-109" fmla="*/ 646867 w 646867"/>
                        <a:gd name="connsiteY0-110" fmla="*/ 0 h 385116"/>
                        <a:gd name="connsiteX1-111" fmla="*/ 386252 w 646867"/>
                        <a:gd name="connsiteY1-112" fmla="*/ 385115 h 385116"/>
                        <a:gd name="connsiteX2-113" fmla="*/ 0 w 646867"/>
                        <a:gd name="connsiteY2-114" fmla="*/ 385116 h 38511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646867" h="385116">
                          <a:moveTo>
                            <a:pt x="646867" y="0"/>
                          </a:moveTo>
                          <a:lnTo>
                            <a:pt x="386252" y="385115"/>
                          </a:lnTo>
                          <a:lnTo>
                            <a:pt x="0" y="385116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" name="矩形 76"/>
                    <p:cNvSpPr/>
                    <p:nvPr/>
                  </p:nvSpPr>
                  <p:spPr>
                    <a:xfrm>
                      <a:off x="15347" y="4905"/>
                      <a:ext cx="1021" cy="34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光源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37" name="文本框 36"/>
                  <p:cNvSpPr txBox="1"/>
                  <p:nvPr/>
                </p:nvSpPr>
                <p:spPr bwMode="auto">
                  <a:xfrm rot="5400000">
                    <a:off x="3119052" y="3961137"/>
                    <a:ext cx="1840148" cy="4549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>
                    <a:defPPr>
                      <a:defRPr lang="zh-CN"/>
                    </a:defPPr>
                    <a:lvl1pPr marR="0" lvl="0" indent="0" fontAlgn="base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 kumimoji="0" sz="1200" b="0" i="0" u="none" strike="noStrike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>
                      <a:defRPr>
                        <a:solidFill>
                          <a:schemeClr val="dk1"/>
                        </a:solidFill>
                      </a:defRPr>
                    </a:lvl2pPr>
                    <a:lvl3pPr>
                      <a:defRPr>
                        <a:solidFill>
                          <a:schemeClr val="dk1"/>
                        </a:solidFill>
                      </a:defRPr>
                    </a:lvl3pPr>
                    <a:lvl4pPr>
                      <a:defRPr>
                        <a:solidFill>
                          <a:schemeClr val="dk1"/>
                        </a:solidFill>
                      </a:defRPr>
                    </a:lvl4pPr>
                    <a:lvl5pPr>
                      <a:defRPr>
                        <a:solidFill>
                          <a:schemeClr val="dk1"/>
                        </a:solidFill>
                      </a:defRPr>
                    </a:lvl5pPr>
                    <a:lvl6pPr>
                      <a:defRPr>
                        <a:solidFill>
                          <a:schemeClr val="dk1"/>
                        </a:solidFill>
                      </a:defRPr>
                    </a:lvl6pPr>
                    <a:lvl7pPr>
                      <a:defRPr>
                        <a:solidFill>
                          <a:schemeClr val="dk1"/>
                        </a:solidFill>
                      </a:defRPr>
                    </a:lvl7pPr>
                    <a:lvl8pPr>
                      <a:defRPr>
                        <a:solidFill>
                          <a:schemeClr val="dk1"/>
                        </a:solidFill>
                      </a:defRPr>
                    </a:lvl8pPr>
                    <a:lvl9pPr>
                      <a:defRPr>
                        <a:solidFill>
                          <a:schemeClr val="dk1"/>
                        </a:solidFill>
                      </a:defRPr>
                    </a:lvl9pPr>
                  </a:lstStyle>
                  <a:p>
                    <a:pPr marL="0" marR="0" lvl="0" indent="0" algn="l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lang="en-US" altLang="zh-CN" sz="1000" dirty="0">
                        <a:solidFill>
                          <a:srgbClr val="0D0D0D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rPr>
                      <a:t>265±10mm</a:t>
                    </a:r>
                    <a:endPara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D0D0D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+mn-ea"/>
                    </a:endParaRPr>
                  </a:p>
                </p:txBody>
              </p:sp>
              <p:cxnSp>
                <p:nvCxnSpPr>
                  <p:cNvPr id="38" name="AutoShape 9"/>
                  <p:cNvCxnSpPr/>
                  <p:nvPr/>
                </p:nvCxnSpPr>
                <p:spPr>
                  <a:xfrm flipV="1">
                    <a:off x="3798579" y="2924331"/>
                    <a:ext cx="0" cy="2091442"/>
                  </a:xfrm>
                  <a:prstGeom prst="straightConnector1">
                    <a:avLst/>
                  </a:prstGeom>
                  <a:ln w="9525" cap="flat" cmpd="sng">
                    <a:solidFill>
                      <a:srgbClr val="035CDF"/>
                    </a:solidFill>
                    <a:prstDash val="solid"/>
                    <a:headEnd type="stealth" w="med" len="med"/>
                    <a:tailEnd type="stealth" w="med" len="med"/>
                  </a:ln>
                </p:spPr>
              </p:cxnSp>
              <p:grpSp>
                <p:nvGrpSpPr>
                  <p:cNvPr id="39" name="组合 27"/>
                  <p:cNvGrpSpPr/>
                  <p:nvPr/>
                </p:nvGrpSpPr>
                <p:grpSpPr>
                  <a:xfrm flipH="1">
                    <a:off x="996950" y="1439863"/>
                    <a:ext cx="2198439" cy="788841"/>
                    <a:chOff x="12654" y="5337"/>
                    <a:chExt cx="3127" cy="1243"/>
                  </a:xfrm>
                </p:grpSpPr>
                <p:sp>
                  <p:nvSpPr>
                    <p:cNvPr id="22" name="矩形 8"/>
                    <p:cNvSpPr/>
                    <p:nvPr/>
                  </p:nvSpPr>
                  <p:spPr>
                    <a:xfrm flipH="1" flipV="1">
                      <a:off x="12654" y="5485"/>
                      <a:ext cx="2141" cy="1095"/>
                    </a:xfrm>
                    <a:custGeom>
                      <a:avLst/>
                      <a:gdLst>
                        <a:gd name="connsiteX0" fmla="*/ 0 w 854003"/>
                        <a:gd name="connsiteY0" fmla="*/ 0 h 854003"/>
                        <a:gd name="connsiteX1" fmla="*/ 854003 w 854003"/>
                        <a:gd name="connsiteY1" fmla="*/ 0 h 854003"/>
                        <a:gd name="connsiteX2" fmla="*/ 854003 w 854003"/>
                        <a:gd name="connsiteY2" fmla="*/ 854003 h 854003"/>
                        <a:gd name="connsiteX3" fmla="*/ 0 w 854003"/>
                        <a:gd name="connsiteY3" fmla="*/ 854003 h 854003"/>
                        <a:gd name="connsiteX4" fmla="*/ 0 w 854003"/>
                        <a:gd name="connsiteY4" fmla="*/ 0 h 854003"/>
                        <a:gd name="connsiteX0-1" fmla="*/ 0 w 854003"/>
                        <a:gd name="connsiteY0-2" fmla="*/ 0 h 854003"/>
                        <a:gd name="connsiteX1-3" fmla="*/ 854003 w 854003"/>
                        <a:gd name="connsiteY1-4" fmla="*/ 0 h 854003"/>
                        <a:gd name="connsiteX2-5" fmla="*/ 854003 w 854003"/>
                        <a:gd name="connsiteY2-6" fmla="*/ 854003 h 854003"/>
                        <a:gd name="connsiteX3-7" fmla="*/ 0 w 854003"/>
                        <a:gd name="connsiteY3-8" fmla="*/ 854003 h 854003"/>
                        <a:gd name="connsiteX4-9" fmla="*/ 91440 w 854003"/>
                        <a:gd name="connsiteY4-10" fmla="*/ 91440 h 854003"/>
                        <a:gd name="connsiteX0-11" fmla="*/ 854003 w 854003"/>
                        <a:gd name="connsiteY0-12" fmla="*/ 0 h 854003"/>
                        <a:gd name="connsiteX1-13" fmla="*/ 854003 w 854003"/>
                        <a:gd name="connsiteY1-14" fmla="*/ 854003 h 854003"/>
                        <a:gd name="connsiteX2-15" fmla="*/ 0 w 854003"/>
                        <a:gd name="connsiteY2-16" fmla="*/ 854003 h 854003"/>
                        <a:gd name="connsiteX3-17" fmla="*/ 91440 w 854003"/>
                        <a:gd name="connsiteY3-18" fmla="*/ 91440 h 854003"/>
                        <a:gd name="connsiteX0-19" fmla="*/ 854003 w 854003"/>
                        <a:gd name="connsiteY0-20" fmla="*/ 0 h 854003"/>
                        <a:gd name="connsiteX1-21" fmla="*/ 854003 w 854003"/>
                        <a:gd name="connsiteY1-22" fmla="*/ 854003 h 854003"/>
                        <a:gd name="connsiteX2-23" fmla="*/ 0 w 854003"/>
                        <a:gd name="connsiteY2-24" fmla="*/ 854003 h 854003"/>
                        <a:gd name="connsiteX0-25" fmla="*/ 1019595 w 1019595"/>
                        <a:gd name="connsiteY0-26" fmla="*/ 0 h 72953"/>
                        <a:gd name="connsiteX1-27" fmla="*/ 854003 w 1019595"/>
                        <a:gd name="connsiteY1-28" fmla="*/ 72953 h 72953"/>
                        <a:gd name="connsiteX2-29" fmla="*/ 0 w 1019595"/>
                        <a:gd name="connsiteY2-30" fmla="*/ 72953 h 72953"/>
                        <a:gd name="connsiteX0-31" fmla="*/ 1049223 w 1049223"/>
                        <a:gd name="connsiteY0-32" fmla="*/ 0 h 306315"/>
                        <a:gd name="connsiteX1-33" fmla="*/ 854003 w 1049223"/>
                        <a:gd name="connsiteY1-34" fmla="*/ 306315 h 306315"/>
                        <a:gd name="connsiteX2-35" fmla="*/ 0 w 1049223"/>
                        <a:gd name="connsiteY2-36" fmla="*/ 306315 h 306315"/>
                        <a:gd name="connsiteX0-37" fmla="*/ 1054161 w 1054161"/>
                        <a:gd name="connsiteY0-38" fmla="*/ 0 h 325365"/>
                        <a:gd name="connsiteX1-39" fmla="*/ 854003 w 1054161"/>
                        <a:gd name="connsiteY1-40" fmla="*/ 325365 h 325365"/>
                        <a:gd name="connsiteX2-41" fmla="*/ 0 w 1054161"/>
                        <a:gd name="connsiteY2-42" fmla="*/ 325365 h 325365"/>
                        <a:gd name="connsiteX0-43" fmla="*/ 1038427 w 1038427"/>
                        <a:gd name="connsiteY0-44" fmla="*/ 0 h 302685"/>
                        <a:gd name="connsiteX1-45" fmla="*/ 854003 w 1038427"/>
                        <a:gd name="connsiteY1-46" fmla="*/ 302685 h 302685"/>
                        <a:gd name="connsiteX2-47" fmla="*/ 0 w 1038427"/>
                        <a:gd name="connsiteY2-48" fmla="*/ 302685 h 302685"/>
                        <a:gd name="connsiteX0-49" fmla="*/ 736399 w 736399"/>
                        <a:gd name="connsiteY0-50" fmla="*/ 0 h 302685"/>
                        <a:gd name="connsiteX1-51" fmla="*/ 551975 w 736399"/>
                        <a:gd name="connsiteY1-52" fmla="*/ 302685 h 302685"/>
                        <a:gd name="connsiteX2-53" fmla="*/ 0 w 736399"/>
                        <a:gd name="connsiteY2-54" fmla="*/ 301872 h 302685"/>
                        <a:gd name="connsiteX0-55" fmla="*/ 687641 w 687641"/>
                        <a:gd name="connsiteY0-56" fmla="*/ 0 h 220527"/>
                        <a:gd name="connsiteX1-57" fmla="*/ 551975 w 687641"/>
                        <a:gd name="connsiteY1-58" fmla="*/ 220527 h 220527"/>
                        <a:gd name="connsiteX2-59" fmla="*/ 0 w 687641"/>
                        <a:gd name="connsiteY2-60" fmla="*/ 219714 h 220527"/>
                        <a:gd name="connsiteX0-61" fmla="*/ 747234 w 747234"/>
                        <a:gd name="connsiteY0-62" fmla="*/ 0 h 220527"/>
                        <a:gd name="connsiteX1-63" fmla="*/ 611568 w 747234"/>
                        <a:gd name="connsiteY1-64" fmla="*/ 220527 h 220527"/>
                        <a:gd name="connsiteX2-65" fmla="*/ 0 w 747234"/>
                        <a:gd name="connsiteY2-66" fmla="*/ 219714 h 220527"/>
                        <a:gd name="connsiteX0-67" fmla="*/ 548547 w 548547"/>
                        <a:gd name="connsiteY0-68" fmla="*/ 0 h 220528"/>
                        <a:gd name="connsiteX1-69" fmla="*/ 412881 w 548547"/>
                        <a:gd name="connsiteY1-70" fmla="*/ 220527 h 220528"/>
                        <a:gd name="connsiteX2-71" fmla="*/ 0 w 548547"/>
                        <a:gd name="connsiteY2-72" fmla="*/ 220528 h 220528"/>
                        <a:gd name="connsiteX0-73" fmla="*/ 657109 w 657109"/>
                        <a:gd name="connsiteY0-74" fmla="*/ 0 h 52144"/>
                        <a:gd name="connsiteX1-75" fmla="*/ 412881 w 657109"/>
                        <a:gd name="connsiteY1-76" fmla="*/ 52143 h 52144"/>
                        <a:gd name="connsiteX2-77" fmla="*/ 0 w 657109"/>
                        <a:gd name="connsiteY2-78" fmla="*/ 52144 h 52144"/>
                        <a:gd name="connsiteX0-79" fmla="*/ 663254 w 663254"/>
                        <a:gd name="connsiteY0-80" fmla="*/ 0 h 52144"/>
                        <a:gd name="connsiteX1-81" fmla="*/ 419026 w 663254"/>
                        <a:gd name="connsiteY1-82" fmla="*/ 52143 h 52144"/>
                        <a:gd name="connsiteX2-83" fmla="*/ 0 w 663254"/>
                        <a:gd name="connsiteY2-84" fmla="*/ 52144 h 52144"/>
                        <a:gd name="connsiteX0-85" fmla="*/ 630481 w 630481"/>
                        <a:gd name="connsiteY0-86" fmla="*/ 0 h 253879"/>
                        <a:gd name="connsiteX1-87" fmla="*/ 419026 w 630481"/>
                        <a:gd name="connsiteY1-88" fmla="*/ 253878 h 253879"/>
                        <a:gd name="connsiteX2-89" fmla="*/ 0 w 630481"/>
                        <a:gd name="connsiteY2-90" fmla="*/ 253879 h 253879"/>
                        <a:gd name="connsiteX0-91" fmla="*/ 663254 w 663254"/>
                        <a:gd name="connsiteY0-92" fmla="*/ 0 h 297263"/>
                        <a:gd name="connsiteX1-93" fmla="*/ 419026 w 663254"/>
                        <a:gd name="connsiteY1-94" fmla="*/ 297262 h 297263"/>
                        <a:gd name="connsiteX2-95" fmla="*/ 0 w 663254"/>
                        <a:gd name="connsiteY2-96" fmla="*/ 297263 h 297263"/>
                        <a:gd name="connsiteX0-97" fmla="*/ 581321 w 581321"/>
                        <a:gd name="connsiteY0-98" fmla="*/ 0 h 300517"/>
                        <a:gd name="connsiteX1-99" fmla="*/ 419026 w 581321"/>
                        <a:gd name="connsiteY1-100" fmla="*/ 300516 h 300517"/>
                        <a:gd name="connsiteX2-101" fmla="*/ 0 w 581321"/>
                        <a:gd name="connsiteY2-102" fmla="*/ 300517 h 300517"/>
                        <a:gd name="connsiteX0-103" fmla="*/ 581321 w 581321"/>
                        <a:gd name="connsiteY0-104" fmla="*/ 0 h 300517"/>
                        <a:gd name="connsiteX1-105" fmla="*/ 386252 w 581321"/>
                        <a:gd name="connsiteY1-106" fmla="*/ 300516 h 300517"/>
                        <a:gd name="connsiteX2-107" fmla="*/ 0 w 581321"/>
                        <a:gd name="connsiteY2-108" fmla="*/ 300517 h 300517"/>
                        <a:gd name="connsiteX0-109" fmla="*/ 646867 w 646867"/>
                        <a:gd name="connsiteY0-110" fmla="*/ 0 h 385116"/>
                        <a:gd name="connsiteX1-111" fmla="*/ 386252 w 646867"/>
                        <a:gd name="connsiteY1-112" fmla="*/ 385115 h 385116"/>
                        <a:gd name="connsiteX2-113" fmla="*/ 0 w 646867"/>
                        <a:gd name="connsiteY2-114" fmla="*/ 385116 h 38511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646867" h="385116">
                          <a:moveTo>
                            <a:pt x="646867" y="0"/>
                          </a:moveTo>
                          <a:lnTo>
                            <a:pt x="386252" y="385115"/>
                          </a:lnTo>
                          <a:lnTo>
                            <a:pt x="0" y="385116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23" name="矩形 76"/>
                    <p:cNvSpPr/>
                    <p:nvPr/>
                  </p:nvSpPr>
                  <p:spPr>
                    <a:xfrm>
                      <a:off x="14760" y="5337"/>
                      <a:ext cx="1021" cy="34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相机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1" name="组合 37"/>
                  <p:cNvGrpSpPr/>
                  <p:nvPr/>
                </p:nvGrpSpPr>
                <p:grpSpPr>
                  <a:xfrm flipH="1">
                    <a:off x="1125523" y="2027129"/>
                    <a:ext cx="2069866" cy="725353"/>
                    <a:chOff x="12655" y="5333"/>
                    <a:chExt cx="2942" cy="1142"/>
                  </a:xfrm>
                </p:grpSpPr>
                <p:sp>
                  <p:nvSpPr>
                    <p:cNvPr id="51" name="矩形 8"/>
                    <p:cNvSpPr/>
                    <p:nvPr/>
                  </p:nvSpPr>
                  <p:spPr>
                    <a:xfrm flipH="1" flipV="1">
                      <a:off x="12655" y="5513"/>
                      <a:ext cx="2042" cy="962"/>
                    </a:xfrm>
                    <a:custGeom>
                      <a:avLst/>
                      <a:gdLst>
                        <a:gd name="connsiteX0" fmla="*/ 0 w 854003"/>
                        <a:gd name="connsiteY0" fmla="*/ 0 h 854003"/>
                        <a:gd name="connsiteX1" fmla="*/ 854003 w 854003"/>
                        <a:gd name="connsiteY1" fmla="*/ 0 h 854003"/>
                        <a:gd name="connsiteX2" fmla="*/ 854003 w 854003"/>
                        <a:gd name="connsiteY2" fmla="*/ 854003 h 854003"/>
                        <a:gd name="connsiteX3" fmla="*/ 0 w 854003"/>
                        <a:gd name="connsiteY3" fmla="*/ 854003 h 854003"/>
                        <a:gd name="connsiteX4" fmla="*/ 0 w 854003"/>
                        <a:gd name="connsiteY4" fmla="*/ 0 h 854003"/>
                        <a:gd name="connsiteX0-1" fmla="*/ 0 w 854003"/>
                        <a:gd name="connsiteY0-2" fmla="*/ 0 h 854003"/>
                        <a:gd name="connsiteX1-3" fmla="*/ 854003 w 854003"/>
                        <a:gd name="connsiteY1-4" fmla="*/ 0 h 854003"/>
                        <a:gd name="connsiteX2-5" fmla="*/ 854003 w 854003"/>
                        <a:gd name="connsiteY2-6" fmla="*/ 854003 h 854003"/>
                        <a:gd name="connsiteX3-7" fmla="*/ 0 w 854003"/>
                        <a:gd name="connsiteY3-8" fmla="*/ 854003 h 854003"/>
                        <a:gd name="connsiteX4-9" fmla="*/ 91440 w 854003"/>
                        <a:gd name="connsiteY4-10" fmla="*/ 91440 h 854003"/>
                        <a:gd name="connsiteX0-11" fmla="*/ 854003 w 854003"/>
                        <a:gd name="connsiteY0-12" fmla="*/ 0 h 854003"/>
                        <a:gd name="connsiteX1-13" fmla="*/ 854003 w 854003"/>
                        <a:gd name="connsiteY1-14" fmla="*/ 854003 h 854003"/>
                        <a:gd name="connsiteX2-15" fmla="*/ 0 w 854003"/>
                        <a:gd name="connsiteY2-16" fmla="*/ 854003 h 854003"/>
                        <a:gd name="connsiteX3-17" fmla="*/ 91440 w 854003"/>
                        <a:gd name="connsiteY3-18" fmla="*/ 91440 h 854003"/>
                        <a:gd name="connsiteX0-19" fmla="*/ 854003 w 854003"/>
                        <a:gd name="connsiteY0-20" fmla="*/ 0 h 854003"/>
                        <a:gd name="connsiteX1-21" fmla="*/ 854003 w 854003"/>
                        <a:gd name="connsiteY1-22" fmla="*/ 854003 h 854003"/>
                        <a:gd name="connsiteX2-23" fmla="*/ 0 w 854003"/>
                        <a:gd name="connsiteY2-24" fmla="*/ 854003 h 854003"/>
                        <a:gd name="connsiteX0-25" fmla="*/ 1019595 w 1019595"/>
                        <a:gd name="connsiteY0-26" fmla="*/ 0 h 72953"/>
                        <a:gd name="connsiteX1-27" fmla="*/ 854003 w 1019595"/>
                        <a:gd name="connsiteY1-28" fmla="*/ 72953 h 72953"/>
                        <a:gd name="connsiteX2-29" fmla="*/ 0 w 1019595"/>
                        <a:gd name="connsiteY2-30" fmla="*/ 72953 h 72953"/>
                        <a:gd name="connsiteX0-31" fmla="*/ 1049223 w 1049223"/>
                        <a:gd name="connsiteY0-32" fmla="*/ 0 h 306315"/>
                        <a:gd name="connsiteX1-33" fmla="*/ 854003 w 1049223"/>
                        <a:gd name="connsiteY1-34" fmla="*/ 306315 h 306315"/>
                        <a:gd name="connsiteX2-35" fmla="*/ 0 w 1049223"/>
                        <a:gd name="connsiteY2-36" fmla="*/ 306315 h 306315"/>
                        <a:gd name="connsiteX0-37" fmla="*/ 1054161 w 1054161"/>
                        <a:gd name="connsiteY0-38" fmla="*/ 0 h 325365"/>
                        <a:gd name="connsiteX1-39" fmla="*/ 854003 w 1054161"/>
                        <a:gd name="connsiteY1-40" fmla="*/ 325365 h 325365"/>
                        <a:gd name="connsiteX2-41" fmla="*/ 0 w 1054161"/>
                        <a:gd name="connsiteY2-42" fmla="*/ 325365 h 325365"/>
                        <a:gd name="connsiteX0-43" fmla="*/ 1038427 w 1038427"/>
                        <a:gd name="connsiteY0-44" fmla="*/ 0 h 302685"/>
                        <a:gd name="connsiteX1-45" fmla="*/ 854003 w 1038427"/>
                        <a:gd name="connsiteY1-46" fmla="*/ 302685 h 302685"/>
                        <a:gd name="connsiteX2-47" fmla="*/ 0 w 1038427"/>
                        <a:gd name="connsiteY2-48" fmla="*/ 302685 h 302685"/>
                        <a:gd name="connsiteX0-49" fmla="*/ 736399 w 736399"/>
                        <a:gd name="connsiteY0-50" fmla="*/ 0 h 302685"/>
                        <a:gd name="connsiteX1-51" fmla="*/ 551975 w 736399"/>
                        <a:gd name="connsiteY1-52" fmla="*/ 302685 h 302685"/>
                        <a:gd name="connsiteX2-53" fmla="*/ 0 w 736399"/>
                        <a:gd name="connsiteY2-54" fmla="*/ 301872 h 302685"/>
                        <a:gd name="connsiteX0-55" fmla="*/ 687641 w 687641"/>
                        <a:gd name="connsiteY0-56" fmla="*/ 0 h 220527"/>
                        <a:gd name="connsiteX1-57" fmla="*/ 551975 w 687641"/>
                        <a:gd name="connsiteY1-58" fmla="*/ 220527 h 220527"/>
                        <a:gd name="connsiteX2-59" fmla="*/ 0 w 687641"/>
                        <a:gd name="connsiteY2-60" fmla="*/ 219714 h 220527"/>
                        <a:gd name="connsiteX0-61" fmla="*/ 747234 w 747234"/>
                        <a:gd name="connsiteY0-62" fmla="*/ 0 h 220527"/>
                        <a:gd name="connsiteX1-63" fmla="*/ 611568 w 747234"/>
                        <a:gd name="connsiteY1-64" fmla="*/ 220527 h 220527"/>
                        <a:gd name="connsiteX2-65" fmla="*/ 0 w 747234"/>
                        <a:gd name="connsiteY2-66" fmla="*/ 219714 h 220527"/>
                        <a:gd name="connsiteX0-67" fmla="*/ 548547 w 548547"/>
                        <a:gd name="connsiteY0-68" fmla="*/ 0 h 220528"/>
                        <a:gd name="connsiteX1-69" fmla="*/ 412881 w 548547"/>
                        <a:gd name="connsiteY1-70" fmla="*/ 220527 h 220528"/>
                        <a:gd name="connsiteX2-71" fmla="*/ 0 w 548547"/>
                        <a:gd name="connsiteY2-72" fmla="*/ 220528 h 220528"/>
                        <a:gd name="connsiteX0-73" fmla="*/ 657109 w 657109"/>
                        <a:gd name="connsiteY0-74" fmla="*/ 0 h 52144"/>
                        <a:gd name="connsiteX1-75" fmla="*/ 412881 w 657109"/>
                        <a:gd name="connsiteY1-76" fmla="*/ 52143 h 52144"/>
                        <a:gd name="connsiteX2-77" fmla="*/ 0 w 657109"/>
                        <a:gd name="connsiteY2-78" fmla="*/ 52144 h 52144"/>
                        <a:gd name="connsiteX0-79" fmla="*/ 663254 w 663254"/>
                        <a:gd name="connsiteY0-80" fmla="*/ 0 h 52144"/>
                        <a:gd name="connsiteX1-81" fmla="*/ 419026 w 663254"/>
                        <a:gd name="connsiteY1-82" fmla="*/ 52143 h 52144"/>
                        <a:gd name="connsiteX2-83" fmla="*/ 0 w 663254"/>
                        <a:gd name="connsiteY2-84" fmla="*/ 52144 h 52144"/>
                        <a:gd name="connsiteX0-85" fmla="*/ 630481 w 630481"/>
                        <a:gd name="connsiteY0-86" fmla="*/ 0 h 253879"/>
                        <a:gd name="connsiteX1-87" fmla="*/ 419026 w 630481"/>
                        <a:gd name="connsiteY1-88" fmla="*/ 253878 h 253879"/>
                        <a:gd name="connsiteX2-89" fmla="*/ 0 w 630481"/>
                        <a:gd name="connsiteY2-90" fmla="*/ 253879 h 253879"/>
                        <a:gd name="connsiteX0-91" fmla="*/ 663254 w 663254"/>
                        <a:gd name="connsiteY0-92" fmla="*/ 0 h 297263"/>
                        <a:gd name="connsiteX1-93" fmla="*/ 419026 w 663254"/>
                        <a:gd name="connsiteY1-94" fmla="*/ 297262 h 297263"/>
                        <a:gd name="connsiteX2-95" fmla="*/ 0 w 663254"/>
                        <a:gd name="connsiteY2-96" fmla="*/ 297263 h 297263"/>
                        <a:gd name="connsiteX0-97" fmla="*/ 581321 w 581321"/>
                        <a:gd name="connsiteY0-98" fmla="*/ 0 h 300517"/>
                        <a:gd name="connsiteX1-99" fmla="*/ 419026 w 581321"/>
                        <a:gd name="connsiteY1-100" fmla="*/ 300516 h 300517"/>
                        <a:gd name="connsiteX2-101" fmla="*/ 0 w 581321"/>
                        <a:gd name="connsiteY2-102" fmla="*/ 300517 h 300517"/>
                        <a:gd name="connsiteX0-103" fmla="*/ 581321 w 581321"/>
                        <a:gd name="connsiteY0-104" fmla="*/ 0 h 300517"/>
                        <a:gd name="connsiteX1-105" fmla="*/ 386252 w 581321"/>
                        <a:gd name="connsiteY1-106" fmla="*/ 300516 h 300517"/>
                        <a:gd name="connsiteX2-107" fmla="*/ 0 w 581321"/>
                        <a:gd name="connsiteY2-108" fmla="*/ 300517 h 300517"/>
                        <a:gd name="connsiteX0-109" fmla="*/ 646867 w 646867"/>
                        <a:gd name="connsiteY0-110" fmla="*/ 0 h 385116"/>
                        <a:gd name="connsiteX1-111" fmla="*/ 386252 w 646867"/>
                        <a:gd name="connsiteY1-112" fmla="*/ 385115 h 385116"/>
                        <a:gd name="connsiteX2-113" fmla="*/ 0 w 646867"/>
                        <a:gd name="connsiteY2-114" fmla="*/ 385116 h 38511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646867" h="385116">
                          <a:moveTo>
                            <a:pt x="646867" y="0"/>
                          </a:moveTo>
                          <a:lnTo>
                            <a:pt x="386252" y="385115"/>
                          </a:lnTo>
                          <a:lnTo>
                            <a:pt x="0" y="385116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52" name="矩形 76"/>
                    <p:cNvSpPr/>
                    <p:nvPr/>
                  </p:nvSpPr>
                  <p:spPr>
                    <a:xfrm>
                      <a:off x="14575" y="5333"/>
                      <a:ext cx="1022" cy="34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镜头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pic>
                <p:nvPicPr>
                  <p:cNvPr id="53" name="图片 41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 rot="85065">
                    <a:off x="3025473" y="1974838"/>
                    <a:ext cx="523075" cy="87208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54" name="Line 7"/>
                  <p:cNvSpPr/>
                  <p:nvPr/>
                </p:nvSpPr>
                <p:spPr>
                  <a:xfrm>
                    <a:off x="2001001" y="4671384"/>
                    <a:ext cx="807788" cy="0"/>
                  </a:xfrm>
                  <a:prstGeom prst="line">
                    <a:avLst/>
                  </a:prstGeom>
                  <a:ln w="9525" cap="flat" cmpd="sng">
                    <a:solidFill>
                      <a:srgbClr val="035CD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cxnSp>
                <p:nvCxnSpPr>
                  <p:cNvPr id="55" name="AutoShape 9"/>
                  <p:cNvCxnSpPr/>
                  <p:nvPr/>
                </p:nvCxnSpPr>
                <p:spPr>
                  <a:xfrm flipV="1">
                    <a:off x="2533112" y="4669679"/>
                    <a:ext cx="7937" cy="304744"/>
                  </a:xfrm>
                  <a:prstGeom prst="straightConnector1">
                    <a:avLst/>
                  </a:prstGeom>
                  <a:ln w="9525" cap="flat" cmpd="sng">
                    <a:solidFill>
                      <a:srgbClr val="035CDF"/>
                    </a:solidFill>
                    <a:prstDash val="solid"/>
                    <a:headEnd type="stealth" w="med" len="med"/>
                    <a:tailEnd type="stealth" w="med" len="med"/>
                  </a:ln>
                </p:spPr>
              </p:cxnSp>
              <p:sp>
                <p:nvSpPr>
                  <p:cNvPr id="56" name="文本框 55"/>
                  <p:cNvSpPr txBox="1"/>
                  <p:nvPr/>
                </p:nvSpPr>
                <p:spPr bwMode="auto">
                  <a:xfrm>
                    <a:off x="1368426" y="4693743"/>
                    <a:ext cx="1598002" cy="4141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>
                    <a:defPPr>
                      <a:defRPr lang="zh-CN"/>
                    </a:defPPr>
                    <a:lvl1pPr marR="0" lvl="0" indent="0" fontAlgn="base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 kumimoji="0" sz="1200" b="0" i="0" u="none" strike="noStrike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defRPr>
                    </a:lvl1pPr>
                    <a:lvl2pPr>
                      <a:defRPr>
                        <a:solidFill>
                          <a:schemeClr val="dk1"/>
                        </a:solidFill>
                      </a:defRPr>
                    </a:lvl2pPr>
                    <a:lvl3pPr>
                      <a:defRPr>
                        <a:solidFill>
                          <a:schemeClr val="dk1"/>
                        </a:solidFill>
                      </a:defRPr>
                    </a:lvl3pPr>
                    <a:lvl4pPr>
                      <a:defRPr>
                        <a:solidFill>
                          <a:schemeClr val="dk1"/>
                        </a:solidFill>
                      </a:defRPr>
                    </a:lvl4pPr>
                    <a:lvl5pPr>
                      <a:defRPr>
                        <a:solidFill>
                          <a:schemeClr val="dk1"/>
                        </a:solidFill>
                      </a:defRPr>
                    </a:lvl5pPr>
                    <a:lvl6pPr>
                      <a:defRPr>
                        <a:solidFill>
                          <a:schemeClr val="dk1"/>
                        </a:solidFill>
                      </a:defRPr>
                    </a:lvl6pPr>
                    <a:lvl7pPr>
                      <a:defRPr>
                        <a:solidFill>
                          <a:schemeClr val="dk1"/>
                        </a:solidFill>
                      </a:defRPr>
                    </a:lvl7pPr>
                    <a:lvl8pPr>
                      <a:defRPr>
                        <a:solidFill>
                          <a:schemeClr val="dk1"/>
                        </a:solidFill>
                      </a:defRPr>
                    </a:lvl8pPr>
                    <a:lvl9pPr>
                      <a:defRPr>
                        <a:solidFill>
                          <a:schemeClr val="dk1"/>
                        </a:solidFill>
                      </a:defRPr>
                    </a:lvl9pPr>
                  </a:lstStyle>
                  <a:p>
                    <a:pPr marL="0" marR="0" lvl="0" indent="0" algn="l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30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±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10mm</a:t>
                    </a:r>
                    <a:endPara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  <p:grpSp>
                <p:nvGrpSpPr>
                  <p:cNvPr id="57" name="组合 4"/>
                  <p:cNvGrpSpPr/>
                  <p:nvPr/>
                </p:nvGrpSpPr>
                <p:grpSpPr>
                  <a:xfrm flipH="1">
                    <a:off x="1823520" y="5207885"/>
                    <a:ext cx="1191920" cy="229468"/>
                    <a:chOff x="14382" y="4290"/>
                    <a:chExt cx="1696" cy="362"/>
                  </a:xfrm>
                </p:grpSpPr>
                <p:sp>
                  <p:nvSpPr>
                    <p:cNvPr id="64" name="矩形 8"/>
                    <p:cNvSpPr/>
                    <p:nvPr/>
                  </p:nvSpPr>
                  <p:spPr>
                    <a:xfrm flipH="1">
                      <a:off x="14383" y="4290"/>
                      <a:ext cx="931" cy="183"/>
                    </a:xfrm>
                    <a:custGeom>
                      <a:avLst/>
                      <a:gdLst>
                        <a:gd name="connsiteX0" fmla="*/ 0 w 854003"/>
                        <a:gd name="connsiteY0" fmla="*/ 0 h 854003"/>
                        <a:gd name="connsiteX1" fmla="*/ 854003 w 854003"/>
                        <a:gd name="connsiteY1" fmla="*/ 0 h 854003"/>
                        <a:gd name="connsiteX2" fmla="*/ 854003 w 854003"/>
                        <a:gd name="connsiteY2" fmla="*/ 854003 h 854003"/>
                        <a:gd name="connsiteX3" fmla="*/ 0 w 854003"/>
                        <a:gd name="connsiteY3" fmla="*/ 854003 h 854003"/>
                        <a:gd name="connsiteX4" fmla="*/ 0 w 854003"/>
                        <a:gd name="connsiteY4" fmla="*/ 0 h 854003"/>
                        <a:gd name="connsiteX0-1" fmla="*/ 0 w 854003"/>
                        <a:gd name="connsiteY0-2" fmla="*/ 0 h 854003"/>
                        <a:gd name="connsiteX1-3" fmla="*/ 854003 w 854003"/>
                        <a:gd name="connsiteY1-4" fmla="*/ 0 h 854003"/>
                        <a:gd name="connsiteX2-5" fmla="*/ 854003 w 854003"/>
                        <a:gd name="connsiteY2-6" fmla="*/ 854003 h 854003"/>
                        <a:gd name="connsiteX3-7" fmla="*/ 0 w 854003"/>
                        <a:gd name="connsiteY3-8" fmla="*/ 854003 h 854003"/>
                        <a:gd name="connsiteX4-9" fmla="*/ 91440 w 854003"/>
                        <a:gd name="connsiteY4-10" fmla="*/ 91440 h 854003"/>
                        <a:gd name="connsiteX0-11" fmla="*/ 854003 w 854003"/>
                        <a:gd name="connsiteY0-12" fmla="*/ 0 h 854003"/>
                        <a:gd name="connsiteX1-13" fmla="*/ 854003 w 854003"/>
                        <a:gd name="connsiteY1-14" fmla="*/ 854003 h 854003"/>
                        <a:gd name="connsiteX2-15" fmla="*/ 0 w 854003"/>
                        <a:gd name="connsiteY2-16" fmla="*/ 854003 h 854003"/>
                        <a:gd name="connsiteX3-17" fmla="*/ 91440 w 854003"/>
                        <a:gd name="connsiteY3-18" fmla="*/ 91440 h 854003"/>
                        <a:gd name="connsiteX0-19" fmla="*/ 854003 w 854003"/>
                        <a:gd name="connsiteY0-20" fmla="*/ 0 h 854003"/>
                        <a:gd name="connsiteX1-21" fmla="*/ 854003 w 854003"/>
                        <a:gd name="connsiteY1-22" fmla="*/ 854003 h 854003"/>
                        <a:gd name="connsiteX2-23" fmla="*/ 0 w 854003"/>
                        <a:gd name="connsiteY2-24" fmla="*/ 854003 h 854003"/>
                        <a:gd name="connsiteX0-25" fmla="*/ 1019595 w 1019595"/>
                        <a:gd name="connsiteY0-26" fmla="*/ 0 h 72953"/>
                        <a:gd name="connsiteX1-27" fmla="*/ 854003 w 1019595"/>
                        <a:gd name="connsiteY1-28" fmla="*/ 72953 h 72953"/>
                        <a:gd name="connsiteX2-29" fmla="*/ 0 w 1019595"/>
                        <a:gd name="connsiteY2-30" fmla="*/ 72953 h 72953"/>
                        <a:gd name="connsiteX0-31" fmla="*/ 1049223 w 1049223"/>
                        <a:gd name="connsiteY0-32" fmla="*/ 0 h 306315"/>
                        <a:gd name="connsiteX1-33" fmla="*/ 854003 w 1049223"/>
                        <a:gd name="connsiteY1-34" fmla="*/ 306315 h 306315"/>
                        <a:gd name="connsiteX2-35" fmla="*/ 0 w 1049223"/>
                        <a:gd name="connsiteY2-36" fmla="*/ 306315 h 306315"/>
                        <a:gd name="connsiteX0-37" fmla="*/ 1054161 w 1054161"/>
                        <a:gd name="connsiteY0-38" fmla="*/ 0 h 325365"/>
                        <a:gd name="connsiteX1-39" fmla="*/ 854003 w 1054161"/>
                        <a:gd name="connsiteY1-40" fmla="*/ 325365 h 325365"/>
                        <a:gd name="connsiteX2-41" fmla="*/ 0 w 1054161"/>
                        <a:gd name="connsiteY2-42" fmla="*/ 325365 h 325365"/>
                        <a:gd name="connsiteX0-43" fmla="*/ 1038427 w 1038427"/>
                        <a:gd name="connsiteY0-44" fmla="*/ 0 h 302685"/>
                        <a:gd name="connsiteX1-45" fmla="*/ 854003 w 1038427"/>
                        <a:gd name="connsiteY1-46" fmla="*/ 302685 h 302685"/>
                        <a:gd name="connsiteX2-47" fmla="*/ 0 w 1038427"/>
                        <a:gd name="connsiteY2-48" fmla="*/ 302685 h 302685"/>
                        <a:gd name="connsiteX0-49" fmla="*/ 736399 w 736399"/>
                        <a:gd name="connsiteY0-50" fmla="*/ 0 h 302685"/>
                        <a:gd name="connsiteX1-51" fmla="*/ 551975 w 736399"/>
                        <a:gd name="connsiteY1-52" fmla="*/ 302685 h 302685"/>
                        <a:gd name="connsiteX2-53" fmla="*/ 0 w 736399"/>
                        <a:gd name="connsiteY2-54" fmla="*/ 301872 h 302685"/>
                        <a:gd name="connsiteX0-55" fmla="*/ 687641 w 687641"/>
                        <a:gd name="connsiteY0-56" fmla="*/ 0 h 220527"/>
                        <a:gd name="connsiteX1-57" fmla="*/ 551975 w 687641"/>
                        <a:gd name="connsiteY1-58" fmla="*/ 220527 h 220527"/>
                        <a:gd name="connsiteX2-59" fmla="*/ 0 w 687641"/>
                        <a:gd name="connsiteY2-60" fmla="*/ 219714 h 220527"/>
                        <a:gd name="connsiteX0-61" fmla="*/ 747234 w 747234"/>
                        <a:gd name="connsiteY0-62" fmla="*/ 0 h 220527"/>
                        <a:gd name="connsiteX1-63" fmla="*/ 611568 w 747234"/>
                        <a:gd name="connsiteY1-64" fmla="*/ 220527 h 220527"/>
                        <a:gd name="connsiteX2-65" fmla="*/ 0 w 747234"/>
                        <a:gd name="connsiteY2-66" fmla="*/ 219714 h 220527"/>
                        <a:gd name="connsiteX0-67" fmla="*/ 548547 w 548547"/>
                        <a:gd name="connsiteY0-68" fmla="*/ 0 h 220528"/>
                        <a:gd name="connsiteX1-69" fmla="*/ 412881 w 548547"/>
                        <a:gd name="connsiteY1-70" fmla="*/ 220527 h 220528"/>
                        <a:gd name="connsiteX2-71" fmla="*/ 0 w 548547"/>
                        <a:gd name="connsiteY2-72" fmla="*/ 220528 h 220528"/>
                        <a:gd name="connsiteX0-73" fmla="*/ 657109 w 657109"/>
                        <a:gd name="connsiteY0-74" fmla="*/ 0 h 52144"/>
                        <a:gd name="connsiteX1-75" fmla="*/ 412881 w 657109"/>
                        <a:gd name="connsiteY1-76" fmla="*/ 52143 h 52144"/>
                        <a:gd name="connsiteX2-77" fmla="*/ 0 w 657109"/>
                        <a:gd name="connsiteY2-78" fmla="*/ 52144 h 52144"/>
                        <a:gd name="connsiteX0-79" fmla="*/ 663254 w 663254"/>
                        <a:gd name="connsiteY0-80" fmla="*/ 0 h 52144"/>
                        <a:gd name="connsiteX1-81" fmla="*/ 419026 w 663254"/>
                        <a:gd name="connsiteY1-82" fmla="*/ 52143 h 52144"/>
                        <a:gd name="connsiteX2-83" fmla="*/ 0 w 663254"/>
                        <a:gd name="connsiteY2-84" fmla="*/ 52144 h 52144"/>
                        <a:gd name="connsiteX0-85" fmla="*/ 630481 w 630481"/>
                        <a:gd name="connsiteY0-86" fmla="*/ 0 h 253879"/>
                        <a:gd name="connsiteX1-87" fmla="*/ 419026 w 630481"/>
                        <a:gd name="connsiteY1-88" fmla="*/ 253878 h 253879"/>
                        <a:gd name="connsiteX2-89" fmla="*/ 0 w 630481"/>
                        <a:gd name="connsiteY2-90" fmla="*/ 253879 h 253879"/>
                        <a:gd name="connsiteX0-91" fmla="*/ 663254 w 663254"/>
                        <a:gd name="connsiteY0-92" fmla="*/ 0 h 297263"/>
                        <a:gd name="connsiteX1-93" fmla="*/ 419026 w 663254"/>
                        <a:gd name="connsiteY1-94" fmla="*/ 297262 h 297263"/>
                        <a:gd name="connsiteX2-95" fmla="*/ 0 w 663254"/>
                        <a:gd name="connsiteY2-96" fmla="*/ 297263 h 297263"/>
                        <a:gd name="connsiteX0-97" fmla="*/ 581321 w 581321"/>
                        <a:gd name="connsiteY0-98" fmla="*/ 0 h 300517"/>
                        <a:gd name="connsiteX1-99" fmla="*/ 419026 w 581321"/>
                        <a:gd name="connsiteY1-100" fmla="*/ 300516 h 300517"/>
                        <a:gd name="connsiteX2-101" fmla="*/ 0 w 581321"/>
                        <a:gd name="connsiteY2-102" fmla="*/ 300517 h 300517"/>
                        <a:gd name="connsiteX0-103" fmla="*/ 581321 w 581321"/>
                        <a:gd name="connsiteY0-104" fmla="*/ 0 h 300517"/>
                        <a:gd name="connsiteX1-105" fmla="*/ 386252 w 581321"/>
                        <a:gd name="connsiteY1-106" fmla="*/ 300516 h 300517"/>
                        <a:gd name="connsiteX2-107" fmla="*/ 0 w 581321"/>
                        <a:gd name="connsiteY2-108" fmla="*/ 300517 h 300517"/>
                        <a:gd name="connsiteX0-109" fmla="*/ 646867 w 646867"/>
                        <a:gd name="connsiteY0-110" fmla="*/ 0 h 385116"/>
                        <a:gd name="connsiteX1-111" fmla="*/ 386252 w 646867"/>
                        <a:gd name="connsiteY1-112" fmla="*/ 385115 h 385116"/>
                        <a:gd name="connsiteX2-113" fmla="*/ 0 w 646867"/>
                        <a:gd name="connsiteY2-114" fmla="*/ 385116 h 38511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646867" h="385116">
                          <a:moveTo>
                            <a:pt x="646867" y="0"/>
                          </a:moveTo>
                          <a:lnTo>
                            <a:pt x="386252" y="385115"/>
                          </a:lnTo>
                          <a:lnTo>
                            <a:pt x="0" y="385116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65" name="矩形 76"/>
                    <p:cNvSpPr/>
                    <p:nvPr/>
                  </p:nvSpPr>
                  <p:spPr>
                    <a:xfrm>
                      <a:off x="15056" y="4310"/>
                      <a:ext cx="1021" cy="34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66" name="椭圆 65"/>
                  <p:cNvSpPr/>
                  <p:nvPr/>
                </p:nvSpPr>
                <p:spPr>
                  <a:xfrm>
                    <a:off x="3119438" y="5014368"/>
                    <a:ext cx="377825" cy="387291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67" name="弧形 66"/>
                  <p:cNvSpPr/>
                  <p:nvPr/>
                </p:nvSpPr>
                <p:spPr>
                  <a:xfrm rot="17078738">
                    <a:off x="2759152" y="5155581"/>
                    <a:ext cx="990449" cy="692150"/>
                  </a:xfrm>
                  <a:prstGeom prst="arc">
                    <a:avLst>
                      <a:gd name="adj1" fmla="val 17244973"/>
                      <a:gd name="adj2" fmla="val 3311546"/>
                    </a:avLst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68" name="Line 7"/>
                  <p:cNvSpPr/>
                  <p:nvPr/>
                </p:nvSpPr>
                <p:spPr>
                  <a:xfrm flipV="1">
                    <a:off x="2417904" y="5014863"/>
                    <a:ext cx="1669909" cy="0"/>
                  </a:xfrm>
                  <a:prstGeom prst="line">
                    <a:avLst/>
                  </a:prstGeom>
                  <a:ln w="9525" cap="flat" cmpd="sng">
                    <a:solidFill>
                      <a:srgbClr val="035CD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cxnSp>
                <p:nvCxnSpPr>
                  <p:cNvPr id="58" name="直接连接符 57"/>
                  <p:cNvCxnSpPr/>
                  <p:nvPr/>
                </p:nvCxnSpPr>
                <p:spPr bwMode="auto">
                  <a:xfrm flipH="1">
                    <a:off x="3295650" y="1533511"/>
                    <a:ext cx="0" cy="4196710"/>
                  </a:xfrm>
                  <a:prstGeom prst="line">
                    <a:avLst/>
                  </a:prstGeom>
                  <a:ln w="12700" cmpd="sng">
                    <a:solidFill>
                      <a:srgbClr val="FF0000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9" name="Line 7"/>
                <p:cNvSpPr/>
                <p:nvPr/>
              </p:nvSpPr>
              <p:spPr>
                <a:xfrm>
                  <a:off x="5631" y="4496"/>
                  <a:ext cx="1272" cy="0"/>
                </a:xfrm>
                <a:prstGeom prst="line">
                  <a:avLst/>
                </a:prstGeom>
                <a:ln w="9525" cap="flat" cmpd="sng">
                  <a:solidFill>
                    <a:srgbClr val="035CD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cxnSp>
          <p:nvCxnSpPr>
            <p:cNvPr id="74" name="肘形连接符 73"/>
            <p:cNvCxnSpPr/>
            <p:nvPr/>
          </p:nvCxnSpPr>
          <p:spPr>
            <a:xfrm rot="16200000">
              <a:off x="4936" y="4698"/>
              <a:ext cx="513" cy="530"/>
            </a:xfrm>
            <a:prstGeom prst="bentConnector3">
              <a:avLst>
                <a:gd name="adj1" fmla="val 100315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5" name="矩形 76"/>
            <p:cNvSpPr/>
            <p:nvPr/>
          </p:nvSpPr>
          <p:spPr bwMode="auto">
            <a:xfrm flipH="1">
              <a:off x="5448" y="4424"/>
              <a:ext cx="1746" cy="477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预留</a:t>
              </a:r>
              <a:r>
                <a:rPr kumimoji="0" lang="en-US" altLang="zh-CN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</a:t>
              </a:r>
              <a:r>
                <a:rPr kumimoji="0" lang="en-US" altLang="zh-CN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0mm</a:t>
              </a: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走线空间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76" name="图片 7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125" y="3583940"/>
            <a:ext cx="840740" cy="5105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三 阴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阳极绿胶检测工位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6426" name="文本框 12"/>
          <p:cNvSpPr txBox="1"/>
          <p:nvPr/>
        </p:nvSpPr>
        <p:spPr>
          <a:xfrm>
            <a:off x="255905" y="927742"/>
            <a:ext cx="1854200" cy="30605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过棍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83615" y="1439545"/>
            <a:ext cx="10221595" cy="3717290"/>
            <a:chOff x="2663" y="2430"/>
            <a:chExt cx="16097" cy="5854"/>
          </a:xfrm>
        </p:grpSpPr>
        <p:sp>
          <p:nvSpPr>
            <p:cNvPr id="6145" name="文本框 49"/>
            <p:cNvSpPr txBox="1"/>
            <p:nvPr/>
          </p:nvSpPr>
          <p:spPr>
            <a:xfrm>
              <a:off x="2663" y="6399"/>
              <a:ext cx="16097" cy="18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eaLnBrk="0" hangingPunct="0">
                <a:lnSpc>
                  <a:spcPct val="120000"/>
                </a:lnSpc>
                <a:buFontTx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过棍要求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、红色背景棍，粗糙度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0.4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，过棍采用铝合金，表面处理硬质阳极氧化红色，硬度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HV600-700,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棍面一致性好，无斑点、划痕，受热不褪色（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60℃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、白色刻线长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90mm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，线宽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1.5mm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，误差±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0.02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，刻线边缘不能存在过多毛边，保证刻线边缘一致性（刻线不在极耳那一侧）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、过棍长度设计：相机视野（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220mm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≥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过棍长度＞极片最大幅宽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0" hangingPunct="0">
                <a:lnSpc>
                  <a:spcPct val="120000"/>
                </a:lnSpc>
                <a:buFontTx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、供应商需要提供各项参数表</a:t>
              </a:r>
              <a:endPara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grpSp>
          <p:nvGrpSpPr>
            <p:cNvPr id="6148" name="组合 5"/>
            <p:cNvGrpSpPr/>
            <p:nvPr/>
          </p:nvGrpSpPr>
          <p:grpSpPr>
            <a:xfrm>
              <a:off x="3003" y="2430"/>
              <a:ext cx="8525" cy="3255"/>
              <a:chOff x="3003" y="2430"/>
              <a:chExt cx="8524" cy="3254"/>
            </a:xfrm>
          </p:grpSpPr>
          <p:grpSp>
            <p:nvGrpSpPr>
              <p:cNvPr id="6149" name="组合 50"/>
              <p:cNvGrpSpPr/>
              <p:nvPr/>
            </p:nvGrpSpPr>
            <p:grpSpPr>
              <a:xfrm>
                <a:off x="3003" y="2430"/>
                <a:ext cx="8524" cy="3254"/>
                <a:chOff x="3136" y="2940"/>
                <a:chExt cx="8524" cy="3254"/>
              </a:xfrm>
            </p:grpSpPr>
            <p:grpSp>
              <p:nvGrpSpPr>
                <p:cNvPr id="6150" name="组合 26"/>
                <p:cNvGrpSpPr/>
                <p:nvPr/>
              </p:nvGrpSpPr>
              <p:grpSpPr>
                <a:xfrm>
                  <a:off x="3188" y="2940"/>
                  <a:ext cx="8472" cy="1672"/>
                  <a:chOff x="3229" y="2072"/>
                  <a:chExt cx="6934" cy="2315"/>
                </a:xfrm>
              </p:grpSpPr>
              <p:sp>
                <p:nvSpPr>
                  <p:cNvPr id="2" name="矩形 1"/>
                  <p:cNvSpPr/>
                  <p:nvPr/>
                </p:nvSpPr>
                <p:spPr>
                  <a:xfrm>
                    <a:off x="3229" y="3359"/>
                    <a:ext cx="4433" cy="1028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 fontAlgn="base"/>
                    <a:endParaRPr lang="zh-CN" altLang="en-US" sz="1200" strike="noStrike" noProof="1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6152" name="文本框 25"/>
                  <p:cNvSpPr txBox="1"/>
                  <p:nvPr/>
                </p:nvSpPr>
                <p:spPr>
                  <a:xfrm>
                    <a:off x="8400" y="2072"/>
                    <a:ext cx="1763" cy="91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anchor="t" anchorCtr="0"/>
                  <a:p>
                    <a:r>
                      <a: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刻线长</a:t>
                    </a:r>
                    <a:r>
                      <a: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90mm</a:t>
                    </a:r>
                    <a:r>
                      <a: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，线宽</a:t>
                    </a:r>
                    <a:r>
                      <a:rPr lang="en-US" altLang="zh-CN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1.5mm</a:t>
                    </a:r>
                    <a:endParaRPr lang="en-US" altLang="zh-CN" sz="12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</p:grpSp>
            <p:cxnSp>
              <p:nvCxnSpPr>
                <p:cNvPr id="5" name="直接连接符 4"/>
                <p:cNvCxnSpPr/>
                <p:nvPr/>
              </p:nvCxnSpPr>
              <p:spPr>
                <a:xfrm flipH="1">
                  <a:off x="3186" y="3471"/>
                  <a:ext cx="0" cy="2608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连接符 7"/>
                <p:cNvCxnSpPr/>
                <p:nvPr/>
              </p:nvCxnSpPr>
              <p:spPr>
                <a:xfrm>
                  <a:off x="8607" y="3359"/>
                  <a:ext cx="5" cy="283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直接箭头连接符 12"/>
                <p:cNvCxnSpPr/>
                <p:nvPr/>
              </p:nvCxnSpPr>
              <p:spPr>
                <a:xfrm>
                  <a:off x="3136" y="5513"/>
                  <a:ext cx="5443" cy="0"/>
                </a:xfrm>
                <a:prstGeom prst="straightConnector1">
                  <a:avLst/>
                </a:prstGeom>
                <a:ln>
                  <a:headEnd type="arrow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156" name="文本框 40"/>
                <p:cNvSpPr txBox="1"/>
                <p:nvPr/>
              </p:nvSpPr>
              <p:spPr>
                <a:xfrm>
                  <a:off x="4724" y="5594"/>
                  <a:ext cx="2819" cy="43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 anchor="t" anchorCtr="0">
                  <a:spAutoFit/>
                </a:bodyPr>
                <a:p>
                  <a:r>
                    <a:rPr lang="zh-CN" altLang="en-US" sz="12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相机视野</a:t>
                  </a:r>
                  <a:r>
                    <a:rPr lang="en-US" altLang="zh-CN" sz="12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220</a:t>
                  </a:r>
                  <a:r>
                    <a:rPr lang="en-US" altLang="zh-CN" sz="1200"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mm</a:t>
                  </a:r>
                  <a:endParaRPr lang="en-US" altLang="zh-CN" sz="12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4" name="矩形 13"/>
              <p:cNvSpPr/>
              <p:nvPr/>
            </p:nvSpPr>
            <p:spPr>
              <a:xfrm>
                <a:off x="5677" y="3647"/>
                <a:ext cx="2802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 fontAlgn="base"/>
                <a:endParaRPr lang="zh-CN" altLang="en-US" sz="1200" strike="noStrike" noProof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5" name="肘形连接符 14"/>
              <p:cNvCxnSpPr/>
              <p:nvPr/>
            </p:nvCxnSpPr>
            <p:spPr>
              <a:xfrm flipV="1">
                <a:off x="7899" y="2633"/>
                <a:ext cx="1486" cy="1014"/>
              </a:xfrm>
              <a:prstGeom prst="bentConnector3">
                <a:avLst>
                  <a:gd name="adj1" fmla="val -403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" name="矩形 15"/>
            <p:cNvSpPr/>
            <p:nvPr/>
          </p:nvSpPr>
          <p:spPr>
            <a:xfrm>
              <a:off x="3478" y="3360"/>
              <a:ext cx="2908" cy="74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200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250" y="3585"/>
              <a:ext cx="455" cy="220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 fontAlgn="base"/>
              <a:endParaRPr lang="zh-CN" altLang="en-US" sz="1200" strike="noStrike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3250" y="3018"/>
              <a:ext cx="0" cy="18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368" y="2928"/>
              <a:ext cx="0" cy="18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163" name="文本框 18"/>
            <p:cNvSpPr txBox="1"/>
            <p:nvPr/>
          </p:nvSpPr>
          <p:spPr>
            <a:xfrm>
              <a:off x="3875" y="4265"/>
              <a:ext cx="1670" cy="4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/>
            <a:p>
              <a:r>
                <a: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极片＋极耳</a:t>
              </a:r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3203" y="4265"/>
              <a:ext cx="3175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/>
                <a:gridCol w="6314253"/>
                <a:gridCol w="3136807"/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  <a:endParaRPr lang="zh-CN" altLang="en-US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视觉需求：检测对齐度，入料打折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极片兼容尺寸：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极片宽度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≤160mm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，极耳高度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10-40mm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；极片长度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400~3000 mm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lang="en-US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0.05</a:t>
                      </a: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，单像素精度</a:t>
                      </a:r>
                      <a:r>
                        <a:rPr lang="en-US" alt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0.1/3=0.03mm/px</a:t>
                      </a:r>
                      <a:endParaRPr sz="1400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en-US" altLang="zh-CN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23888" y="908050"/>
            <a:ext cx="200818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四 卷绕对齐度及入料打折检测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975" y="2505075"/>
            <a:ext cx="2656205" cy="25323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63208" y="797099"/>
            <a:ext cx="1619250" cy="30540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硬件选型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41325" y="1176020"/>
          <a:ext cx="11247120" cy="1041400"/>
        </p:xfrm>
        <a:graphic>
          <a:graphicData uri="http://schemas.openxmlformats.org/drawingml/2006/table">
            <a:tbl>
              <a:tblPr/>
              <a:tblGrid>
                <a:gridCol w="1184275"/>
                <a:gridCol w="1170940"/>
                <a:gridCol w="1043214"/>
                <a:gridCol w="1177290"/>
                <a:gridCol w="1202690"/>
                <a:gridCol w="1057679"/>
                <a:gridCol w="1397000"/>
                <a:gridCol w="1520268"/>
                <a:gridCol w="1493764"/>
              </a:tblGrid>
              <a:tr h="33020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*2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设计视野（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像素精度（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mm/px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镜头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工作距离（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前光源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*2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背光源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79120"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MV-CS050-60UM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2448 </a:t>
                      </a: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×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2048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x41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0.02mm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60 fps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FA7510A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502</a:t>
                      </a: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OPT-RSTLA8134-W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OPT-RSTL23738-W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本框 12"/>
          <p:cNvSpPr txBox="1"/>
          <p:nvPr/>
        </p:nvSpPr>
        <p:spPr>
          <a:xfrm>
            <a:off x="263525" y="2290980"/>
            <a:ext cx="1250315" cy="3056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四 卷绕对齐度及入料打折检测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03860" y="3034665"/>
            <a:ext cx="3724275" cy="2258695"/>
            <a:chOff x="519" y="2924"/>
            <a:chExt cx="7041" cy="4007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/>
            <a:srcRect t="8484" b="16968"/>
            <a:stretch>
              <a:fillRect/>
            </a:stretch>
          </p:blipFill>
          <p:spPr>
            <a:xfrm>
              <a:off x="2456" y="4493"/>
              <a:ext cx="3731" cy="1174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/>
          </p:nvGrpSpPr>
          <p:grpSpPr>
            <a:xfrm>
              <a:off x="519" y="2924"/>
              <a:ext cx="7041" cy="4007"/>
              <a:chOff x="343" y="2785"/>
              <a:chExt cx="7678" cy="4314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095" y="2827"/>
                <a:ext cx="6926" cy="4272"/>
                <a:chOff x="301" y="2225"/>
                <a:chExt cx="6926" cy="4272"/>
              </a:xfrm>
            </p:grpSpPr>
            <p:sp>
              <p:nvSpPr>
                <p:cNvPr id="14" name="矩形 8"/>
                <p:cNvSpPr/>
                <p:nvPr/>
              </p:nvSpPr>
              <p:spPr bwMode="auto">
                <a:xfrm rot="10320000">
                  <a:off x="4273" y="2535"/>
                  <a:ext cx="1236" cy="1750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50964 w 650964"/>
                    <a:gd name="connsiteY0-86" fmla="*/ 0 h 208326"/>
                    <a:gd name="connsiteX1-87" fmla="*/ 419026 w 650964"/>
                    <a:gd name="connsiteY1-88" fmla="*/ 208325 h 208326"/>
                    <a:gd name="connsiteX2-89" fmla="*/ 0 w 650964"/>
                    <a:gd name="connsiteY2-90" fmla="*/ 208326 h 208326"/>
                    <a:gd name="connsiteX0-1-1" fmla="*/ 563569 w 563569"/>
                    <a:gd name="connsiteY0-2-2" fmla="*/ 0 h 202903"/>
                    <a:gd name="connsiteX1-3-3" fmla="*/ 419026 w 563569"/>
                    <a:gd name="connsiteY1-4-4" fmla="*/ 202902 h 202903"/>
                    <a:gd name="connsiteX2-5-5" fmla="*/ 0 w 563569"/>
                    <a:gd name="connsiteY2-6-6" fmla="*/ 202903 h 202903"/>
                    <a:gd name="connsiteX0-7" fmla="*/ 592701 w 592701"/>
                    <a:gd name="connsiteY0-8" fmla="*/ 0 h 260748"/>
                    <a:gd name="connsiteX1-9" fmla="*/ 419026 w 592701"/>
                    <a:gd name="connsiteY1-10" fmla="*/ 260747 h 260748"/>
                    <a:gd name="connsiteX2-11" fmla="*/ 0 w 592701"/>
                    <a:gd name="connsiteY2-12" fmla="*/ 260748 h 260748"/>
                  </a:gdLst>
                  <a:ahLst/>
                  <a:cxnLst>
                    <a:cxn ang="0">
                      <a:pos x="connsiteX0-1-1" y="connsiteY0-2-2"/>
                    </a:cxn>
                    <a:cxn ang="0">
                      <a:pos x="connsiteX1-3-3" y="connsiteY1-4-4"/>
                    </a:cxn>
                    <a:cxn ang="0">
                      <a:pos x="connsiteX2-5-5" y="connsiteY2-6-6"/>
                    </a:cxn>
                  </a:cxnLst>
                  <a:rect l="l" t="t" r="r" b="b"/>
                  <a:pathLst>
                    <a:path w="592701" h="260748">
                      <a:moveTo>
                        <a:pt x="592701" y="0"/>
                      </a:moveTo>
                      <a:lnTo>
                        <a:pt x="419026" y="260747"/>
                      </a:lnTo>
                      <a:lnTo>
                        <a:pt x="0" y="260748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13" name="直接连接符 12"/>
                <p:cNvCxnSpPr/>
                <p:nvPr/>
              </p:nvCxnSpPr>
              <p:spPr bwMode="auto">
                <a:xfrm>
                  <a:off x="5865" y="4266"/>
                  <a:ext cx="0" cy="1588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箭头连接符 14"/>
                <p:cNvCxnSpPr/>
                <p:nvPr/>
              </p:nvCxnSpPr>
              <p:spPr bwMode="auto">
                <a:xfrm flipV="1">
                  <a:off x="5291" y="5581"/>
                  <a:ext cx="574" cy="0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headEnd type="stealth" w="med" len="med"/>
                  <a:tailEnd type="stealth" w="med" len="me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矩形 8"/>
                <p:cNvSpPr/>
                <p:nvPr/>
              </p:nvSpPr>
              <p:spPr bwMode="auto">
                <a:xfrm>
                  <a:off x="2812" y="4655"/>
                  <a:ext cx="1236" cy="1750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50964 w 650964"/>
                    <a:gd name="connsiteY0-86" fmla="*/ 0 h 208326"/>
                    <a:gd name="connsiteX1-87" fmla="*/ 419026 w 650964"/>
                    <a:gd name="connsiteY1-88" fmla="*/ 208325 h 208326"/>
                    <a:gd name="connsiteX2-89" fmla="*/ 0 w 650964"/>
                    <a:gd name="connsiteY2-90" fmla="*/ 208326 h 208326"/>
                    <a:gd name="connsiteX0-1-1" fmla="*/ 563569 w 563569"/>
                    <a:gd name="connsiteY0-2-2" fmla="*/ 0 h 202903"/>
                    <a:gd name="connsiteX1-3-3" fmla="*/ 419026 w 563569"/>
                    <a:gd name="connsiteY1-4-4" fmla="*/ 202902 h 202903"/>
                    <a:gd name="connsiteX2-5-5" fmla="*/ 0 w 563569"/>
                    <a:gd name="connsiteY2-6-6" fmla="*/ 202903 h 202903"/>
                    <a:gd name="connsiteX0-7" fmla="*/ 592701 w 592701"/>
                    <a:gd name="connsiteY0-8" fmla="*/ 0 h 260748"/>
                    <a:gd name="connsiteX1-9" fmla="*/ 419026 w 592701"/>
                    <a:gd name="connsiteY1-10" fmla="*/ 260747 h 260748"/>
                    <a:gd name="connsiteX2-11" fmla="*/ 0 w 592701"/>
                    <a:gd name="connsiteY2-12" fmla="*/ 260748 h 260748"/>
                  </a:gdLst>
                  <a:ahLst/>
                  <a:cxnLst>
                    <a:cxn ang="0">
                      <a:pos x="connsiteX0-1-1" y="connsiteY0-2-2"/>
                    </a:cxn>
                    <a:cxn ang="0">
                      <a:pos x="connsiteX1-3-3" y="connsiteY1-4-4"/>
                    </a:cxn>
                    <a:cxn ang="0">
                      <a:pos x="connsiteX2-5-5" y="connsiteY2-6-6"/>
                    </a:cxn>
                  </a:cxnLst>
                  <a:rect l="l" t="t" r="r" b="b"/>
                  <a:pathLst>
                    <a:path w="592701" h="260748">
                      <a:moveTo>
                        <a:pt x="592701" y="0"/>
                      </a:moveTo>
                      <a:lnTo>
                        <a:pt x="419026" y="260747"/>
                      </a:lnTo>
                      <a:lnTo>
                        <a:pt x="0" y="260748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8" name="矩形 76"/>
                <p:cNvSpPr/>
                <p:nvPr/>
              </p:nvSpPr>
              <p:spPr bwMode="auto">
                <a:xfrm flipH="1">
                  <a:off x="1662" y="6107"/>
                  <a:ext cx="1688" cy="3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卷针上极片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9" name="矩形 18"/>
                <p:cNvSpPr/>
                <p:nvPr/>
              </p:nvSpPr>
              <p:spPr bwMode="auto">
                <a:xfrm>
                  <a:off x="2221" y="4634"/>
                  <a:ext cx="3013" cy="8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0" name="矩形 19"/>
                <p:cNvSpPr/>
                <p:nvPr/>
              </p:nvSpPr>
              <p:spPr bwMode="auto">
                <a:xfrm>
                  <a:off x="2229" y="3324"/>
                  <a:ext cx="3014" cy="1317"/>
                </a:xfrm>
                <a:prstGeom prst="rect">
                  <a:avLst/>
                </a:pr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grpSp>
              <p:nvGrpSpPr>
                <p:cNvPr id="21" name="组合 47"/>
                <p:cNvGrpSpPr/>
                <p:nvPr/>
              </p:nvGrpSpPr>
              <p:grpSpPr>
                <a:xfrm rot="0">
                  <a:off x="4879" y="3697"/>
                  <a:ext cx="1812" cy="1307"/>
                  <a:chOff x="4180938" y="3043275"/>
                  <a:chExt cx="1268437" cy="900207"/>
                </a:xfrm>
              </p:grpSpPr>
              <p:sp>
                <p:nvSpPr>
                  <p:cNvPr id="24" name="矩形 8"/>
                  <p:cNvSpPr/>
                  <p:nvPr/>
                </p:nvSpPr>
                <p:spPr>
                  <a:xfrm flipH="1" flipV="1">
                    <a:off x="4181396" y="3114805"/>
                    <a:ext cx="955788" cy="828827"/>
                  </a:xfrm>
                  <a:custGeom>
                    <a:avLst/>
                    <a:gdLst>
                      <a:gd name="connsiteX0" fmla="*/ 1395 w 1395"/>
                      <a:gd name="connsiteY0" fmla="*/ 0 h 3145"/>
                      <a:gd name="connsiteX1" fmla="*/ 707 w 1395"/>
                      <a:gd name="connsiteY1" fmla="*/ 3145 h 3145"/>
                      <a:gd name="connsiteX2" fmla="*/ 0 w 1395"/>
                      <a:gd name="connsiteY2" fmla="*/ 3145 h 3145"/>
                      <a:gd name="connsiteX0-1" fmla="*/ 9140 w 9140"/>
                      <a:gd name="connsiteY0-2" fmla="*/ 0 h 10000"/>
                      <a:gd name="connsiteX1-3" fmla="*/ 5068 w 9140"/>
                      <a:gd name="connsiteY1-4" fmla="*/ 10000 h 10000"/>
                      <a:gd name="connsiteX2-5" fmla="*/ 0 w 9140"/>
                      <a:gd name="connsiteY2-6" fmla="*/ 10000 h 10000"/>
                      <a:gd name="connsiteX0-7" fmla="*/ 10000 w 10000"/>
                      <a:gd name="connsiteY0-8" fmla="*/ 0 h 9322"/>
                      <a:gd name="connsiteX1-9" fmla="*/ 5545 w 10000"/>
                      <a:gd name="connsiteY1-10" fmla="*/ 9322 h 9322"/>
                      <a:gd name="connsiteX2-11" fmla="*/ 0 w 10000"/>
                      <a:gd name="connsiteY2-12" fmla="*/ 9322 h 9322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0000" h="9322">
                        <a:moveTo>
                          <a:pt x="10000" y="0"/>
                        </a:moveTo>
                        <a:lnTo>
                          <a:pt x="5545" y="9322"/>
                        </a:lnTo>
                        <a:lnTo>
                          <a:pt x="0" y="9322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5" name="矩形 76"/>
                  <p:cNvSpPr/>
                  <p:nvPr/>
                </p:nvSpPr>
                <p:spPr>
                  <a:xfrm flipH="1">
                    <a:off x="4802181" y="3043355"/>
                    <a:ext cx="647777" cy="2159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相机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</a:t>
                    </a:r>
                    <a:endPara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26" name="组合 29"/>
                <p:cNvGrpSpPr/>
                <p:nvPr/>
              </p:nvGrpSpPr>
              <p:grpSpPr>
                <a:xfrm rot="0" flipV="1">
                  <a:off x="5877" y="4655"/>
                  <a:ext cx="1350" cy="1072"/>
                  <a:chOff x="11655" y="3729"/>
                  <a:chExt cx="1489" cy="1132"/>
                </a:xfrm>
              </p:grpSpPr>
              <p:sp>
                <p:nvSpPr>
                  <p:cNvPr id="27" name="矩形 76"/>
                  <p:cNvSpPr/>
                  <p:nvPr/>
                </p:nvSpPr>
                <p:spPr>
                  <a:xfrm flipH="1" flipV="1">
                    <a:off x="12159" y="3729"/>
                    <a:ext cx="985" cy="32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光源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1</a:t>
                    </a:r>
                    <a:endPara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0" name="矩形 8"/>
                  <p:cNvSpPr/>
                  <p:nvPr/>
                </p:nvSpPr>
                <p:spPr>
                  <a:xfrm flipH="1" flipV="1">
                    <a:off x="11655" y="4018"/>
                    <a:ext cx="796" cy="843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50964 w 650964"/>
                      <a:gd name="connsiteY0-86" fmla="*/ 0 h 208326"/>
                      <a:gd name="connsiteX1-87" fmla="*/ 419026 w 650964"/>
                      <a:gd name="connsiteY1-88" fmla="*/ 208325 h 208326"/>
                      <a:gd name="connsiteX2-89" fmla="*/ 0 w 650964"/>
                      <a:gd name="connsiteY2-90" fmla="*/ 208326 h 208326"/>
                      <a:gd name="connsiteX0-91" fmla="*/ 1004915 w 1004915"/>
                      <a:gd name="connsiteY0-92" fmla="*/ 0 h 515484"/>
                      <a:gd name="connsiteX1-93" fmla="*/ 419026 w 1004915"/>
                      <a:gd name="connsiteY1-94" fmla="*/ 515483 h 515484"/>
                      <a:gd name="connsiteX2-95" fmla="*/ 0 w 1004915"/>
                      <a:gd name="connsiteY2-96" fmla="*/ 515484 h 515484"/>
                      <a:gd name="connsiteX0-97" fmla="*/ 578863 w 578863"/>
                      <a:gd name="connsiteY0-98" fmla="*/ 0 h 445202"/>
                      <a:gd name="connsiteX1-99" fmla="*/ 419026 w 578863"/>
                      <a:gd name="connsiteY1-100" fmla="*/ 445201 h 445202"/>
                      <a:gd name="connsiteX2-101" fmla="*/ 0 w 578863"/>
                      <a:gd name="connsiteY2-102" fmla="*/ 445202 h 445202"/>
                      <a:gd name="connsiteX0-1-1" fmla="*/ 578863 w 578863"/>
                      <a:gd name="connsiteY0-2-2" fmla="*/ 0 h 157784"/>
                      <a:gd name="connsiteX1-3-3" fmla="*/ 419026 w 578863"/>
                      <a:gd name="connsiteY1-4-4" fmla="*/ 157783 h 157784"/>
                      <a:gd name="connsiteX2-5-5" fmla="*/ 0 w 578863"/>
                      <a:gd name="connsiteY2-6-6" fmla="*/ 157784 h 157784"/>
                    </a:gdLst>
                    <a:ahLst/>
                    <a:cxnLst>
                      <a:cxn ang="0">
                        <a:pos x="connsiteX0-1-1" y="connsiteY0-2-2"/>
                      </a:cxn>
                      <a:cxn ang="0">
                        <a:pos x="connsiteX1-3-3" y="connsiteY1-4-4"/>
                      </a:cxn>
                      <a:cxn ang="0">
                        <a:pos x="connsiteX2-5-5" y="connsiteY2-6-6"/>
                      </a:cxn>
                    </a:cxnLst>
                    <a:rect l="l" t="t" r="r" b="b"/>
                    <a:pathLst>
                      <a:path w="578863" h="157784">
                        <a:moveTo>
                          <a:pt x="578863" y="0"/>
                        </a:moveTo>
                        <a:lnTo>
                          <a:pt x="419026" y="157783"/>
                        </a:lnTo>
                        <a:lnTo>
                          <a:pt x="0" y="157784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34" name="组合 20"/>
                <p:cNvGrpSpPr/>
                <p:nvPr/>
              </p:nvGrpSpPr>
              <p:grpSpPr>
                <a:xfrm rot="0">
                  <a:off x="301" y="4834"/>
                  <a:ext cx="1154" cy="773"/>
                  <a:chOff x="1291372" y="3993948"/>
                  <a:chExt cx="807931" cy="532562"/>
                </a:xfrm>
              </p:grpSpPr>
              <p:sp>
                <p:nvSpPr>
                  <p:cNvPr id="35" name="矩形 8"/>
                  <p:cNvSpPr/>
                  <p:nvPr/>
                </p:nvSpPr>
                <p:spPr>
                  <a:xfrm>
                    <a:off x="1661032" y="3993948"/>
                    <a:ext cx="438271" cy="393839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50964 w 650964"/>
                      <a:gd name="connsiteY0-86" fmla="*/ 0 h 208326"/>
                      <a:gd name="connsiteX1-87" fmla="*/ 419026 w 650964"/>
                      <a:gd name="connsiteY1-88" fmla="*/ 208325 h 208326"/>
                      <a:gd name="connsiteX2-89" fmla="*/ 0 w 650964"/>
                      <a:gd name="connsiteY2-90" fmla="*/ 208326 h 208326"/>
                      <a:gd name="connsiteX0-91" fmla="*/ 1004915 w 1004915"/>
                      <a:gd name="connsiteY0-92" fmla="*/ 0 h 515484"/>
                      <a:gd name="connsiteX1-93" fmla="*/ 419026 w 1004915"/>
                      <a:gd name="connsiteY1-94" fmla="*/ 515483 h 515484"/>
                      <a:gd name="connsiteX2-95" fmla="*/ 0 w 1004915"/>
                      <a:gd name="connsiteY2-96" fmla="*/ 515484 h 515484"/>
                      <a:gd name="connsiteX0-97" fmla="*/ 578863 w 578863"/>
                      <a:gd name="connsiteY0-98" fmla="*/ 0 h 445202"/>
                      <a:gd name="connsiteX1-99" fmla="*/ 419026 w 578863"/>
                      <a:gd name="connsiteY1-100" fmla="*/ 445201 h 445202"/>
                      <a:gd name="connsiteX2-101" fmla="*/ 0 w 578863"/>
                      <a:gd name="connsiteY2-102" fmla="*/ 445202 h 445202"/>
                      <a:gd name="connsiteX0-1-1" fmla="*/ 578863 w 578863"/>
                      <a:gd name="connsiteY0-2-2" fmla="*/ 0 h 157784"/>
                      <a:gd name="connsiteX1-3-3" fmla="*/ 419026 w 578863"/>
                      <a:gd name="connsiteY1-4-4" fmla="*/ 157783 h 157784"/>
                      <a:gd name="connsiteX2-5-5" fmla="*/ 0 w 578863"/>
                      <a:gd name="connsiteY2-6-6" fmla="*/ 157784 h 157784"/>
                    </a:gdLst>
                    <a:ahLst/>
                    <a:cxnLst>
                      <a:cxn ang="0">
                        <a:pos x="connsiteX0-1-1" y="connsiteY0-2-2"/>
                      </a:cxn>
                      <a:cxn ang="0">
                        <a:pos x="connsiteX1-3-3" y="connsiteY1-4-4"/>
                      </a:cxn>
                      <a:cxn ang="0">
                        <a:pos x="connsiteX2-5-5" y="connsiteY2-6-6"/>
                      </a:cxn>
                    </a:cxnLst>
                    <a:rect l="l" t="t" r="r" b="b"/>
                    <a:pathLst>
                      <a:path w="578863" h="157784">
                        <a:moveTo>
                          <a:pt x="578863" y="0"/>
                        </a:moveTo>
                        <a:lnTo>
                          <a:pt x="419026" y="157783"/>
                        </a:lnTo>
                        <a:lnTo>
                          <a:pt x="0" y="157784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36" name="矩形 76"/>
                  <p:cNvSpPr/>
                  <p:nvPr/>
                </p:nvSpPr>
                <p:spPr>
                  <a:xfrm flipH="1">
                    <a:off x="1291372" y="4310570"/>
                    <a:ext cx="647777" cy="2159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光源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2</a:t>
                    </a:r>
                    <a:endPara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40" name="组合 21"/>
                <p:cNvGrpSpPr/>
                <p:nvPr/>
              </p:nvGrpSpPr>
              <p:grpSpPr>
                <a:xfrm rot="0">
                  <a:off x="795" y="4518"/>
                  <a:ext cx="1393" cy="1463"/>
                  <a:chOff x="1322052" y="3608023"/>
                  <a:chExt cx="975162" cy="1006927"/>
                </a:xfrm>
              </p:grpSpPr>
              <p:sp>
                <p:nvSpPr>
                  <p:cNvPr id="41" name="矩形 8"/>
                  <p:cNvSpPr/>
                  <p:nvPr/>
                </p:nvSpPr>
                <p:spPr>
                  <a:xfrm>
                    <a:off x="1322052" y="3608023"/>
                    <a:ext cx="975162" cy="919704"/>
                  </a:xfrm>
                  <a:custGeom>
                    <a:avLst/>
                    <a:gdLst>
                      <a:gd name="connsiteX0" fmla="*/ 1395 w 1395"/>
                      <a:gd name="connsiteY0" fmla="*/ 0 h 3145"/>
                      <a:gd name="connsiteX1" fmla="*/ 707 w 1395"/>
                      <a:gd name="connsiteY1" fmla="*/ 3145 h 3145"/>
                      <a:gd name="connsiteX2" fmla="*/ 0 w 1395"/>
                      <a:gd name="connsiteY2" fmla="*/ 3145 h 3145"/>
                      <a:gd name="connsiteX0-1" fmla="*/ 9140 w 9140"/>
                      <a:gd name="connsiteY0-2" fmla="*/ 0 h 10000"/>
                      <a:gd name="connsiteX1-3" fmla="*/ 5068 w 9140"/>
                      <a:gd name="connsiteY1-4" fmla="*/ 10000 h 10000"/>
                      <a:gd name="connsiteX2-5" fmla="*/ 0 w 9140"/>
                      <a:gd name="connsiteY2-6" fmla="*/ 10000 h 10000"/>
                      <a:gd name="connsiteX0-7" fmla="*/ 10000 w 10000"/>
                      <a:gd name="connsiteY0-8" fmla="*/ 0 h 9322"/>
                      <a:gd name="connsiteX1-9" fmla="*/ 5545 w 10000"/>
                      <a:gd name="connsiteY1-10" fmla="*/ 9322 h 9322"/>
                      <a:gd name="connsiteX2-11" fmla="*/ 0 w 10000"/>
                      <a:gd name="connsiteY2-12" fmla="*/ 9322 h 9322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0000" h="9322">
                        <a:moveTo>
                          <a:pt x="10000" y="0"/>
                        </a:moveTo>
                        <a:lnTo>
                          <a:pt x="5545" y="9322"/>
                        </a:lnTo>
                        <a:lnTo>
                          <a:pt x="0" y="9322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42" name="矩形 76"/>
                  <p:cNvSpPr/>
                  <p:nvPr/>
                </p:nvSpPr>
                <p:spPr>
                  <a:xfrm flipH="1">
                    <a:off x="1322142" y="4399011"/>
                    <a:ext cx="647776" cy="2159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相机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2</a:t>
                    </a:r>
                    <a:endPara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</p:grpSp>
            <p:pic>
              <p:nvPicPr>
                <p:cNvPr id="43" name="图片 25719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65" y="4263"/>
                  <a:ext cx="350" cy="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46" name="图片 25719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 rot="10800000">
                  <a:off x="1179" y="4291"/>
                  <a:ext cx="350" cy="7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cxnSp>
              <p:nvCxnSpPr>
                <p:cNvPr id="48" name="直接连接符 47"/>
                <p:cNvCxnSpPr/>
                <p:nvPr/>
              </p:nvCxnSpPr>
              <p:spPr>
                <a:xfrm>
                  <a:off x="2229" y="2905"/>
                  <a:ext cx="0" cy="2949"/>
                </a:xfrm>
                <a:prstGeom prst="line">
                  <a:avLst/>
                </a:prstGeom>
                <a:ln w="12700" cmpd="sng">
                  <a:solidFill>
                    <a:srgbClr val="035CDF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/>
                <p:cNvCxnSpPr/>
                <p:nvPr/>
              </p:nvCxnSpPr>
              <p:spPr>
                <a:xfrm>
                  <a:off x="795" y="4606"/>
                  <a:ext cx="5896" cy="0"/>
                </a:xfrm>
                <a:prstGeom prst="line">
                  <a:avLst/>
                </a:prstGeom>
                <a:ln w="12700" cmpd="sng">
                  <a:solidFill>
                    <a:srgbClr val="035CDF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350" name="文本框 23"/>
                <p:cNvSpPr txBox="1"/>
                <p:nvPr/>
              </p:nvSpPr>
              <p:spPr>
                <a:xfrm>
                  <a:off x="4769" y="5705"/>
                  <a:ext cx="1919" cy="61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square">
                  <a:spAutoFit/>
                </a:bodyPr>
                <a:lstStyle>
                  <a:lvl1pPr marL="228600" indent="-228600" algn="l" rtl="0" eaLnBrk="0" fontAlgn="base" hangingPunct="0">
                    <a:lnSpc>
                      <a:spcPct val="90000"/>
                    </a:lnSpc>
                    <a:spcBef>
                      <a:spcPts val="1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rtl="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</a:lstStyle>
                <a:p>
                  <a:pPr marL="0" lvl="0" indent="0" eaLnBrk="1" hangingPunct="1">
                    <a:lnSpc>
                      <a:spcPct val="150000"/>
                    </a:lnSpc>
                    <a:spcBef>
                      <a:spcPct val="0"/>
                    </a:spcBef>
                    <a:buNone/>
                  </a:pPr>
                  <a:r>
                    <a:rPr lang="en-US" altLang="zh-CN" sz="10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60</a:t>
                  </a:r>
                  <a:r>
                    <a:rPr lang="zh-CN" altLang="en-US" sz="10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±</a:t>
                  </a:r>
                  <a:r>
                    <a:rPr lang="en-US" altLang="zh-CN" sz="10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10mm</a:t>
                  </a:r>
                  <a:endPara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  <p:cxnSp>
              <p:nvCxnSpPr>
                <p:cNvPr id="47" name="直接连接符 46"/>
                <p:cNvCxnSpPr/>
                <p:nvPr/>
              </p:nvCxnSpPr>
              <p:spPr>
                <a:xfrm>
                  <a:off x="5243" y="2905"/>
                  <a:ext cx="0" cy="2949"/>
                </a:xfrm>
                <a:prstGeom prst="line">
                  <a:avLst/>
                </a:prstGeom>
                <a:ln w="12700" cmpd="sng">
                  <a:solidFill>
                    <a:srgbClr val="035CDF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矩形 76"/>
                <p:cNvSpPr/>
                <p:nvPr/>
              </p:nvSpPr>
              <p:spPr bwMode="auto">
                <a:xfrm flipH="1">
                  <a:off x="5177" y="2225"/>
                  <a:ext cx="1865" cy="47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入卷极片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cxnSp>
            <p:nvCxnSpPr>
              <p:cNvPr id="78" name="直接箭头连接符 77"/>
              <p:cNvCxnSpPr/>
              <p:nvPr/>
            </p:nvCxnSpPr>
            <p:spPr>
              <a:xfrm>
                <a:off x="869" y="2785"/>
                <a:ext cx="0" cy="3961"/>
              </a:xfrm>
              <a:prstGeom prst="straightConnector1">
                <a:avLst/>
              </a:prstGeom>
              <a:ln w="412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矩形 76"/>
              <p:cNvSpPr/>
              <p:nvPr/>
            </p:nvSpPr>
            <p:spPr>
              <a:xfrm flipH="1">
                <a:off x="343" y="6709"/>
                <a:ext cx="1246" cy="371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入卷</a:t>
                </a:r>
                <a:r>
                  <a:rPr kumimoji="0" 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方向</a:t>
                </a:r>
                <a:endParaRPr kumimoji="0" 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80" name="矩形 8"/>
            <p:cNvSpPr/>
            <p:nvPr/>
          </p:nvSpPr>
          <p:spPr>
            <a:xfrm flipV="1">
              <a:off x="1650" y="3976"/>
              <a:ext cx="1072" cy="680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矩形 76"/>
            <p:cNvSpPr/>
            <p:nvPr/>
          </p:nvSpPr>
          <p:spPr>
            <a:xfrm flipH="1">
              <a:off x="1415" y="3872"/>
              <a:ext cx="1029" cy="344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背光源</a:t>
              </a:r>
              <a:endParaRPr kumimoji="0" 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629785" y="2740660"/>
            <a:ext cx="4105910" cy="2164904"/>
            <a:chOff x="7855" y="2965"/>
            <a:chExt cx="6670" cy="3625"/>
          </a:xfrm>
        </p:grpSpPr>
        <p:grpSp>
          <p:nvGrpSpPr>
            <p:cNvPr id="83" name="组合 82"/>
            <p:cNvGrpSpPr/>
            <p:nvPr/>
          </p:nvGrpSpPr>
          <p:grpSpPr>
            <a:xfrm>
              <a:off x="7855" y="2965"/>
              <a:ext cx="5408" cy="3625"/>
              <a:chOff x="7855" y="2965"/>
              <a:chExt cx="5985" cy="4082"/>
            </a:xfrm>
          </p:grpSpPr>
          <p:grpSp>
            <p:nvGrpSpPr>
              <p:cNvPr id="84" name="组合 83"/>
              <p:cNvGrpSpPr/>
              <p:nvPr/>
            </p:nvGrpSpPr>
            <p:grpSpPr>
              <a:xfrm>
                <a:off x="7855" y="2965"/>
                <a:ext cx="5941" cy="4082"/>
                <a:chOff x="7622" y="2905"/>
                <a:chExt cx="6173" cy="4082"/>
              </a:xfrm>
            </p:grpSpPr>
            <p:grpSp>
              <p:nvGrpSpPr>
                <p:cNvPr id="20503" name="组合 89"/>
                <p:cNvGrpSpPr/>
                <p:nvPr/>
              </p:nvGrpSpPr>
              <p:grpSpPr>
                <a:xfrm>
                  <a:off x="7622" y="2905"/>
                  <a:ext cx="6173" cy="4082"/>
                  <a:chOff x="6889062" y="1877695"/>
                  <a:chExt cx="3967386" cy="2865834"/>
                </a:xfrm>
              </p:grpSpPr>
              <p:cxnSp>
                <p:nvCxnSpPr>
                  <p:cNvPr id="85" name="直接连接符 84"/>
                  <p:cNvCxnSpPr/>
                  <p:nvPr/>
                </p:nvCxnSpPr>
                <p:spPr bwMode="auto">
                  <a:xfrm>
                    <a:off x="7878327" y="1877695"/>
                    <a:ext cx="0" cy="1393222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20504" name="图片 22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9855426" y="2895596"/>
                    <a:ext cx="717586" cy="34147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20505" name="图片 10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 rot="576568">
                    <a:off x="8761006" y="3323826"/>
                    <a:ext cx="256567" cy="34147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sp>
                <p:nvSpPr>
                  <p:cNvPr id="86" name="椭圆 85"/>
                  <p:cNvSpPr/>
                  <p:nvPr/>
                </p:nvSpPr>
                <p:spPr bwMode="auto">
                  <a:xfrm>
                    <a:off x="7784440" y="3011653"/>
                    <a:ext cx="173088" cy="517331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87" name="直接连接符 86"/>
                  <p:cNvCxnSpPr/>
                  <p:nvPr/>
                </p:nvCxnSpPr>
                <p:spPr bwMode="auto">
                  <a:xfrm>
                    <a:off x="9836625" y="3084623"/>
                    <a:ext cx="4763" cy="1629751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直接连接符 87"/>
                  <p:cNvCxnSpPr/>
                  <p:nvPr/>
                </p:nvCxnSpPr>
                <p:spPr bwMode="auto">
                  <a:xfrm>
                    <a:off x="7784440" y="3114802"/>
                    <a:ext cx="0" cy="590328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直接连接符 88"/>
                  <p:cNvCxnSpPr/>
                  <p:nvPr/>
                </p:nvCxnSpPr>
                <p:spPr bwMode="auto">
                  <a:xfrm>
                    <a:off x="8794384" y="3333795"/>
                    <a:ext cx="0" cy="576046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直接箭头连接符 89"/>
                  <p:cNvCxnSpPr/>
                  <p:nvPr/>
                </p:nvCxnSpPr>
                <p:spPr bwMode="auto">
                  <a:xfrm flipV="1">
                    <a:off x="7992463" y="4345913"/>
                    <a:ext cx="1771346" cy="0"/>
                  </a:xfrm>
                  <a:prstGeom prst="straightConnector1">
                    <a:avLst/>
                  </a:prstGeom>
                  <a:ln>
                    <a:solidFill>
                      <a:schemeClr val="accent1"/>
                    </a:solidFill>
                    <a:headEnd type="stealth" w="med" len="med"/>
                    <a:tailEnd type="stealth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12" name="文本框 21"/>
                  <p:cNvSpPr txBox="1"/>
                  <p:nvPr/>
                </p:nvSpPr>
                <p:spPr>
                  <a:xfrm>
                    <a:off x="8087061" y="4419060"/>
                    <a:ext cx="1588812" cy="3244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anchor="t" anchorCtr="0">
                    <a:spAutoFit/>
                  </a:bodyPr>
                  <a:p>
                    <a:pPr algn="ctr">
                      <a:buFontTx/>
                    </a:pPr>
                    <a:r>
                      <a:rPr lang="en-US" altLang="zh-CN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rPr>
                      <a:t>502</a:t>
                    </a:r>
                    <a:r>
                      <a:rPr lang="zh-CN" altLang="en-US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rPr>
                      <a:t>±</a:t>
                    </a:r>
                    <a:r>
                      <a:rPr lang="en-US" altLang="zh-CN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rPr>
                      <a:t>10mm</a:t>
                    </a:r>
                    <a:endParaRPr lang="zh-CN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91" name="直接箭头连接符 90"/>
                  <p:cNvCxnSpPr/>
                  <p:nvPr/>
                </p:nvCxnSpPr>
                <p:spPr bwMode="auto">
                  <a:xfrm>
                    <a:off x="8021047" y="3832083"/>
                    <a:ext cx="773337" cy="0"/>
                  </a:xfrm>
                  <a:prstGeom prst="straightConnector1">
                    <a:avLst/>
                  </a:prstGeom>
                  <a:ln>
                    <a:solidFill>
                      <a:schemeClr val="accent1"/>
                    </a:solidFill>
                    <a:headEnd type="stealth" w="med" len="med"/>
                    <a:tailEnd type="stealth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14" name="文本框 23"/>
                  <p:cNvSpPr txBox="1"/>
                  <p:nvPr/>
                </p:nvSpPr>
                <p:spPr>
                  <a:xfrm>
                    <a:off x="7919310" y="3869918"/>
                    <a:ext cx="1280305" cy="3244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anchor="t" anchorCtr="0">
                    <a:spAutoFit/>
                  </a:bodyPr>
                  <a:p>
                    <a:pPr algn="ctr">
                      <a:buFontTx/>
                    </a:pPr>
                    <a:r>
                      <a:rPr lang="en-US" altLang="zh-CN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rPr>
                      <a:t>180±10mm</a:t>
                    </a:r>
                    <a:endParaRPr lang="en-US" altLang="zh-CN" sz="1000" dirty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endParaRPr>
                  </a:p>
                </p:txBody>
              </p:sp>
              <p:grpSp>
                <p:nvGrpSpPr>
                  <p:cNvPr id="20515" name="组合 33"/>
                  <p:cNvGrpSpPr/>
                  <p:nvPr/>
                </p:nvGrpSpPr>
                <p:grpSpPr>
                  <a:xfrm flipV="1">
                    <a:off x="7878123" y="2008285"/>
                    <a:ext cx="737507" cy="754963"/>
                    <a:chOff x="3886352" y="3858841"/>
                    <a:chExt cx="1168020" cy="926943"/>
                  </a:xfrm>
                </p:grpSpPr>
                <p:sp>
                  <p:nvSpPr>
                    <p:cNvPr id="92" name="矩形 8"/>
                    <p:cNvSpPr/>
                    <p:nvPr/>
                  </p:nvSpPr>
                  <p:spPr>
                    <a:xfrm flipH="1">
                      <a:off x="3886352" y="3858841"/>
                      <a:ext cx="385787" cy="757870"/>
                    </a:xfrm>
                    <a:custGeom>
                      <a:avLst/>
                      <a:gdLst>
                        <a:gd name="connsiteX0" fmla="*/ 0 w 854003"/>
                        <a:gd name="connsiteY0" fmla="*/ 0 h 854003"/>
                        <a:gd name="connsiteX1" fmla="*/ 854003 w 854003"/>
                        <a:gd name="connsiteY1" fmla="*/ 0 h 854003"/>
                        <a:gd name="connsiteX2" fmla="*/ 854003 w 854003"/>
                        <a:gd name="connsiteY2" fmla="*/ 854003 h 854003"/>
                        <a:gd name="connsiteX3" fmla="*/ 0 w 854003"/>
                        <a:gd name="connsiteY3" fmla="*/ 854003 h 854003"/>
                        <a:gd name="connsiteX4" fmla="*/ 0 w 854003"/>
                        <a:gd name="connsiteY4" fmla="*/ 0 h 854003"/>
                        <a:gd name="connsiteX0-1" fmla="*/ 0 w 854003"/>
                        <a:gd name="connsiteY0-2" fmla="*/ 0 h 854003"/>
                        <a:gd name="connsiteX1-3" fmla="*/ 854003 w 854003"/>
                        <a:gd name="connsiteY1-4" fmla="*/ 0 h 854003"/>
                        <a:gd name="connsiteX2-5" fmla="*/ 854003 w 854003"/>
                        <a:gd name="connsiteY2-6" fmla="*/ 854003 h 854003"/>
                        <a:gd name="connsiteX3-7" fmla="*/ 0 w 854003"/>
                        <a:gd name="connsiteY3-8" fmla="*/ 854003 h 854003"/>
                        <a:gd name="connsiteX4-9" fmla="*/ 91440 w 854003"/>
                        <a:gd name="connsiteY4-10" fmla="*/ 91440 h 854003"/>
                        <a:gd name="connsiteX0-11" fmla="*/ 854003 w 854003"/>
                        <a:gd name="connsiteY0-12" fmla="*/ 0 h 854003"/>
                        <a:gd name="connsiteX1-13" fmla="*/ 854003 w 854003"/>
                        <a:gd name="connsiteY1-14" fmla="*/ 854003 h 854003"/>
                        <a:gd name="connsiteX2-15" fmla="*/ 0 w 854003"/>
                        <a:gd name="connsiteY2-16" fmla="*/ 854003 h 854003"/>
                        <a:gd name="connsiteX3-17" fmla="*/ 91440 w 854003"/>
                        <a:gd name="connsiteY3-18" fmla="*/ 91440 h 854003"/>
                        <a:gd name="connsiteX0-19" fmla="*/ 854003 w 854003"/>
                        <a:gd name="connsiteY0-20" fmla="*/ 0 h 854003"/>
                        <a:gd name="connsiteX1-21" fmla="*/ 854003 w 854003"/>
                        <a:gd name="connsiteY1-22" fmla="*/ 854003 h 854003"/>
                        <a:gd name="connsiteX2-23" fmla="*/ 0 w 854003"/>
                        <a:gd name="connsiteY2-24" fmla="*/ 854003 h 854003"/>
                        <a:gd name="connsiteX0-25" fmla="*/ 1019595 w 1019595"/>
                        <a:gd name="connsiteY0-26" fmla="*/ 0 h 72953"/>
                        <a:gd name="connsiteX1-27" fmla="*/ 854003 w 1019595"/>
                        <a:gd name="connsiteY1-28" fmla="*/ 72953 h 72953"/>
                        <a:gd name="connsiteX2-29" fmla="*/ 0 w 1019595"/>
                        <a:gd name="connsiteY2-30" fmla="*/ 72953 h 72953"/>
                        <a:gd name="connsiteX0-31" fmla="*/ 1049223 w 1049223"/>
                        <a:gd name="connsiteY0-32" fmla="*/ 0 h 306315"/>
                        <a:gd name="connsiteX1-33" fmla="*/ 854003 w 1049223"/>
                        <a:gd name="connsiteY1-34" fmla="*/ 306315 h 306315"/>
                        <a:gd name="connsiteX2-35" fmla="*/ 0 w 1049223"/>
                        <a:gd name="connsiteY2-36" fmla="*/ 306315 h 306315"/>
                        <a:gd name="connsiteX0-37" fmla="*/ 1054161 w 1054161"/>
                        <a:gd name="connsiteY0-38" fmla="*/ 0 h 325365"/>
                        <a:gd name="connsiteX1-39" fmla="*/ 854003 w 1054161"/>
                        <a:gd name="connsiteY1-40" fmla="*/ 325365 h 325365"/>
                        <a:gd name="connsiteX2-41" fmla="*/ 0 w 1054161"/>
                        <a:gd name="connsiteY2-42" fmla="*/ 325365 h 325365"/>
                        <a:gd name="connsiteX0-43" fmla="*/ 1038427 w 1038427"/>
                        <a:gd name="connsiteY0-44" fmla="*/ 0 h 302685"/>
                        <a:gd name="connsiteX1-45" fmla="*/ 854003 w 1038427"/>
                        <a:gd name="connsiteY1-46" fmla="*/ 302685 h 302685"/>
                        <a:gd name="connsiteX2-47" fmla="*/ 0 w 1038427"/>
                        <a:gd name="connsiteY2-48" fmla="*/ 302685 h 302685"/>
                        <a:gd name="connsiteX0-49" fmla="*/ 736399 w 736399"/>
                        <a:gd name="connsiteY0-50" fmla="*/ 0 h 302685"/>
                        <a:gd name="connsiteX1-51" fmla="*/ 551975 w 736399"/>
                        <a:gd name="connsiteY1-52" fmla="*/ 302685 h 302685"/>
                        <a:gd name="connsiteX2-53" fmla="*/ 0 w 736399"/>
                        <a:gd name="connsiteY2-54" fmla="*/ 301872 h 302685"/>
                        <a:gd name="connsiteX0-55" fmla="*/ 687641 w 687641"/>
                        <a:gd name="connsiteY0-56" fmla="*/ 0 h 220527"/>
                        <a:gd name="connsiteX1-57" fmla="*/ 551975 w 687641"/>
                        <a:gd name="connsiteY1-58" fmla="*/ 220527 h 220527"/>
                        <a:gd name="connsiteX2-59" fmla="*/ 0 w 687641"/>
                        <a:gd name="connsiteY2-60" fmla="*/ 219714 h 220527"/>
                        <a:gd name="connsiteX0-61" fmla="*/ 747234 w 747234"/>
                        <a:gd name="connsiteY0-62" fmla="*/ 0 h 220527"/>
                        <a:gd name="connsiteX1-63" fmla="*/ 611568 w 747234"/>
                        <a:gd name="connsiteY1-64" fmla="*/ 220527 h 220527"/>
                        <a:gd name="connsiteX2-65" fmla="*/ 0 w 747234"/>
                        <a:gd name="connsiteY2-66" fmla="*/ 219714 h 220527"/>
                        <a:gd name="connsiteX0-67" fmla="*/ 548547 w 548547"/>
                        <a:gd name="connsiteY0-68" fmla="*/ 0 h 220528"/>
                        <a:gd name="connsiteX1-69" fmla="*/ 412881 w 548547"/>
                        <a:gd name="connsiteY1-70" fmla="*/ 220527 h 220528"/>
                        <a:gd name="connsiteX2-71" fmla="*/ 0 w 548547"/>
                        <a:gd name="connsiteY2-72" fmla="*/ 220528 h 220528"/>
                        <a:gd name="connsiteX0-73" fmla="*/ 657109 w 657109"/>
                        <a:gd name="connsiteY0-74" fmla="*/ 0 h 52144"/>
                        <a:gd name="connsiteX1-75" fmla="*/ 412881 w 657109"/>
                        <a:gd name="connsiteY1-76" fmla="*/ 52143 h 52144"/>
                        <a:gd name="connsiteX2-77" fmla="*/ 0 w 657109"/>
                        <a:gd name="connsiteY2-78" fmla="*/ 52144 h 52144"/>
                        <a:gd name="connsiteX0-79" fmla="*/ 663254 w 663254"/>
                        <a:gd name="connsiteY0-80" fmla="*/ 0 h 52144"/>
                        <a:gd name="connsiteX1-81" fmla="*/ 419026 w 663254"/>
                        <a:gd name="connsiteY1-82" fmla="*/ 52143 h 52144"/>
                        <a:gd name="connsiteX2-83" fmla="*/ 0 w 663254"/>
                        <a:gd name="connsiteY2-84" fmla="*/ 52144 h 52144"/>
                        <a:gd name="connsiteX0-85" fmla="*/ 630481 w 630481"/>
                        <a:gd name="connsiteY0-86" fmla="*/ 0 h 253879"/>
                        <a:gd name="connsiteX1-87" fmla="*/ 419026 w 630481"/>
                        <a:gd name="connsiteY1-88" fmla="*/ 253878 h 253879"/>
                        <a:gd name="connsiteX2-89" fmla="*/ 0 w 630481"/>
                        <a:gd name="connsiteY2-90" fmla="*/ 253879 h 253879"/>
                        <a:gd name="connsiteX0-91" fmla="*/ 663254 w 663254"/>
                        <a:gd name="connsiteY0-92" fmla="*/ 0 h 297263"/>
                        <a:gd name="connsiteX1-93" fmla="*/ 419026 w 663254"/>
                        <a:gd name="connsiteY1-94" fmla="*/ 297262 h 297263"/>
                        <a:gd name="connsiteX2-95" fmla="*/ 0 w 663254"/>
                        <a:gd name="connsiteY2-96" fmla="*/ 297263 h 297263"/>
                        <a:gd name="connsiteX0-97" fmla="*/ 581321 w 581321"/>
                        <a:gd name="connsiteY0-98" fmla="*/ 0 h 300517"/>
                        <a:gd name="connsiteX1-99" fmla="*/ 419026 w 581321"/>
                        <a:gd name="connsiteY1-100" fmla="*/ 300516 h 300517"/>
                        <a:gd name="connsiteX2-101" fmla="*/ 0 w 581321"/>
                        <a:gd name="connsiteY2-102" fmla="*/ 300517 h 300517"/>
                        <a:gd name="connsiteX0-103" fmla="*/ 581321 w 581321"/>
                        <a:gd name="connsiteY0-104" fmla="*/ 0 h 300517"/>
                        <a:gd name="connsiteX1-105" fmla="*/ 386252 w 581321"/>
                        <a:gd name="connsiteY1-106" fmla="*/ 300516 h 300517"/>
                        <a:gd name="connsiteX2-107" fmla="*/ 0 w 581321"/>
                        <a:gd name="connsiteY2-108" fmla="*/ 300517 h 300517"/>
                        <a:gd name="connsiteX0-109" fmla="*/ 646867 w 646867"/>
                        <a:gd name="connsiteY0-110" fmla="*/ 0 h 385116"/>
                        <a:gd name="connsiteX1-111" fmla="*/ 386252 w 646867"/>
                        <a:gd name="connsiteY1-112" fmla="*/ 385115 h 385116"/>
                        <a:gd name="connsiteX2-113" fmla="*/ 0 w 646867"/>
                        <a:gd name="connsiteY2-114" fmla="*/ 385116 h 38511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646867" h="385116">
                          <a:moveTo>
                            <a:pt x="646867" y="0"/>
                          </a:moveTo>
                          <a:lnTo>
                            <a:pt x="386252" y="385115"/>
                          </a:lnTo>
                          <a:lnTo>
                            <a:pt x="0" y="385116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3" name="矩形 76"/>
                    <p:cNvSpPr/>
                    <p:nvPr/>
                  </p:nvSpPr>
                  <p:spPr>
                    <a:xfrm flipH="1" flipV="1">
                      <a:off x="4216905" y="4518854"/>
                      <a:ext cx="837467" cy="26693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极片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cxnSp>
                <p:nvCxnSpPr>
                  <p:cNvPr id="94" name="直接连接符 93"/>
                  <p:cNvCxnSpPr/>
                  <p:nvPr/>
                </p:nvCxnSpPr>
                <p:spPr bwMode="auto">
                  <a:xfrm>
                    <a:off x="7206422" y="3057674"/>
                    <a:ext cx="3650026" cy="0"/>
                  </a:xfrm>
                  <a:prstGeom prst="line">
                    <a:avLst/>
                  </a:prstGeom>
                  <a:ln w="12700" cmpd="sng">
                    <a:solidFill>
                      <a:srgbClr val="FF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0519" name="组合 47"/>
                  <p:cNvGrpSpPr/>
                  <p:nvPr/>
                </p:nvGrpSpPr>
                <p:grpSpPr>
                  <a:xfrm flipV="1">
                    <a:off x="10164347" y="2514292"/>
                    <a:ext cx="633721" cy="518802"/>
                    <a:chOff x="-3686000" y="2961855"/>
                    <a:chExt cx="1077044" cy="507266"/>
                  </a:xfrm>
                </p:grpSpPr>
                <p:sp>
                  <p:nvSpPr>
                    <p:cNvPr id="95" name="矩形 8"/>
                    <p:cNvSpPr/>
                    <p:nvPr/>
                  </p:nvSpPr>
                  <p:spPr>
                    <a:xfrm flipH="1">
                      <a:off x="-3686000" y="2961855"/>
                      <a:ext cx="693599" cy="425143"/>
                    </a:xfrm>
                    <a:custGeom>
                      <a:avLst/>
                      <a:gdLst>
                        <a:gd name="connsiteX0" fmla="*/ 0 w 854003"/>
                        <a:gd name="connsiteY0" fmla="*/ 0 h 854003"/>
                        <a:gd name="connsiteX1" fmla="*/ 854003 w 854003"/>
                        <a:gd name="connsiteY1" fmla="*/ 0 h 854003"/>
                        <a:gd name="connsiteX2" fmla="*/ 854003 w 854003"/>
                        <a:gd name="connsiteY2" fmla="*/ 854003 h 854003"/>
                        <a:gd name="connsiteX3" fmla="*/ 0 w 854003"/>
                        <a:gd name="connsiteY3" fmla="*/ 854003 h 854003"/>
                        <a:gd name="connsiteX4" fmla="*/ 0 w 854003"/>
                        <a:gd name="connsiteY4" fmla="*/ 0 h 854003"/>
                        <a:gd name="connsiteX0-1" fmla="*/ 0 w 854003"/>
                        <a:gd name="connsiteY0-2" fmla="*/ 0 h 854003"/>
                        <a:gd name="connsiteX1-3" fmla="*/ 854003 w 854003"/>
                        <a:gd name="connsiteY1-4" fmla="*/ 0 h 854003"/>
                        <a:gd name="connsiteX2-5" fmla="*/ 854003 w 854003"/>
                        <a:gd name="connsiteY2-6" fmla="*/ 854003 h 854003"/>
                        <a:gd name="connsiteX3-7" fmla="*/ 0 w 854003"/>
                        <a:gd name="connsiteY3-8" fmla="*/ 854003 h 854003"/>
                        <a:gd name="connsiteX4-9" fmla="*/ 91440 w 854003"/>
                        <a:gd name="connsiteY4-10" fmla="*/ 91440 h 854003"/>
                        <a:gd name="connsiteX0-11" fmla="*/ 854003 w 854003"/>
                        <a:gd name="connsiteY0-12" fmla="*/ 0 h 854003"/>
                        <a:gd name="connsiteX1-13" fmla="*/ 854003 w 854003"/>
                        <a:gd name="connsiteY1-14" fmla="*/ 854003 h 854003"/>
                        <a:gd name="connsiteX2-15" fmla="*/ 0 w 854003"/>
                        <a:gd name="connsiteY2-16" fmla="*/ 854003 h 854003"/>
                        <a:gd name="connsiteX3-17" fmla="*/ 91440 w 854003"/>
                        <a:gd name="connsiteY3-18" fmla="*/ 91440 h 854003"/>
                        <a:gd name="connsiteX0-19" fmla="*/ 854003 w 854003"/>
                        <a:gd name="connsiteY0-20" fmla="*/ 0 h 854003"/>
                        <a:gd name="connsiteX1-21" fmla="*/ 854003 w 854003"/>
                        <a:gd name="connsiteY1-22" fmla="*/ 854003 h 854003"/>
                        <a:gd name="connsiteX2-23" fmla="*/ 0 w 854003"/>
                        <a:gd name="connsiteY2-24" fmla="*/ 854003 h 854003"/>
                        <a:gd name="connsiteX0-25" fmla="*/ 1019595 w 1019595"/>
                        <a:gd name="connsiteY0-26" fmla="*/ 0 h 72953"/>
                        <a:gd name="connsiteX1-27" fmla="*/ 854003 w 1019595"/>
                        <a:gd name="connsiteY1-28" fmla="*/ 72953 h 72953"/>
                        <a:gd name="connsiteX2-29" fmla="*/ 0 w 1019595"/>
                        <a:gd name="connsiteY2-30" fmla="*/ 72953 h 72953"/>
                        <a:gd name="connsiteX0-31" fmla="*/ 1049223 w 1049223"/>
                        <a:gd name="connsiteY0-32" fmla="*/ 0 h 306315"/>
                        <a:gd name="connsiteX1-33" fmla="*/ 854003 w 1049223"/>
                        <a:gd name="connsiteY1-34" fmla="*/ 306315 h 306315"/>
                        <a:gd name="connsiteX2-35" fmla="*/ 0 w 1049223"/>
                        <a:gd name="connsiteY2-36" fmla="*/ 306315 h 306315"/>
                        <a:gd name="connsiteX0-37" fmla="*/ 1054161 w 1054161"/>
                        <a:gd name="connsiteY0-38" fmla="*/ 0 h 325365"/>
                        <a:gd name="connsiteX1-39" fmla="*/ 854003 w 1054161"/>
                        <a:gd name="connsiteY1-40" fmla="*/ 325365 h 325365"/>
                        <a:gd name="connsiteX2-41" fmla="*/ 0 w 1054161"/>
                        <a:gd name="connsiteY2-42" fmla="*/ 325365 h 325365"/>
                        <a:gd name="connsiteX0-43" fmla="*/ 1038427 w 1038427"/>
                        <a:gd name="connsiteY0-44" fmla="*/ 0 h 302685"/>
                        <a:gd name="connsiteX1-45" fmla="*/ 854003 w 1038427"/>
                        <a:gd name="connsiteY1-46" fmla="*/ 302685 h 302685"/>
                        <a:gd name="connsiteX2-47" fmla="*/ 0 w 1038427"/>
                        <a:gd name="connsiteY2-48" fmla="*/ 302685 h 302685"/>
                        <a:gd name="connsiteX0-49" fmla="*/ 736399 w 736399"/>
                        <a:gd name="connsiteY0-50" fmla="*/ 0 h 302685"/>
                        <a:gd name="connsiteX1-51" fmla="*/ 551975 w 736399"/>
                        <a:gd name="connsiteY1-52" fmla="*/ 302685 h 302685"/>
                        <a:gd name="connsiteX2-53" fmla="*/ 0 w 736399"/>
                        <a:gd name="connsiteY2-54" fmla="*/ 301872 h 302685"/>
                        <a:gd name="connsiteX0-55" fmla="*/ 687641 w 687641"/>
                        <a:gd name="connsiteY0-56" fmla="*/ 0 h 220527"/>
                        <a:gd name="connsiteX1-57" fmla="*/ 551975 w 687641"/>
                        <a:gd name="connsiteY1-58" fmla="*/ 220527 h 220527"/>
                        <a:gd name="connsiteX2-59" fmla="*/ 0 w 687641"/>
                        <a:gd name="connsiteY2-60" fmla="*/ 219714 h 220527"/>
                        <a:gd name="connsiteX0-61" fmla="*/ 747234 w 747234"/>
                        <a:gd name="connsiteY0-62" fmla="*/ 0 h 220527"/>
                        <a:gd name="connsiteX1-63" fmla="*/ 611568 w 747234"/>
                        <a:gd name="connsiteY1-64" fmla="*/ 220527 h 220527"/>
                        <a:gd name="connsiteX2-65" fmla="*/ 0 w 747234"/>
                        <a:gd name="connsiteY2-66" fmla="*/ 219714 h 220527"/>
                        <a:gd name="connsiteX0-67" fmla="*/ 548547 w 548547"/>
                        <a:gd name="connsiteY0-68" fmla="*/ 0 h 220528"/>
                        <a:gd name="connsiteX1-69" fmla="*/ 412881 w 548547"/>
                        <a:gd name="connsiteY1-70" fmla="*/ 220527 h 220528"/>
                        <a:gd name="connsiteX2-71" fmla="*/ 0 w 548547"/>
                        <a:gd name="connsiteY2-72" fmla="*/ 220528 h 220528"/>
                        <a:gd name="connsiteX0-73" fmla="*/ 657109 w 657109"/>
                        <a:gd name="connsiteY0-74" fmla="*/ 0 h 52144"/>
                        <a:gd name="connsiteX1-75" fmla="*/ 412881 w 657109"/>
                        <a:gd name="connsiteY1-76" fmla="*/ 52143 h 52144"/>
                        <a:gd name="connsiteX2-77" fmla="*/ 0 w 657109"/>
                        <a:gd name="connsiteY2-78" fmla="*/ 52144 h 52144"/>
                        <a:gd name="connsiteX0-79" fmla="*/ 663254 w 663254"/>
                        <a:gd name="connsiteY0-80" fmla="*/ 0 h 52144"/>
                        <a:gd name="connsiteX1-81" fmla="*/ 419026 w 663254"/>
                        <a:gd name="connsiteY1-82" fmla="*/ 52143 h 52144"/>
                        <a:gd name="connsiteX2-83" fmla="*/ 0 w 663254"/>
                        <a:gd name="connsiteY2-84" fmla="*/ 52144 h 52144"/>
                        <a:gd name="connsiteX0-85" fmla="*/ 630481 w 630481"/>
                        <a:gd name="connsiteY0-86" fmla="*/ 0 h 253879"/>
                        <a:gd name="connsiteX1-87" fmla="*/ 419026 w 630481"/>
                        <a:gd name="connsiteY1-88" fmla="*/ 253878 h 253879"/>
                        <a:gd name="connsiteX2-89" fmla="*/ 0 w 630481"/>
                        <a:gd name="connsiteY2-90" fmla="*/ 253879 h 253879"/>
                        <a:gd name="connsiteX0-91" fmla="*/ 663254 w 663254"/>
                        <a:gd name="connsiteY0-92" fmla="*/ 0 h 297263"/>
                        <a:gd name="connsiteX1-93" fmla="*/ 419026 w 663254"/>
                        <a:gd name="connsiteY1-94" fmla="*/ 297262 h 297263"/>
                        <a:gd name="connsiteX2-95" fmla="*/ 0 w 663254"/>
                        <a:gd name="connsiteY2-96" fmla="*/ 297263 h 297263"/>
                        <a:gd name="connsiteX0-97" fmla="*/ 581321 w 581321"/>
                        <a:gd name="connsiteY0-98" fmla="*/ 0 h 300517"/>
                        <a:gd name="connsiteX1-99" fmla="*/ 419026 w 581321"/>
                        <a:gd name="connsiteY1-100" fmla="*/ 300516 h 300517"/>
                        <a:gd name="connsiteX2-101" fmla="*/ 0 w 581321"/>
                        <a:gd name="connsiteY2-102" fmla="*/ 300517 h 300517"/>
                        <a:gd name="connsiteX0-103" fmla="*/ 581321 w 581321"/>
                        <a:gd name="connsiteY0-104" fmla="*/ 0 h 300517"/>
                        <a:gd name="connsiteX1-105" fmla="*/ 386252 w 581321"/>
                        <a:gd name="connsiteY1-106" fmla="*/ 300516 h 300517"/>
                        <a:gd name="connsiteX2-107" fmla="*/ 0 w 581321"/>
                        <a:gd name="connsiteY2-108" fmla="*/ 300517 h 300517"/>
                        <a:gd name="connsiteX0-109" fmla="*/ 646867 w 646867"/>
                        <a:gd name="connsiteY0-110" fmla="*/ 0 h 385116"/>
                        <a:gd name="connsiteX1-111" fmla="*/ 386252 w 646867"/>
                        <a:gd name="connsiteY1-112" fmla="*/ 385115 h 385116"/>
                        <a:gd name="connsiteX2-113" fmla="*/ 0 w 646867"/>
                        <a:gd name="connsiteY2-114" fmla="*/ 385116 h 38511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646867" h="385116">
                          <a:moveTo>
                            <a:pt x="646867" y="0"/>
                          </a:moveTo>
                          <a:lnTo>
                            <a:pt x="386252" y="385115"/>
                          </a:lnTo>
                          <a:lnTo>
                            <a:pt x="0" y="385116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6" name="矩形 76"/>
                    <p:cNvSpPr/>
                    <p:nvPr/>
                  </p:nvSpPr>
                  <p:spPr>
                    <a:xfrm flipH="1" flipV="1">
                      <a:off x="-3375423" y="3251895"/>
                      <a:ext cx="766467" cy="21722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相机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0522" name="组合 50"/>
                  <p:cNvGrpSpPr/>
                  <p:nvPr/>
                </p:nvGrpSpPr>
                <p:grpSpPr>
                  <a:xfrm flipV="1">
                    <a:off x="8886485" y="1953211"/>
                    <a:ext cx="1084333" cy="1302823"/>
                    <a:chOff x="-4984134" y="4389473"/>
                    <a:chExt cx="1719392" cy="1314179"/>
                  </a:xfrm>
                </p:grpSpPr>
                <p:sp>
                  <p:nvSpPr>
                    <p:cNvPr id="97" name="矩形 8"/>
                    <p:cNvSpPr/>
                    <p:nvPr/>
                  </p:nvSpPr>
                  <p:spPr>
                    <a:xfrm flipH="1">
                      <a:off x="-4984134" y="4389473"/>
                      <a:ext cx="1115466" cy="1230965"/>
                    </a:xfrm>
                    <a:custGeom>
                      <a:avLst/>
                      <a:gdLst>
                        <a:gd name="connsiteX0" fmla="*/ 0 w 854003"/>
                        <a:gd name="connsiteY0" fmla="*/ 0 h 854003"/>
                        <a:gd name="connsiteX1" fmla="*/ 854003 w 854003"/>
                        <a:gd name="connsiteY1" fmla="*/ 0 h 854003"/>
                        <a:gd name="connsiteX2" fmla="*/ 854003 w 854003"/>
                        <a:gd name="connsiteY2" fmla="*/ 854003 h 854003"/>
                        <a:gd name="connsiteX3" fmla="*/ 0 w 854003"/>
                        <a:gd name="connsiteY3" fmla="*/ 854003 h 854003"/>
                        <a:gd name="connsiteX4" fmla="*/ 0 w 854003"/>
                        <a:gd name="connsiteY4" fmla="*/ 0 h 854003"/>
                        <a:gd name="connsiteX0-1" fmla="*/ 0 w 854003"/>
                        <a:gd name="connsiteY0-2" fmla="*/ 0 h 854003"/>
                        <a:gd name="connsiteX1-3" fmla="*/ 854003 w 854003"/>
                        <a:gd name="connsiteY1-4" fmla="*/ 0 h 854003"/>
                        <a:gd name="connsiteX2-5" fmla="*/ 854003 w 854003"/>
                        <a:gd name="connsiteY2-6" fmla="*/ 854003 h 854003"/>
                        <a:gd name="connsiteX3-7" fmla="*/ 0 w 854003"/>
                        <a:gd name="connsiteY3-8" fmla="*/ 854003 h 854003"/>
                        <a:gd name="connsiteX4-9" fmla="*/ 91440 w 854003"/>
                        <a:gd name="connsiteY4-10" fmla="*/ 91440 h 854003"/>
                        <a:gd name="connsiteX0-11" fmla="*/ 854003 w 854003"/>
                        <a:gd name="connsiteY0-12" fmla="*/ 0 h 854003"/>
                        <a:gd name="connsiteX1-13" fmla="*/ 854003 w 854003"/>
                        <a:gd name="connsiteY1-14" fmla="*/ 854003 h 854003"/>
                        <a:gd name="connsiteX2-15" fmla="*/ 0 w 854003"/>
                        <a:gd name="connsiteY2-16" fmla="*/ 854003 h 854003"/>
                        <a:gd name="connsiteX3-17" fmla="*/ 91440 w 854003"/>
                        <a:gd name="connsiteY3-18" fmla="*/ 91440 h 854003"/>
                        <a:gd name="connsiteX0-19" fmla="*/ 854003 w 854003"/>
                        <a:gd name="connsiteY0-20" fmla="*/ 0 h 854003"/>
                        <a:gd name="connsiteX1-21" fmla="*/ 854003 w 854003"/>
                        <a:gd name="connsiteY1-22" fmla="*/ 854003 h 854003"/>
                        <a:gd name="connsiteX2-23" fmla="*/ 0 w 854003"/>
                        <a:gd name="connsiteY2-24" fmla="*/ 854003 h 854003"/>
                        <a:gd name="connsiteX0-25" fmla="*/ 1019595 w 1019595"/>
                        <a:gd name="connsiteY0-26" fmla="*/ 0 h 72953"/>
                        <a:gd name="connsiteX1-27" fmla="*/ 854003 w 1019595"/>
                        <a:gd name="connsiteY1-28" fmla="*/ 72953 h 72953"/>
                        <a:gd name="connsiteX2-29" fmla="*/ 0 w 1019595"/>
                        <a:gd name="connsiteY2-30" fmla="*/ 72953 h 72953"/>
                        <a:gd name="connsiteX0-31" fmla="*/ 1049223 w 1049223"/>
                        <a:gd name="connsiteY0-32" fmla="*/ 0 h 306315"/>
                        <a:gd name="connsiteX1-33" fmla="*/ 854003 w 1049223"/>
                        <a:gd name="connsiteY1-34" fmla="*/ 306315 h 306315"/>
                        <a:gd name="connsiteX2-35" fmla="*/ 0 w 1049223"/>
                        <a:gd name="connsiteY2-36" fmla="*/ 306315 h 306315"/>
                        <a:gd name="connsiteX0-37" fmla="*/ 1054161 w 1054161"/>
                        <a:gd name="connsiteY0-38" fmla="*/ 0 h 325365"/>
                        <a:gd name="connsiteX1-39" fmla="*/ 854003 w 1054161"/>
                        <a:gd name="connsiteY1-40" fmla="*/ 325365 h 325365"/>
                        <a:gd name="connsiteX2-41" fmla="*/ 0 w 1054161"/>
                        <a:gd name="connsiteY2-42" fmla="*/ 325365 h 325365"/>
                        <a:gd name="connsiteX0-43" fmla="*/ 1038427 w 1038427"/>
                        <a:gd name="connsiteY0-44" fmla="*/ 0 h 302685"/>
                        <a:gd name="connsiteX1-45" fmla="*/ 854003 w 1038427"/>
                        <a:gd name="connsiteY1-46" fmla="*/ 302685 h 302685"/>
                        <a:gd name="connsiteX2-47" fmla="*/ 0 w 1038427"/>
                        <a:gd name="connsiteY2-48" fmla="*/ 302685 h 302685"/>
                        <a:gd name="connsiteX0-49" fmla="*/ 736399 w 736399"/>
                        <a:gd name="connsiteY0-50" fmla="*/ 0 h 302685"/>
                        <a:gd name="connsiteX1-51" fmla="*/ 551975 w 736399"/>
                        <a:gd name="connsiteY1-52" fmla="*/ 302685 h 302685"/>
                        <a:gd name="connsiteX2-53" fmla="*/ 0 w 736399"/>
                        <a:gd name="connsiteY2-54" fmla="*/ 301872 h 302685"/>
                        <a:gd name="connsiteX0-55" fmla="*/ 687641 w 687641"/>
                        <a:gd name="connsiteY0-56" fmla="*/ 0 h 220527"/>
                        <a:gd name="connsiteX1-57" fmla="*/ 551975 w 687641"/>
                        <a:gd name="connsiteY1-58" fmla="*/ 220527 h 220527"/>
                        <a:gd name="connsiteX2-59" fmla="*/ 0 w 687641"/>
                        <a:gd name="connsiteY2-60" fmla="*/ 219714 h 220527"/>
                        <a:gd name="connsiteX0-61" fmla="*/ 747234 w 747234"/>
                        <a:gd name="connsiteY0-62" fmla="*/ 0 h 220527"/>
                        <a:gd name="connsiteX1-63" fmla="*/ 611568 w 747234"/>
                        <a:gd name="connsiteY1-64" fmla="*/ 220527 h 220527"/>
                        <a:gd name="connsiteX2-65" fmla="*/ 0 w 747234"/>
                        <a:gd name="connsiteY2-66" fmla="*/ 219714 h 220527"/>
                        <a:gd name="connsiteX0-67" fmla="*/ 548547 w 548547"/>
                        <a:gd name="connsiteY0-68" fmla="*/ 0 h 220528"/>
                        <a:gd name="connsiteX1-69" fmla="*/ 412881 w 548547"/>
                        <a:gd name="connsiteY1-70" fmla="*/ 220527 h 220528"/>
                        <a:gd name="connsiteX2-71" fmla="*/ 0 w 548547"/>
                        <a:gd name="connsiteY2-72" fmla="*/ 220528 h 220528"/>
                        <a:gd name="connsiteX0-73" fmla="*/ 657109 w 657109"/>
                        <a:gd name="connsiteY0-74" fmla="*/ 0 h 52144"/>
                        <a:gd name="connsiteX1-75" fmla="*/ 412881 w 657109"/>
                        <a:gd name="connsiteY1-76" fmla="*/ 52143 h 52144"/>
                        <a:gd name="connsiteX2-77" fmla="*/ 0 w 657109"/>
                        <a:gd name="connsiteY2-78" fmla="*/ 52144 h 52144"/>
                        <a:gd name="connsiteX0-79" fmla="*/ 663254 w 663254"/>
                        <a:gd name="connsiteY0-80" fmla="*/ 0 h 52144"/>
                        <a:gd name="connsiteX1-81" fmla="*/ 419026 w 663254"/>
                        <a:gd name="connsiteY1-82" fmla="*/ 52143 h 52144"/>
                        <a:gd name="connsiteX2-83" fmla="*/ 0 w 663254"/>
                        <a:gd name="connsiteY2-84" fmla="*/ 52144 h 52144"/>
                        <a:gd name="connsiteX0-85" fmla="*/ 630481 w 630481"/>
                        <a:gd name="connsiteY0-86" fmla="*/ 0 h 253879"/>
                        <a:gd name="connsiteX1-87" fmla="*/ 419026 w 630481"/>
                        <a:gd name="connsiteY1-88" fmla="*/ 253878 h 253879"/>
                        <a:gd name="connsiteX2-89" fmla="*/ 0 w 630481"/>
                        <a:gd name="connsiteY2-90" fmla="*/ 253879 h 253879"/>
                        <a:gd name="connsiteX0-91" fmla="*/ 663254 w 663254"/>
                        <a:gd name="connsiteY0-92" fmla="*/ 0 h 297263"/>
                        <a:gd name="connsiteX1-93" fmla="*/ 419026 w 663254"/>
                        <a:gd name="connsiteY1-94" fmla="*/ 297262 h 297263"/>
                        <a:gd name="connsiteX2-95" fmla="*/ 0 w 663254"/>
                        <a:gd name="connsiteY2-96" fmla="*/ 297263 h 297263"/>
                        <a:gd name="connsiteX0-97" fmla="*/ 581321 w 581321"/>
                        <a:gd name="connsiteY0-98" fmla="*/ 0 h 300517"/>
                        <a:gd name="connsiteX1-99" fmla="*/ 419026 w 581321"/>
                        <a:gd name="connsiteY1-100" fmla="*/ 300516 h 300517"/>
                        <a:gd name="connsiteX2-101" fmla="*/ 0 w 581321"/>
                        <a:gd name="connsiteY2-102" fmla="*/ 300517 h 300517"/>
                        <a:gd name="connsiteX0-103" fmla="*/ 581321 w 581321"/>
                        <a:gd name="connsiteY0-104" fmla="*/ 0 h 300517"/>
                        <a:gd name="connsiteX1-105" fmla="*/ 386252 w 581321"/>
                        <a:gd name="connsiteY1-106" fmla="*/ 300516 h 300517"/>
                        <a:gd name="connsiteX2-107" fmla="*/ 0 w 581321"/>
                        <a:gd name="connsiteY2-108" fmla="*/ 300517 h 300517"/>
                        <a:gd name="connsiteX0-109" fmla="*/ 646867 w 646867"/>
                        <a:gd name="connsiteY0-110" fmla="*/ 0 h 385116"/>
                        <a:gd name="connsiteX1-111" fmla="*/ 386252 w 646867"/>
                        <a:gd name="connsiteY1-112" fmla="*/ 385115 h 385116"/>
                        <a:gd name="connsiteX2-113" fmla="*/ 0 w 646867"/>
                        <a:gd name="connsiteY2-114" fmla="*/ 385116 h 38511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</a:cxnLst>
                      <a:rect l="l" t="t" r="r" b="b"/>
                      <a:pathLst>
                        <a:path w="646867" h="385116">
                          <a:moveTo>
                            <a:pt x="646867" y="0"/>
                          </a:moveTo>
                          <a:lnTo>
                            <a:pt x="386252" y="385115"/>
                          </a:lnTo>
                          <a:lnTo>
                            <a:pt x="0" y="385116"/>
                          </a:lnTo>
                        </a:path>
                      </a:pathLst>
                    </a:custGeom>
                    <a:noFill/>
                    <a:ln w="9525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lt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98" name="矩形 76"/>
                    <p:cNvSpPr/>
                    <p:nvPr/>
                  </p:nvSpPr>
                  <p:spPr>
                    <a:xfrm flipH="1" flipV="1">
                      <a:off x="-4225602" y="5460340"/>
                      <a:ext cx="960860" cy="24331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BDD7EE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光源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p:txBody>
                </p:sp>
              </p:grpSp>
              <p:pic>
                <p:nvPicPr>
                  <p:cNvPr id="20525" name="图片 61"/>
                  <p:cNvPicPr>
                    <a:picLocks noChangeAspect="1"/>
                  </p:cNvPicPr>
                  <p:nvPr/>
                </p:nvPicPr>
                <p:blipFill>
                  <a:blip r:embed="rId6"/>
                  <a:srcRect t="6744" b="7253"/>
                  <a:stretch>
                    <a:fillRect/>
                  </a:stretch>
                </p:blipFill>
                <p:spPr>
                  <a:xfrm rot="-5400000">
                    <a:off x="7161803" y="2838447"/>
                    <a:ext cx="411163" cy="33020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cxnSp>
                <p:nvCxnSpPr>
                  <p:cNvPr id="99" name="直接连接符 98"/>
                  <p:cNvCxnSpPr/>
                  <p:nvPr/>
                </p:nvCxnSpPr>
                <p:spPr bwMode="auto">
                  <a:xfrm>
                    <a:off x="7957528" y="3260797"/>
                    <a:ext cx="0" cy="1359977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接连接符 99"/>
                  <p:cNvCxnSpPr/>
                  <p:nvPr/>
                </p:nvCxnSpPr>
                <p:spPr bwMode="auto">
                  <a:xfrm>
                    <a:off x="7525603" y="3129084"/>
                    <a:ext cx="0" cy="576047"/>
                  </a:xfrm>
                  <a:prstGeom prst="line">
                    <a:avLst/>
                  </a:prstGeom>
                  <a:ln>
                    <a:solidFill>
                      <a:schemeClr val="accent1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接箭头连接符 100"/>
                  <p:cNvCxnSpPr/>
                  <p:nvPr/>
                </p:nvCxnSpPr>
                <p:spPr bwMode="auto">
                  <a:xfrm>
                    <a:off x="7489079" y="3555961"/>
                    <a:ext cx="295361" cy="0"/>
                  </a:xfrm>
                  <a:prstGeom prst="straightConnector1">
                    <a:avLst/>
                  </a:prstGeom>
                  <a:ln>
                    <a:solidFill>
                      <a:schemeClr val="accent1"/>
                    </a:solidFill>
                    <a:headEnd type="stealth" w="med" len="med"/>
                    <a:tailEnd type="stealth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29" name="文本框 21"/>
                  <p:cNvSpPr txBox="1"/>
                  <p:nvPr/>
                </p:nvSpPr>
                <p:spPr>
                  <a:xfrm>
                    <a:off x="6889062" y="3619924"/>
                    <a:ext cx="1131917" cy="32446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square" anchor="t" anchorCtr="0">
                    <a:spAutoFit/>
                  </a:bodyPr>
                  <a:p>
                    <a:pPr algn="ctr">
                      <a:buFontTx/>
                    </a:pPr>
                    <a:r>
                      <a:rPr lang="en-US" altLang="zh-CN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rPr>
                      <a:t>80</a:t>
                    </a:r>
                    <a:r>
                      <a:rPr lang="zh-CN" altLang="en-US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rPr>
                      <a:t>±</a:t>
                    </a:r>
                    <a:r>
                      <a:rPr lang="en-US" altLang="zh-CN" sz="10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rPr>
                      <a:t>10mm</a:t>
                    </a:r>
                    <a:endParaRPr lang="zh-CN" altLang="en-US" sz="1000" dirty="0">
                      <a:latin typeface="Arial" panose="020B0604020202020204" pitchFamily="34" charset="0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102" name="矩形 76"/>
                <p:cNvSpPr/>
                <p:nvPr/>
              </p:nvSpPr>
              <p:spPr>
                <a:xfrm flipH="1">
                  <a:off x="7785" y="3812"/>
                  <a:ext cx="1096" cy="32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背光源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cxnSp>
            <p:nvCxnSpPr>
              <p:cNvPr id="103" name="直接连接符 102"/>
              <p:cNvCxnSpPr/>
              <p:nvPr/>
            </p:nvCxnSpPr>
            <p:spPr bwMode="auto">
              <a:xfrm>
                <a:off x="8374" y="5220"/>
                <a:ext cx="5466" cy="0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箭头连接符 103"/>
              <p:cNvCxnSpPr/>
              <p:nvPr/>
            </p:nvCxnSpPr>
            <p:spPr bwMode="auto">
              <a:xfrm flipV="1">
                <a:off x="13569" y="4720"/>
                <a:ext cx="0" cy="453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5" name="文本框 23"/>
            <p:cNvSpPr txBox="1"/>
            <p:nvPr/>
          </p:nvSpPr>
          <p:spPr>
            <a:xfrm>
              <a:off x="12930" y="4380"/>
              <a:ext cx="1595" cy="5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>
              <a:lvl1pPr marL="228600" indent="-228600" algn="l" rtl="0" eaLnBrk="0" fontAlgn="base" hangingPunct="0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</a:pPr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60</a:t>
              </a:r>
              <a:r>
                <a: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±</a:t>
              </a:r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0mm</a:t>
              </a:r>
              <a:endPara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9143365" y="2525395"/>
            <a:ext cx="1969770" cy="2874699"/>
            <a:chOff x="14448" y="2792"/>
            <a:chExt cx="4443" cy="6592"/>
          </a:xfrm>
        </p:grpSpPr>
        <p:grpSp>
          <p:nvGrpSpPr>
            <p:cNvPr id="106" name="组合 105"/>
            <p:cNvGrpSpPr/>
            <p:nvPr/>
          </p:nvGrpSpPr>
          <p:grpSpPr>
            <a:xfrm>
              <a:off x="14589" y="7280"/>
              <a:ext cx="2339" cy="760"/>
              <a:chOff x="14589" y="7280"/>
              <a:chExt cx="2339" cy="760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14589" y="7280"/>
                <a:ext cx="2339" cy="76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矩形 107"/>
              <p:cNvSpPr/>
              <p:nvPr/>
            </p:nvSpPr>
            <p:spPr>
              <a:xfrm flipV="1">
                <a:off x="14590" y="7280"/>
                <a:ext cx="120" cy="7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矩形 108"/>
              <p:cNvSpPr/>
              <p:nvPr/>
            </p:nvSpPr>
            <p:spPr>
              <a:xfrm flipV="1">
                <a:off x="16808" y="7280"/>
                <a:ext cx="120" cy="73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0" name="组合 109"/>
            <p:cNvGrpSpPr/>
            <p:nvPr/>
          </p:nvGrpSpPr>
          <p:grpSpPr>
            <a:xfrm>
              <a:off x="14448" y="2797"/>
              <a:ext cx="496" cy="5892"/>
              <a:chOff x="14448" y="2565"/>
              <a:chExt cx="496" cy="6124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14448" y="7074"/>
                <a:ext cx="405" cy="1083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13" name="图片 2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448" y="3255"/>
                <a:ext cx="496" cy="13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114" name="直接连接符 113"/>
              <p:cNvCxnSpPr>
                <a:stCxn id="113" idx="2"/>
                <a:endCxn id="112" idx="1"/>
              </p:cNvCxnSpPr>
              <p:nvPr/>
            </p:nvCxnSpPr>
            <p:spPr>
              <a:xfrm flipH="1">
                <a:off x="14448" y="4645"/>
                <a:ext cx="248" cy="297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>
                <a:stCxn id="113" idx="2"/>
                <a:endCxn id="112" idx="3"/>
              </p:cNvCxnSpPr>
              <p:nvPr/>
            </p:nvCxnSpPr>
            <p:spPr>
              <a:xfrm>
                <a:off x="14696" y="4645"/>
                <a:ext cx="157" cy="297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flipH="1">
                <a:off x="14703" y="2565"/>
                <a:ext cx="0" cy="6124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矩形 8"/>
            <p:cNvSpPr/>
            <p:nvPr/>
          </p:nvSpPr>
          <p:spPr bwMode="auto">
            <a:xfrm flipH="1" flipV="1">
              <a:off x="16808" y="6773"/>
              <a:ext cx="864" cy="1068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8" name="矩形 8"/>
            <p:cNvSpPr/>
            <p:nvPr/>
          </p:nvSpPr>
          <p:spPr bwMode="auto">
            <a:xfrm flipH="1">
              <a:off x="14816" y="8175"/>
              <a:ext cx="823" cy="904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9" name="矩形 76"/>
            <p:cNvSpPr/>
            <p:nvPr/>
          </p:nvSpPr>
          <p:spPr bwMode="auto">
            <a:xfrm flipH="1">
              <a:off x="15496" y="8740"/>
              <a:ext cx="2645" cy="644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相机视野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50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x41mm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20" name="矩形 76"/>
            <p:cNvSpPr/>
            <p:nvPr/>
          </p:nvSpPr>
          <p:spPr bwMode="auto">
            <a:xfrm flipH="1">
              <a:off x="17652" y="6419"/>
              <a:ext cx="1239" cy="666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拍照区域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21" name="组合 120"/>
            <p:cNvGrpSpPr/>
            <p:nvPr/>
          </p:nvGrpSpPr>
          <p:grpSpPr>
            <a:xfrm>
              <a:off x="16553" y="2792"/>
              <a:ext cx="497" cy="5892"/>
              <a:chOff x="14448" y="2565"/>
              <a:chExt cx="497" cy="6124"/>
            </a:xfrm>
          </p:grpSpPr>
          <p:sp>
            <p:nvSpPr>
              <p:cNvPr id="122" name="矩形 121"/>
              <p:cNvSpPr/>
              <p:nvPr/>
            </p:nvSpPr>
            <p:spPr>
              <a:xfrm>
                <a:off x="14448" y="7096"/>
                <a:ext cx="497" cy="1060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23" name="图片 2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448" y="3255"/>
                <a:ext cx="496" cy="1390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cxnSp>
            <p:nvCxnSpPr>
              <p:cNvPr id="124" name="直接连接符 123"/>
              <p:cNvCxnSpPr>
                <a:stCxn id="123" idx="2"/>
                <a:endCxn id="122" idx="1"/>
              </p:cNvCxnSpPr>
              <p:nvPr/>
            </p:nvCxnSpPr>
            <p:spPr>
              <a:xfrm flipH="1">
                <a:off x="14448" y="4645"/>
                <a:ext cx="248" cy="298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>
                <a:stCxn id="123" idx="2"/>
                <a:endCxn id="122" idx="3"/>
              </p:cNvCxnSpPr>
              <p:nvPr/>
            </p:nvCxnSpPr>
            <p:spPr>
              <a:xfrm>
                <a:off x="14696" y="4645"/>
                <a:ext cx="249" cy="2981"/>
              </a:xfrm>
              <a:prstGeom prst="line">
                <a:avLst/>
              </a:prstGeom>
              <a:ln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 flipH="1">
                <a:off x="14703" y="2565"/>
                <a:ext cx="0" cy="6124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7" name="直接连接符 126"/>
            <p:cNvCxnSpPr/>
            <p:nvPr/>
          </p:nvCxnSpPr>
          <p:spPr>
            <a:xfrm flipV="1">
              <a:off x="14624" y="7668"/>
              <a:ext cx="2347" cy="1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8" name="文本框 15"/>
          <p:cNvSpPr txBox="1"/>
          <p:nvPr/>
        </p:nvSpPr>
        <p:spPr>
          <a:xfrm>
            <a:off x="4079875" y="5211445"/>
            <a:ext cx="552958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相机长边视野平行于产品入卷方向，相机上下、左右做可调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光源安装平行于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入卷方向，光源上下、左右角度可调；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入卷极片要在背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光源中心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buFont typeface="Wingdings" panose="05000000000000000000" charset="0"/>
              <a:buChar char="u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相机、光源安装要注意避免机构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干涉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930525" y="4104640"/>
            <a:ext cx="394970" cy="400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485265" y="4114165"/>
            <a:ext cx="39497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/>
                <a:gridCol w="6314253"/>
                <a:gridCol w="3136807"/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  <a:endParaRPr lang="zh-CN" altLang="en-US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视觉需求：检测</a:t>
                      </a:r>
                      <a:r>
                        <a:rPr 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收尾错位</a:t>
                      </a:r>
                      <a:endParaRPr 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极片兼容尺寸：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极片宽度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≤160mm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，极耳高度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10-40mm</a:t>
                      </a: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；极片长度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400~3000 mm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检测精度：±</a:t>
                      </a:r>
                      <a:r>
                        <a:rPr lang="en-US" alt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0.5mm</a:t>
                      </a: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，单像素精度</a:t>
                      </a:r>
                      <a:r>
                        <a:rPr lang="en-US" alt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/3=0.3mm/px</a:t>
                      </a:r>
                      <a:endParaRPr sz="1400" kern="12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indent="0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en-US" altLang="zh-CN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23888" y="908050"/>
            <a:ext cx="200818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五 卷绕收尾错位检测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0415" y="2420620"/>
            <a:ext cx="2794000" cy="1313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63208" y="797099"/>
            <a:ext cx="1619250" cy="30540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硬件选型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12"/>
          <p:cNvSpPr txBox="1"/>
          <p:nvPr/>
        </p:nvSpPr>
        <p:spPr>
          <a:xfrm>
            <a:off x="263525" y="2290980"/>
            <a:ext cx="1250315" cy="3056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工位五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卷绕收尾错位检测工位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26390" y="1189355"/>
          <a:ext cx="10994390" cy="1028065"/>
        </p:xfrm>
        <a:graphic>
          <a:graphicData uri="http://schemas.openxmlformats.org/drawingml/2006/table">
            <a:tbl>
              <a:tblPr/>
              <a:tblGrid>
                <a:gridCol w="1527175"/>
                <a:gridCol w="1014730"/>
                <a:gridCol w="1160780"/>
                <a:gridCol w="1276985"/>
                <a:gridCol w="1220470"/>
                <a:gridCol w="1164590"/>
                <a:gridCol w="1602740"/>
                <a:gridCol w="2026920"/>
              </a:tblGrid>
              <a:tr h="46228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设计视野（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像素精度（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mm/px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镜头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工作距离（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前光源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65785"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MV-CS032-60GC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2048*1536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60*45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0.03mm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38.6 fps 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FA3501C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316</a:t>
                      </a: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OPT-RSTLA8134-W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48" name="组合 47"/>
          <p:cNvGrpSpPr/>
          <p:nvPr>
            <p:custDataLst>
              <p:tags r:id="rId2"/>
            </p:custDataLst>
          </p:nvPr>
        </p:nvGrpSpPr>
        <p:grpSpPr>
          <a:xfrm>
            <a:off x="466725" y="2667635"/>
            <a:ext cx="3939151" cy="2955925"/>
            <a:chOff x="1154" y="2225"/>
            <a:chExt cx="5629" cy="5216"/>
          </a:xfrm>
        </p:grpSpPr>
        <p:grpSp>
          <p:nvGrpSpPr>
            <p:cNvPr id="43" name="组合 42"/>
            <p:cNvGrpSpPr/>
            <p:nvPr/>
          </p:nvGrpSpPr>
          <p:grpSpPr>
            <a:xfrm>
              <a:off x="1154" y="2225"/>
              <a:ext cx="5629" cy="5216"/>
              <a:chOff x="13115" y="2272"/>
              <a:chExt cx="5629" cy="5681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13115" y="2272"/>
                <a:ext cx="4097" cy="5681"/>
                <a:chOff x="609" y="2045"/>
                <a:chExt cx="4097" cy="5681"/>
              </a:xfrm>
            </p:grpSpPr>
            <p:grpSp>
              <p:nvGrpSpPr>
                <p:cNvPr id="12" name="组合 11"/>
                <p:cNvGrpSpPr/>
                <p:nvPr/>
              </p:nvGrpSpPr>
              <p:grpSpPr>
                <a:xfrm rot="0">
                  <a:off x="2342" y="2045"/>
                  <a:ext cx="654" cy="5146"/>
                  <a:chOff x="14448" y="2565"/>
                  <a:chExt cx="460" cy="6124"/>
                </a:xfrm>
              </p:grpSpPr>
              <p:pic>
                <p:nvPicPr>
                  <p:cNvPr id="13" name="图片 22"/>
                  <p:cNvPicPr>
                    <a:picLocks noChangeAspect="1"/>
                  </p:cNvPicPr>
                  <p:nvPr>
                    <p:custDataLst>
                      <p:tags r:id="rId3"/>
                    </p:custDataLst>
                  </p:nvPr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4530" y="3722"/>
                    <a:ext cx="323" cy="92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cxnSp>
                <p:nvCxnSpPr>
                  <p:cNvPr id="14" name="直接连接符 13"/>
                  <p:cNvCxnSpPr>
                    <a:stCxn id="13" idx="2"/>
                    <a:endCxn id="17" idx="1"/>
                  </p:cNvCxnSpPr>
                  <p:nvPr>
                    <p:custDataLst>
                      <p:tags r:id="rId5"/>
                    </p:custDataLst>
                  </p:nvPr>
                </p:nvCxnSpPr>
                <p:spPr>
                  <a:xfrm flipH="1">
                    <a:off x="14448" y="4645"/>
                    <a:ext cx="277" cy="3048"/>
                  </a:xfrm>
                  <a:prstGeom prst="line">
                    <a:avLst/>
                  </a:prstGeom>
                  <a:ln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接连接符 14"/>
                  <p:cNvCxnSpPr>
                    <a:stCxn id="13" idx="2"/>
                    <a:endCxn id="17" idx="3"/>
                  </p:cNvCxnSpPr>
                  <p:nvPr>
                    <p:custDataLst>
                      <p:tags r:id="rId6"/>
                    </p:custDataLst>
                  </p:nvPr>
                </p:nvCxnSpPr>
                <p:spPr>
                  <a:xfrm>
                    <a:off x="14725" y="4645"/>
                    <a:ext cx="183" cy="3048"/>
                  </a:xfrm>
                  <a:prstGeom prst="line">
                    <a:avLst/>
                  </a:prstGeom>
                  <a:ln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连接符 15"/>
                  <p:cNvCxnSpPr/>
                  <p:nvPr>
                    <p:custDataLst>
                      <p:tags r:id="rId7"/>
                    </p:custDataLst>
                  </p:nvPr>
                </p:nvCxnSpPr>
                <p:spPr>
                  <a:xfrm flipH="1">
                    <a:off x="14703" y="2565"/>
                    <a:ext cx="0" cy="6124"/>
                  </a:xfrm>
                  <a:prstGeom prst="line">
                    <a:avLst/>
                  </a:prstGeom>
                  <a:ln w="12700" cmpd="sng">
                    <a:solidFill>
                      <a:srgbClr val="FF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" name="矩形 1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448" y="7229"/>
                    <a:ext cx="460" cy="928"/>
                  </a:xfrm>
                  <a:prstGeom prst="rect">
                    <a:avLst/>
                  </a:prstGeom>
                  <a:noFill/>
                  <a:ln w="12700" cmpd="sng">
                    <a:solidFill>
                      <a:srgbClr val="FF0000"/>
                    </a:solidFill>
                    <a:prstDash val="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 sz="100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18" name="组合 17"/>
                <p:cNvGrpSpPr/>
                <p:nvPr/>
              </p:nvGrpSpPr>
              <p:grpSpPr>
                <a:xfrm>
                  <a:off x="609" y="4812"/>
                  <a:ext cx="4097" cy="2914"/>
                  <a:chOff x="609" y="4812"/>
                  <a:chExt cx="4097" cy="2914"/>
                </a:xfrm>
              </p:grpSpPr>
              <p:grpSp>
                <p:nvGrpSpPr>
                  <p:cNvPr id="19" name="组合 18"/>
                  <p:cNvGrpSpPr/>
                  <p:nvPr/>
                </p:nvGrpSpPr>
                <p:grpSpPr>
                  <a:xfrm rot="0">
                    <a:off x="1270" y="6183"/>
                    <a:ext cx="1613" cy="457"/>
                    <a:chOff x="12994" y="7280"/>
                    <a:chExt cx="2100" cy="765"/>
                  </a:xfrm>
                </p:grpSpPr>
                <p:sp>
                  <p:nvSpPr>
                    <p:cNvPr id="20" name="矩形 19"/>
                    <p:cNvSpPr/>
                    <p:nvPr>
                      <p:custDataLst>
                        <p:tags r:id="rId9"/>
                      </p:custDataLst>
                    </p:nvPr>
                  </p:nvSpPr>
                  <p:spPr>
                    <a:xfrm rot="10800000">
                      <a:off x="12994" y="7308"/>
                      <a:ext cx="1945" cy="737"/>
                    </a:xfrm>
                    <a:prstGeom prst="rect">
                      <a:avLst/>
                    </a:prstGeom>
                    <a:solidFill>
                      <a:schemeClr val="bg2">
                        <a:lumMod val="50000"/>
                      </a:schemeClr>
                    </a:solidFill>
                    <a:ln>
                      <a:solidFill>
                        <a:schemeClr val="bg2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  <p:sp>
                  <p:nvSpPr>
                    <p:cNvPr id="21" name="矩形 20"/>
                    <p:cNvSpPr/>
                    <p:nvPr>
                      <p:custDataLst>
                        <p:tags r:id="rId10"/>
                      </p:custDataLst>
                    </p:nvPr>
                  </p:nvSpPr>
                  <p:spPr>
                    <a:xfrm flipV="1">
                      <a:off x="14818" y="7280"/>
                      <a:ext cx="276" cy="737"/>
                    </a:xfrm>
                    <a:prstGeom prst="rect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 sz="1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p:txBody>
                </p:sp>
              </p:grpSp>
              <p:sp>
                <p:nvSpPr>
                  <p:cNvPr id="24" name="矩形 8"/>
                  <p:cNvSpPr/>
                  <p:nvPr>
                    <p:custDataLst>
                      <p:tags r:id="rId11"/>
                    </p:custDataLst>
                  </p:nvPr>
                </p:nvSpPr>
                <p:spPr bwMode="auto">
                  <a:xfrm>
                    <a:off x="1694" y="6354"/>
                    <a:ext cx="977" cy="806"/>
                  </a:xfrm>
                  <a:custGeom>
                    <a:avLst/>
                    <a:gdLst>
                      <a:gd name="connsiteX0" fmla="*/ 1395 w 1395"/>
                      <a:gd name="connsiteY0" fmla="*/ 0 h 3145"/>
                      <a:gd name="connsiteX1" fmla="*/ 707 w 1395"/>
                      <a:gd name="connsiteY1" fmla="*/ 3145 h 3145"/>
                      <a:gd name="connsiteX2" fmla="*/ 0 w 1395"/>
                      <a:gd name="connsiteY2" fmla="*/ 3145 h 3145"/>
                      <a:gd name="connsiteX0-1" fmla="*/ 9140 w 9140"/>
                      <a:gd name="connsiteY0-2" fmla="*/ 0 h 10000"/>
                      <a:gd name="connsiteX1-3" fmla="*/ 5068 w 9140"/>
                      <a:gd name="connsiteY1-4" fmla="*/ 10000 h 10000"/>
                      <a:gd name="connsiteX2-5" fmla="*/ 0 w 9140"/>
                      <a:gd name="connsiteY2-6" fmla="*/ 10000 h 10000"/>
                      <a:gd name="connsiteX0-7" fmla="*/ 10000 w 10000"/>
                      <a:gd name="connsiteY0-8" fmla="*/ 0 h 9322"/>
                      <a:gd name="connsiteX1-9" fmla="*/ 5545 w 10000"/>
                      <a:gd name="connsiteY1-10" fmla="*/ 9322 h 9322"/>
                      <a:gd name="connsiteX2-11" fmla="*/ 0 w 10000"/>
                      <a:gd name="connsiteY2-12" fmla="*/ 9322 h 9322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0000" h="9322">
                        <a:moveTo>
                          <a:pt x="10000" y="0"/>
                        </a:moveTo>
                        <a:lnTo>
                          <a:pt x="5545" y="9322"/>
                        </a:lnTo>
                        <a:lnTo>
                          <a:pt x="0" y="932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5" name="矩形 8"/>
                  <p:cNvSpPr/>
                  <p:nvPr>
                    <p:custDataLst>
                      <p:tags r:id="rId12"/>
                    </p:custDataLst>
                  </p:nvPr>
                </p:nvSpPr>
                <p:spPr bwMode="auto">
                  <a:xfrm flipH="1">
                    <a:off x="2764" y="6744"/>
                    <a:ext cx="775" cy="789"/>
                  </a:xfrm>
                  <a:custGeom>
                    <a:avLst/>
                    <a:gdLst>
                      <a:gd name="connsiteX0" fmla="*/ 1395 w 1395"/>
                      <a:gd name="connsiteY0" fmla="*/ 0 h 3145"/>
                      <a:gd name="connsiteX1" fmla="*/ 707 w 1395"/>
                      <a:gd name="connsiteY1" fmla="*/ 3145 h 3145"/>
                      <a:gd name="connsiteX2" fmla="*/ 0 w 1395"/>
                      <a:gd name="connsiteY2" fmla="*/ 3145 h 3145"/>
                      <a:gd name="connsiteX0-1" fmla="*/ 9140 w 9140"/>
                      <a:gd name="connsiteY0-2" fmla="*/ 0 h 10000"/>
                      <a:gd name="connsiteX1-3" fmla="*/ 5068 w 9140"/>
                      <a:gd name="connsiteY1-4" fmla="*/ 10000 h 10000"/>
                      <a:gd name="connsiteX2-5" fmla="*/ 0 w 9140"/>
                      <a:gd name="connsiteY2-6" fmla="*/ 10000 h 10000"/>
                      <a:gd name="connsiteX0-7" fmla="*/ 10000 w 10000"/>
                      <a:gd name="connsiteY0-8" fmla="*/ 0 h 9322"/>
                      <a:gd name="connsiteX1-9" fmla="*/ 5545 w 10000"/>
                      <a:gd name="connsiteY1-10" fmla="*/ 9322 h 9322"/>
                      <a:gd name="connsiteX2-11" fmla="*/ 0 w 10000"/>
                      <a:gd name="connsiteY2-12" fmla="*/ 9322 h 9322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10000" h="9322">
                        <a:moveTo>
                          <a:pt x="10000" y="0"/>
                        </a:moveTo>
                        <a:lnTo>
                          <a:pt x="5545" y="9322"/>
                        </a:lnTo>
                        <a:lnTo>
                          <a:pt x="0" y="9322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6" name="矩形 76"/>
                  <p:cNvSpPr/>
                  <p:nvPr>
                    <p:custDataLst>
                      <p:tags r:id="rId13"/>
                    </p:custDataLst>
                  </p:nvPr>
                </p:nvSpPr>
                <p:spPr bwMode="auto">
                  <a:xfrm flipH="1">
                    <a:off x="3350" y="7159"/>
                    <a:ext cx="1356" cy="56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相机视野</a:t>
                    </a: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rPr>
                      <a:t>60x45mm</a:t>
                    </a:r>
                    <a:endPara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endParaRPr>
                  </a:p>
                </p:txBody>
              </p:sp>
              <p:sp>
                <p:nvSpPr>
                  <p:cNvPr id="27" name="矩形 76"/>
                  <p:cNvSpPr/>
                  <p:nvPr>
                    <p:custDataLst>
                      <p:tags r:id="rId14"/>
                    </p:custDataLst>
                  </p:nvPr>
                </p:nvSpPr>
                <p:spPr bwMode="auto">
                  <a:xfrm flipH="1">
                    <a:off x="609" y="6987"/>
                    <a:ext cx="1168" cy="34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p>
                    <a:pPr marL="0" marR="0" lvl="0" indent="0" algn="ctr" defTabSz="4572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收尾边</a:t>
                    </a:r>
                    <a:endPara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pic>
                <p:nvPicPr>
                  <p:cNvPr id="30" name="图片 29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16" cstate="print"/>
                  <a:srcRect t="6745" b="7252"/>
                  <a:stretch>
                    <a:fillRect/>
                  </a:stretch>
                </p:blipFill>
                <p:spPr>
                  <a:xfrm rot="3600000">
                    <a:off x="4095" y="5067"/>
                    <a:ext cx="816" cy="306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35" name="直接连接符 34"/>
              <p:cNvCxnSpPr/>
              <p:nvPr>
                <p:custDataLst>
                  <p:tags r:id="rId17"/>
                </p:custDataLst>
              </p:nvPr>
            </p:nvCxnSpPr>
            <p:spPr>
              <a:xfrm flipH="1">
                <a:off x="14764" y="5117"/>
                <a:ext cx="2653" cy="1916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13909" y="6393"/>
                <a:ext cx="3509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13796" y="4020"/>
                <a:ext cx="3509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>
                <p:custDataLst>
                  <p:tags r:id="rId20"/>
                </p:custDataLst>
              </p:nvPr>
            </p:nvCxnSpPr>
            <p:spPr bwMode="auto">
              <a:xfrm flipH="1">
                <a:off x="15210" y="5444"/>
                <a:ext cx="1544" cy="1106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14363" y="4076"/>
                <a:ext cx="0" cy="223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6" name="文本框 2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3349" y="4946"/>
                <a:ext cx="1241" cy="7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316</a:t>
                </a: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±</a:t>
                </a:r>
                <a:endParaRPr lang="zh-CN" altLang="en-US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10mm</a:t>
                </a:r>
                <a:endPara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47" name="矩形 8"/>
              <p:cNvSpPr/>
              <p:nvPr/>
            </p:nvSpPr>
            <p:spPr>
              <a:xfrm flipH="1" flipV="1">
                <a:off x="17212" y="5394"/>
                <a:ext cx="662" cy="167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50964 w 650964"/>
                  <a:gd name="connsiteY0-86" fmla="*/ 0 h 208326"/>
                  <a:gd name="connsiteX1-87" fmla="*/ 419026 w 650964"/>
                  <a:gd name="connsiteY1-88" fmla="*/ 208325 h 208326"/>
                  <a:gd name="connsiteX2-89" fmla="*/ 0 w 650964"/>
                  <a:gd name="connsiteY2-90" fmla="*/ 208326 h 208326"/>
                  <a:gd name="connsiteX0-91" fmla="*/ 1004915 w 1004915"/>
                  <a:gd name="connsiteY0-92" fmla="*/ 0 h 515484"/>
                  <a:gd name="connsiteX1-93" fmla="*/ 419026 w 1004915"/>
                  <a:gd name="connsiteY1-94" fmla="*/ 515483 h 515484"/>
                  <a:gd name="connsiteX2-95" fmla="*/ 0 w 1004915"/>
                  <a:gd name="connsiteY2-96" fmla="*/ 515484 h 515484"/>
                  <a:gd name="connsiteX0-97" fmla="*/ 578863 w 578863"/>
                  <a:gd name="connsiteY0-98" fmla="*/ 0 h 445202"/>
                  <a:gd name="connsiteX1-99" fmla="*/ 419026 w 578863"/>
                  <a:gd name="connsiteY1-100" fmla="*/ 445201 h 445202"/>
                  <a:gd name="connsiteX2-101" fmla="*/ 0 w 578863"/>
                  <a:gd name="connsiteY2-102" fmla="*/ 445202 h 445202"/>
                  <a:gd name="connsiteX0-1-1" fmla="*/ 578863 w 578863"/>
                  <a:gd name="connsiteY0-2-2" fmla="*/ 0 h 157784"/>
                  <a:gd name="connsiteX1-3-3" fmla="*/ 419026 w 578863"/>
                  <a:gd name="connsiteY1-4-4" fmla="*/ 157783 h 157784"/>
                  <a:gd name="connsiteX2-5-5" fmla="*/ 0 w 578863"/>
                  <a:gd name="connsiteY2-6-6" fmla="*/ 157784 h 157784"/>
                </a:gdLst>
                <a:ahLst/>
                <a:cxnLst>
                  <a:cxn ang="0">
                    <a:pos x="connsiteX0-1-1" y="connsiteY0-2-2"/>
                  </a:cxn>
                  <a:cxn ang="0">
                    <a:pos x="connsiteX1-3-3" y="connsiteY1-4-4"/>
                  </a:cxn>
                  <a:cxn ang="0">
                    <a:pos x="connsiteX2-5-5" y="connsiteY2-6-6"/>
                  </a:cxn>
                </a:cxnLst>
                <a:rect l="l" t="t" r="r" b="b"/>
                <a:pathLst>
                  <a:path w="578863" h="157784">
                    <a:moveTo>
                      <a:pt x="578863" y="0"/>
                    </a:moveTo>
                    <a:lnTo>
                      <a:pt x="419026" y="157783"/>
                    </a:lnTo>
                    <a:lnTo>
                      <a:pt x="0" y="15778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矩形 76"/>
              <p:cNvSpPr/>
              <p:nvPr>
                <p:custDataLst>
                  <p:tags r:id="rId23"/>
                </p:custDataLst>
              </p:nvPr>
            </p:nvSpPr>
            <p:spPr>
              <a:xfrm flipH="1">
                <a:off x="17796" y="5255"/>
                <a:ext cx="948" cy="263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光源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50" name="矩形 8"/>
              <p:cNvSpPr/>
              <p:nvPr>
                <p:custDataLst>
                  <p:tags r:id="rId24"/>
                </p:custDataLst>
              </p:nvPr>
            </p:nvSpPr>
            <p:spPr>
              <a:xfrm flipV="1">
                <a:off x="14363" y="3134"/>
                <a:ext cx="764" cy="364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矩形 76"/>
              <p:cNvSpPr/>
              <p:nvPr>
                <p:custDataLst>
                  <p:tags r:id="rId25"/>
                </p:custDataLst>
              </p:nvPr>
            </p:nvSpPr>
            <p:spPr>
              <a:xfrm flipH="1">
                <a:off x="13682" y="3018"/>
                <a:ext cx="849" cy="291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相机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63" name="文本框 23"/>
            <p:cNvSpPr txBox="1"/>
            <p:nvPr>
              <p:custDataLst>
                <p:tags r:id="rId26"/>
              </p:custDataLst>
            </p:nvPr>
          </p:nvSpPr>
          <p:spPr>
            <a:xfrm>
              <a:off x="3620" y="4722"/>
              <a:ext cx="1142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>
                <a:buFontTx/>
              </a:pPr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160±</a:t>
              </a:r>
              <a:endPara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algn="ctr">
                <a:buFontTx/>
              </a:pPr>
              <a:r>
                <a: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10mm</a:t>
              </a:r>
              <a:endPara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4458335" y="2806700"/>
            <a:ext cx="2972435" cy="1849324"/>
            <a:chOff x="7190" y="3033"/>
            <a:chExt cx="5100" cy="3204"/>
          </a:xfrm>
        </p:grpSpPr>
        <p:pic>
          <p:nvPicPr>
            <p:cNvPr id="65" name="图片 64"/>
            <p:cNvPicPr>
              <a:picLocks noChangeAspect="1"/>
            </p:cNvPicPr>
            <p:nvPr/>
          </p:nvPicPr>
          <p:blipFill>
            <a:blip r:embed="rId16" cstate="print"/>
            <a:srcRect t="6745" b="7252"/>
            <a:stretch>
              <a:fillRect/>
            </a:stretch>
          </p:blipFill>
          <p:spPr>
            <a:xfrm rot="6660000">
              <a:off x="9969" y="4768"/>
              <a:ext cx="509" cy="411"/>
            </a:xfrm>
            <a:prstGeom prst="rect">
              <a:avLst/>
            </a:prstGeom>
          </p:spPr>
        </p:pic>
        <p:grpSp>
          <p:nvGrpSpPr>
            <p:cNvPr id="20503" name="组合 89"/>
            <p:cNvGrpSpPr/>
            <p:nvPr/>
          </p:nvGrpSpPr>
          <p:grpSpPr>
            <a:xfrm rot="0">
              <a:off x="7190" y="3033"/>
              <a:ext cx="5100" cy="3204"/>
              <a:chOff x="7206422" y="2194376"/>
              <a:chExt cx="3650026" cy="2564596"/>
            </a:xfrm>
          </p:grpSpPr>
          <p:pic>
            <p:nvPicPr>
              <p:cNvPr id="20504" name="图片 22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855426" y="2895596"/>
                <a:ext cx="717586" cy="341473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6" name="椭圆 65"/>
              <p:cNvSpPr/>
              <p:nvPr/>
            </p:nvSpPr>
            <p:spPr bwMode="auto">
              <a:xfrm>
                <a:off x="7764677" y="2889281"/>
                <a:ext cx="192985" cy="63973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67" name="直接连接符 66"/>
              <p:cNvCxnSpPr/>
              <p:nvPr/>
            </p:nvCxnSpPr>
            <p:spPr bwMode="auto">
              <a:xfrm>
                <a:off x="9836625" y="3084623"/>
                <a:ext cx="4763" cy="162975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 bwMode="auto">
              <a:xfrm>
                <a:off x="9282884" y="3487851"/>
                <a:ext cx="0" cy="576046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/>
              <p:cNvCxnSpPr/>
              <p:nvPr/>
            </p:nvCxnSpPr>
            <p:spPr bwMode="auto">
              <a:xfrm flipV="1">
                <a:off x="7992463" y="4345913"/>
                <a:ext cx="1771346" cy="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12" name="文本框 21"/>
              <p:cNvSpPr txBox="1"/>
              <p:nvPr/>
            </p:nvSpPr>
            <p:spPr>
              <a:xfrm>
                <a:off x="8087061" y="4419060"/>
                <a:ext cx="1588812" cy="339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316</a:t>
                </a:r>
                <a:r>
                  <a:rPr lang="zh-CN" altLang="en-US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±</a:t>
                </a: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10mm</a:t>
                </a:r>
                <a:endPara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70" name="直接箭头连接符 69"/>
              <p:cNvCxnSpPr/>
              <p:nvPr/>
            </p:nvCxnSpPr>
            <p:spPr bwMode="auto">
              <a:xfrm>
                <a:off x="7963619" y="3710256"/>
                <a:ext cx="1276793" cy="16811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headEnd type="stealth" w="med" len="med"/>
                <a:tailEnd type="stealth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514" name="文本框 23"/>
              <p:cNvSpPr txBox="1"/>
              <p:nvPr/>
            </p:nvSpPr>
            <p:spPr>
              <a:xfrm>
                <a:off x="8022824" y="3778579"/>
                <a:ext cx="1236689" cy="339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algn="ctr">
                  <a:buFontTx/>
                </a:pPr>
                <a:r>
                  <a:rPr lang="en-US" altLang="zh-CN" sz="10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160±10mm</a:t>
                </a:r>
                <a:endParaRPr lang="en-US" altLang="zh-CN" sz="1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</p:txBody>
          </p:sp>
          <p:grpSp>
            <p:nvGrpSpPr>
              <p:cNvPr id="20515" name="组合 33"/>
              <p:cNvGrpSpPr/>
              <p:nvPr/>
            </p:nvGrpSpPr>
            <p:grpSpPr>
              <a:xfrm flipV="1">
                <a:off x="7878123" y="2194376"/>
                <a:ext cx="737507" cy="761283"/>
                <a:chOff x="3886352" y="3622599"/>
                <a:chExt cx="1168020" cy="934703"/>
              </a:xfrm>
            </p:grpSpPr>
            <p:sp>
              <p:nvSpPr>
                <p:cNvPr id="71" name="矩形 8"/>
                <p:cNvSpPr/>
                <p:nvPr/>
              </p:nvSpPr>
              <p:spPr>
                <a:xfrm flipH="1">
                  <a:off x="3886352" y="3622599"/>
                  <a:ext cx="385787" cy="757870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矩形 76"/>
                <p:cNvSpPr/>
                <p:nvPr/>
              </p:nvSpPr>
              <p:spPr>
                <a:xfrm flipH="1" flipV="1">
                  <a:off x="4216905" y="4290372"/>
                  <a:ext cx="837467" cy="26693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电芯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cxnSp>
            <p:nvCxnSpPr>
              <p:cNvPr id="75" name="直接连接符 74"/>
              <p:cNvCxnSpPr/>
              <p:nvPr/>
            </p:nvCxnSpPr>
            <p:spPr bwMode="auto">
              <a:xfrm>
                <a:off x="7206422" y="3057674"/>
                <a:ext cx="3650026" cy="0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19" name="组合 47"/>
              <p:cNvGrpSpPr/>
              <p:nvPr/>
            </p:nvGrpSpPr>
            <p:grpSpPr>
              <a:xfrm flipV="1">
                <a:off x="10164347" y="2514292"/>
                <a:ext cx="633721" cy="518802"/>
                <a:chOff x="-3686000" y="2961855"/>
                <a:chExt cx="1077044" cy="507266"/>
              </a:xfrm>
            </p:grpSpPr>
            <p:sp>
              <p:nvSpPr>
                <p:cNvPr id="76" name="矩形 8"/>
                <p:cNvSpPr/>
                <p:nvPr/>
              </p:nvSpPr>
              <p:spPr>
                <a:xfrm flipH="1">
                  <a:off x="-3686000" y="2961855"/>
                  <a:ext cx="693599" cy="425143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 flipH="1" flipV="1">
                  <a:off x="-3375423" y="3251895"/>
                  <a:ext cx="766467" cy="21722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相机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20522" name="组合 50"/>
              <p:cNvGrpSpPr/>
              <p:nvPr/>
            </p:nvGrpSpPr>
            <p:grpSpPr>
              <a:xfrm flipV="1">
                <a:off x="9483455" y="3934644"/>
                <a:ext cx="1174230" cy="302591"/>
                <a:chOff x="-4037538" y="3399719"/>
                <a:chExt cx="1861939" cy="305229"/>
              </a:xfrm>
            </p:grpSpPr>
            <p:sp>
              <p:nvSpPr>
                <p:cNvPr id="78" name="矩形 8"/>
                <p:cNvSpPr/>
                <p:nvPr/>
              </p:nvSpPr>
              <p:spPr>
                <a:xfrm flipH="1" flipV="1">
                  <a:off x="-4037538" y="3529724"/>
                  <a:ext cx="920362" cy="175224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矩形 76"/>
                <p:cNvSpPr/>
                <p:nvPr/>
              </p:nvSpPr>
              <p:spPr>
                <a:xfrm flipH="1" flipV="1">
                  <a:off x="-3136459" y="3399719"/>
                  <a:ext cx="960860" cy="24331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光源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p:grpSp>
          <p:cxnSp>
            <p:nvCxnSpPr>
              <p:cNvPr id="82" name="直接连接符 81"/>
              <p:cNvCxnSpPr/>
              <p:nvPr/>
            </p:nvCxnSpPr>
            <p:spPr bwMode="auto">
              <a:xfrm>
                <a:off x="7957528" y="3260797"/>
                <a:ext cx="0" cy="1359977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直接连接符 79"/>
            <p:cNvCxnSpPr/>
            <p:nvPr/>
          </p:nvCxnSpPr>
          <p:spPr bwMode="auto">
            <a:xfrm>
              <a:off x="7672" y="3877"/>
              <a:ext cx="3177" cy="1284"/>
            </a:xfrm>
            <a:prstGeom prst="line">
              <a:avLst/>
            </a:prstGeom>
            <a:ln w="12700" cmpd="sng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/>
          <p:cNvGrpSpPr/>
          <p:nvPr/>
        </p:nvGrpSpPr>
        <p:grpSpPr>
          <a:xfrm>
            <a:off x="8011160" y="2790190"/>
            <a:ext cx="2968625" cy="1785620"/>
            <a:chOff x="12548" y="2678"/>
            <a:chExt cx="5227" cy="3296"/>
          </a:xfrm>
        </p:grpSpPr>
        <p:grpSp>
          <p:nvGrpSpPr>
            <p:cNvPr id="83" name="组合 82"/>
            <p:cNvGrpSpPr/>
            <p:nvPr/>
          </p:nvGrpSpPr>
          <p:grpSpPr>
            <a:xfrm>
              <a:off x="14360" y="3991"/>
              <a:ext cx="2264" cy="651"/>
              <a:chOff x="10052" y="6063"/>
              <a:chExt cx="1952" cy="404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0208" y="6063"/>
                <a:ext cx="1797" cy="40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 flipV="1">
                <a:off x="10052" y="6063"/>
                <a:ext cx="156" cy="40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 rot="0">
              <a:off x="13079" y="2779"/>
              <a:ext cx="4696" cy="2994"/>
              <a:chOff x="2811" y="2920"/>
              <a:chExt cx="5121" cy="3224"/>
            </a:xfrm>
          </p:grpSpPr>
          <p:sp>
            <p:nvSpPr>
              <p:cNvPr id="87" name="矩形 8"/>
              <p:cNvSpPr/>
              <p:nvPr/>
            </p:nvSpPr>
            <p:spPr bwMode="auto">
              <a:xfrm>
                <a:off x="2811" y="5192"/>
                <a:ext cx="1236" cy="952"/>
              </a:xfrm>
              <a:custGeom>
                <a:avLst/>
                <a:gdLst>
                  <a:gd name="connsiteX0" fmla="*/ 0 w 854003"/>
                  <a:gd name="connsiteY0" fmla="*/ 0 h 854003"/>
                  <a:gd name="connsiteX1" fmla="*/ 854003 w 854003"/>
                  <a:gd name="connsiteY1" fmla="*/ 0 h 854003"/>
                  <a:gd name="connsiteX2" fmla="*/ 854003 w 854003"/>
                  <a:gd name="connsiteY2" fmla="*/ 854003 h 854003"/>
                  <a:gd name="connsiteX3" fmla="*/ 0 w 854003"/>
                  <a:gd name="connsiteY3" fmla="*/ 854003 h 854003"/>
                  <a:gd name="connsiteX4" fmla="*/ 0 w 854003"/>
                  <a:gd name="connsiteY4" fmla="*/ 0 h 854003"/>
                  <a:gd name="connsiteX0-1" fmla="*/ 0 w 854003"/>
                  <a:gd name="connsiteY0-2" fmla="*/ 0 h 854003"/>
                  <a:gd name="connsiteX1-3" fmla="*/ 854003 w 854003"/>
                  <a:gd name="connsiteY1-4" fmla="*/ 0 h 854003"/>
                  <a:gd name="connsiteX2-5" fmla="*/ 854003 w 854003"/>
                  <a:gd name="connsiteY2-6" fmla="*/ 854003 h 854003"/>
                  <a:gd name="connsiteX3-7" fmla="*/ 0 w 854003"/>
                  <a:gd name="connsiteY3-8" fmla="*/ 854003 h 854003"/>
                  <a:gd name="connsiteX4-9" fmla="*/ 91440 w 854003"/>
                  <a:gd name="connsiteY4-10" fmla="*/ 91440 h 854003"/>
                  <a:gd name="connsiteX0-11" fmla="*/ 854003 w 854003"/>
                  <a:gd name="connsiteY0-12" fmla="*/ 0 h 854003"/>
                  <a:gd name="connsiteX1-13" fmla="*/ 854003 w 854003"/>
                  <a:gd name="connsiteY1-14" fmla="*/ 854003 h 854003"/>
                  <a:gd name="connsiteX2-15" fmla="*/ 0 w 854003"/>
                  <a:gd name="connsiteY2-16" fmla="*/ 854003 h 854003"/>
                  <a:gd name="connsiteX3-17" fmla="*/ 91440 w 854003"/>
                  <a:gd name="connsiteY3-18" fmla="*/ 91440 h 854003"/>
                  <a:gd name="connsiteX0-19" fmla="*/ 854003 w 854003"/>
                  <a:gd name="connsiteY0-20" fmla="*/ 0 h 854003"/>
                  <a:gd name="connsiteX1-21" fmla="*/ 854003 w 854003"/>
                  <a:gd name="connsiteY1-22" fmla="*/ 854003 h 854003"/>
                  <a:gd name="connsiteX2-23" fmla="*/ 0 w 854003"/>
                  <a:gd name="connsiteY2-24" fmla="*/ 854003 h 854003"/>
                  <a:gd name="connsiteX0-25" fmla="*/ 1019595 w 1019595"/>
                  <a:gd name="connsiteY0-26" fmla="*/ 0 h 72953"/>
                  <a:gd name="connsiteX1-27" fmla="*/ 854003 w 1019595"/>
                  <a:gd name="connsiteY1-28" fmla="*/ 72953 h 72953"/>
                  <a:gd name="connsiteX2-29" fmla="*/ 0 w 1019595"/>
                  <a:gd name="connsiteY2-30" fmla="*/ 72953 h 72953"/>
                  <a:gd name="connsiteX0-31" fmla="*/ 1049223 w 1049223"/>
                  <a:gd name="connsiteY0-32" fmla="*/ 0 h 306315"/>
                  <a:gd name="connsiteX1-33" fmla="*/ 854003 w 1049223"/>
                  <a:gd name="connsiteY1-34" fmla="*/ 306315 h 306315"/>
                  <a:gd name="connsiteX2-35" fmla="*/ 0 w 1049223"/>
                  <a:gd name="connsiteY2-36" fmla="*/ 306315 h 306315"/>
                  <a:gd name="connsiteX0-37" fmla="*/ 1054161 w 1054161"/>
                  <a:gd name="connsiteY0-38" fmla="*/ 0 h 325365"/>
                  <a:gd name="connsiteX1-39" fmla="*/ 854003 w 1054161"/>
                  <a:gd name="connsiteY1-40" fmla="*/ 325365 h 325365"/>
                  <a:gd name="connsiteX2-41" fmla="*/ 0 w 1054161"/>
                  <a:gd name="connsiteY2-42" fmla="*/ 325365 h 325365"/>
                  <a:gd name="connsiteX0-43" fmla="*/ 1038427 w 1038427"/>
                  <a:gd name="connsiteY0-44" fmla="*/ 0 h 302685"/>
                  <a:gd name="connsiteX1-45" fmla="*/ 854003 w 1038427"/>
                  <a:gd name="connsiteY1-46" fmla="*/ 302685 h 302685"/>
                  <a:gd name="connsiteX2-47" fmla="*/ 0 w 1038427"/>
                  <a:gd name="connsiteY2-48" fmla="*/ 302685 h 302685"/>
                  <a:gd name="connsiteX0-49" fmla="*/ 736399 w 736399"/>
                  <a:gd name="connsiteY0-50" fmla="*/ 0 h 302685"/>
                  <a:gd name="connsiteX1-51" fmla="*/ 551975 w 736399"/>
                  <a:gd name="connsiteY1-52" fmla="*/ 302685 h 302685"/>
                  <a:gd name="connsiteX2-53" fmla="*/ 0 w 736399"/>
                  <a:gd name="connsiteY2-54" fmla="*/ 301872 h 302685"/>
                  <a:gd name="connsiteX0-55" fmla="*/ 687641 w 687641"/>
                  <a:gd name="connsiteY0-56" fmla="*/ 0 h 220527"/>
                  <a:gd name="connsiteX1-57" fmla="*/ 551975 w 687641"/>
                  <a:gd name="connsiteY1-58" fmla="*/ 220527 h 220527"/>
                  <a:gd name="connsiteX2-59" fmla="*/ 0 w 687641"/>
                  <a:gd name="connsiteY2-60" fmla="*/ 219714 h 220527"/>
                  <a:gd name="connsiteX0-61" fmla="*/ 747234 w 747234"/>
                  <a:gd name="connsiteY0-62" fmla="*/ 0 h 220527"/>
                  <a:gd name="connsiteX1-63" fmla="*/ 611568 w 747234"/>
                  <a:gd name="connsiteY1-64" fmla="*/ 220527 h 220527"/>
                  <a:gd name="connsiteX2-65" fmla="*/ 0 w 747234"/>
                  <a:gd name="connsiteY2-66" fmla="*/ 219714 h 220527"/>
                  <a:gd name="connsiteX0-67" fmla="*/ 548547 w 548547"/>
                  <a:gd name="connsiteY0-68" fmla="*/ 0 h 220528"/>
                  <a:gd name="connsiteX1-69" fmla="*/ 412881 w 548547"/>
                  <a:gd name="connsiteY1-70" fmla="*/ 220527 h 220528"/>
                  <a:gd name="connsiteX2-71" fmla="*/ 0 w 548547"/>
                  <a:gd name="connsiteY2-72" fmla="*/ 220528 h 220528"/>
                  <a:gd name="connsiteX0-73" fmla="*/ 657109 w 657109"/>
                  <a:gd name="connsiteY0-74" fmla="*/ 0 h 52144"/>
                  <a:gd name="connsiteX1-75" fmla="*/ 412881 w 657109"/>
                  <a:gd name="connsiteY1-76" fmla="*/ 52143 h 52144"/>
                  <a:gd name="connsiteX2-77" fmla="*/ 0 w 657109"/>
                  <a:gd name="connsiteY2-78" fmla="*/ 52144 h 52144"/>
                  <a:gd name="connsiteX0-79" fmla="*/ 663254 w 663254"/>
                  <a:gd name="connsiteY0-80" fmla="*/ 0 h 52144"/>
                  <a:gd name="connsiteX1-81" fmla="*/ 419026 w 663254"/>
                  <a:gd name="connsiteY1-82" fmla="*/ 52143 h 52144"/>
                  <a:gd name="connsiteX2-83" fmla="*/ 0 w 663254"/>
                  <a:gd name="connsiteY2-84" fmla="*/ 52144 h 52144"/>
                  <a:gd name="connsiteX0-85" fmla="*/ 650964 w 650964"/>
                  <a:gd name="connsiteY0-86" fmla="*/ 0 h 208326"/>
                  <a:gd name="connsiteX1-87" fmla="*/ 419026 w 650964"/>
                  <a:gd name="connsiteY1-88" fmla="*/ 208325 h 208326"/>
                  <a:gd name="connsiteX2-89" fmla="*/ 0 w 650964"/>
                  <a:gd name="connsiteY2-90" fmla="*/ 208326 h 208326"/>
                  <a:gd name="connsiteX0-1-1" fmla="*/ 563569 w 563569"/>
                  <a:gd name="connsiteY0-2-2" fmla="*/ 0 h 202903"/>
                  <a:gd name="connsiteX1-3-3" fmla="*/ 419026 w 563569"/>
                  <a:gd name="connsiteY1-4-4" fmla="*/ 202902 h 202903"/>
                  <a:gd name="connsiteX2-5-5" fmla="*/ 0 w 563569"/>
                  <a:gd name="connsiteY2-6-6" fmla="*/ 202903 h 202903"/>
                  <a:gd name="connsiteX0-7" fmla="*/ 592701 w 592701"/>
                  <a:gd name="connsiteY0-8" fmla="*/ 0 h 260748"/>
                  <a:gd name="connsiteX1-9" fmla="*/ 419026 w 592701"/>
                  <a:gd name="connsiteY1-10" fmla="*/ 260747 h 260748"/>
                  <a:gd name="connsiteX2-11" fmla="*/ 0 w 592701"/>
                  <a:gd name="connsiteY2-12" fmla="*/ 260748 h 260748"/>
                </a:gdLst>
                <a:ahLst/>
                <a:cxnLst>
                  <a:cxn ang="0">
                    <a:pos x="connsiteX0-1-1" y="connsiteY0-2-2"/>
                  </a:cxn>
                  <a:cxn ang="0">
                    <a:pos x="connsiteX1-3-3" y="connsiteY1-4-4"/>
                  </a:cxn>
                  <a:cxn ang="0">
                    <a:pos x="connsiteX2-5-5" y="connsiteY2-6-6"/>
                  </a:cxn>
                </a:cxnLst>
                <a:rect l="l" t="t" r="r" b="b"/>
                <a:pathLst>
                  <a:path w="592701" h="260748">
                    <a:moveTo>
                      <a:pt x="592701" y="0"/>
                    </a:moveTo>
                    <a:lnTo>
                      <a:pt x="419026" y="260747"/>
                    </a:lnTo>
                    <a:lnTo>
                      <a:pt x="0" y="26074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" name="矩形 8"/>
              <p:cNvSpPr/>
              <p:nvPr/>
            </p:nvSpPr>
            <p:spPr>
              <a:xfrm flipH="1">
                <a:off x="5570" y="4869"/>
                <a:ext cx="942" cy="657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125" name="直接连接符 124"/>
              <p:cNvCxnSpPr/>
              <p:nvPr/>
            </p:nvCxnSpPr>
            <p:spPr>
              <a:xfrm>
                <a:off x="4424" y="2920"/>
                <a:ext cx="0" cy="2949"/>
              </a:xfrm>
              <a:prstGeom prst="line">
                <a:avLst/>
              </a:prstGeom>
              <a:ln w="12700" cmpd="sng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图片 74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 rot="5400000">
                <a:off x="4184" y="4266"/>
                <a:ext cx="601" cy="62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</a:ln>
            </p:spPr>
          </p:pic>
          <p:sp>
            <p:nvSpPr>
              <p:cNvPr id="88" name="矩形 76"/>
              <p:cNvSpPr/>
              <p:nvPr/>
            </p:nvSpPr>
            <p:spPr bwMode="auto">
              <a:xfrm flipH="1">
                <a:off x="6067" y="5376"/>
                <a:ext cx="1865" cy="472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卷针上电芯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89" name="矩形 88"/>
            <p:cNvSpPr/>
            <p:nvPr/>
          </p:nvSpPr>
          <p:spPr>
            <a:xfrm>
              <a:off x="14055" y="3830"/>
              <a:ext cx="1081" cy="1008"/>
            </a:xfrm>
            <a:prstGeom prst="rect">
              <a:avLst/>
            </a:prstGeom>
            <a:noFill/>
            <a:ln w="12700" cmpd="sng">
              <a:solidFill>
                <a:srgbClr val="FF0000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矩形 8"/>
            <p:cNvSpPr/>
            <p:nvPr/>
          </p:nvSpPr>
          <p:spPr bwMode="auto">
            <a:xfrm flipV="1">
              <a:off x="13564" y="2797"/>
              <a:ext cx="977" cy="397"/>
            </a:xfrm>
            <a:custGeom>
              <a:avLst/>
              <a:gdLst>
                <a:gd name="connsiteX0" fmla="*/ 1395 w 1395"/>
                <a:gd name="connsiteY0" fmla="*/ 0 h 3145"/>
                <a:gd name="connsiteX1" fmla="*/ 707 w 1395"/>
                <a:gd name="connsiteY1" fmla="*/ 3145 h 3145"/>
                <a:gd name="connsiteX2" fmla="*/ 0 w 1395"/>
                <a:gd name="connsiteY2" fmla="*/ 3145 h 3145"/>
                <a:gd name="connsiteX0-1" fmla="*/ 9140 w 9140"/>
                <a:gd name="connsiteY0-2" fmla="*/ 0 h 10000"/>
                <a:gd name="connsiteX1-3" fmla="*/ 5068 w 9140"/>
                <a:gd name="connsiteY1-4" fmla="*/ 10000 h 10000"/>
                <a:gd name="connsiteX2-5" fmla="*/ 0 w 9140"/>
                <a:gd name="connsiteY2-6" fmla="*/ 10000 h 10000"/>
                <a:gd name="connsiteX0-7" fmla="*/ 10000 w 10000"/>
                <a:gd name="connsiteY0-8" fmla="*/ 0 h 9322"/>
                <a:gd name="connsiteX1-9" fmla="*/ 5545 w 10000"/>
                <a:gd name="connsiteY1-10" fmla="*/ 9322 h 9322"/>
                <a:gd name="connsiteX2-11" fmla="*/ 0 w 10000"/>
                <a:gd name="connsiteY2-12" fmla="*/ 9322 h 932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322">
                  <a:moveTo>
                    <a:pt x="10000" y="0"/>
                  </a:moveTo>
                  <a:lnTo>
                    <a:pt x="5545" y="9322"/>
                  </a:lnTo>
                  <a:lnTo>
                    <a:pt x="0" y="9322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矩形 76"/>
            <p:cNvSpPr/>
            <p:nvPr/>
          </p:nvSpPr>
          <p:spPr bwMode="auto">
            <a:xfrm flipH="1">
              <a:off x="13192" y="2678"/>
              <a:ext cx="1168" cy="320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收尾边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3" name="矩形 76"/>
            <p:cNvSpPr/>
            <p:nvPr/>
          </p:nvSpPr>
          <p:spPr bwMode="auto">
            <a:xfrm flipH="1">
              <a:off x="12548" y="5400"/>
              <a:ext cx="1356" cy="574"/>
            </a:xfrm>
            <a:prstGeom prst="roundRect">
              <a:avLst>
                <a:gd name="adj" fmla="val 50000"/>
              </a:avLst>
            </a:prstGeom>
            <a:solidFill>
              <a:srgbClr val="BDD7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相机视野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60x45mm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94" name="文本框 15"/>
          <p:cNvSpPr txBox="1"/>
          <p:nvPr/>
        </p:nvSpPr>
        <p:spPr>
          <a:xfrm>
            <a:off x="4223385" y="4909820"/>
            <a:ext cx="6490335" cy="1085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短边视野垂直于产品走带方向，相机拍照区域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电芯收尾边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光源与拍照物角度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°以内，距离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10mm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lnSpc>
                <a:spcPct val="120000"/>
              </a:lnSpc>
              <a:buFont typeface="Wingdings" panose="05000000000000000000" charset="0"/>
              <a:buChar char="u"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机构必须保证相机每次拍摄角度一致，拍摄电芯区域一致，相机垂直于电芯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°拍摄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eaLnBrk="0" hangingPunct="0">
              <a:buFont typeface="Wingdings" panose="05000000000000000000" charset="0"/>
              <a:buChar char="u"/>
            </a:pP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弧形 94"/>
          <p:cNvSpPr/>
          <p:nvPr/>
        </p:nvSpPr>
        <p:spPr>
          <a:xfrm>
            <a:off x="2552065" y="4655820"/>
            <a:ext cx="159385" cy="356870"/>
          </a:xfrm>
          <a:prstGeom prst="arc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23"/>
          <p:cNvSpPr txBox="1"/>
          <p:nvPr>
            <p:custDataLst>
              <p:tags r:id="rId29"/>
            </p:custDataLst>
          </p:nvPr>
        </p:nvSpPr>
        <p:spPr>
          <a:xfrm>
            <a:off x="2574290" y="4575810"/>
            <a:ext cx="516255" cy="2451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buFontTx/>
            </a:pP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</a:t>
            </a:r>
            <a:r>
              <a:rPr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°</a:t>
            </a:r>
            <a:endParaRPr lang="zh-CN" altLang="en-US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638175" y="1603375"/>
          <a:ext cx="10710863" cy="4335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803"/>
                <a:gridCol w="6314253"/>
                <a:gridCol w="3136807"/>
              </a:tblGrid>
              <a:tr h="433546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项目需求</a:t>
                      </a:r>
                      <a:endParaRPr lang="zh-CN" altLang="en-US"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35999" marR="35999" marT="35993" marB="359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视觉需求：</a:t>
                      </a:r>
                      <a:r>
                        <a:rPr 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在压扁电芯后对电芯边距、中心距、宽度、极耳胶高、极耳倾斜角度等进行检测</a:t>
                      </a:r>
                      <a:endParaRPr 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视野要求：电芯宽度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30-120mm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，极耳高度</a:t>
                      </a: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10-40mm</a:t>
                      </a:r>
                      <a:endParaRPr lang="en-US" altLang="zh-CN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相机要求：海康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检测精度：</a:t>
                      </a:r>
                      <a:r>
                        <a:rPr sz="1400" b="0" kern="1200" spc="13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±0.05mm，单像素精度0.1/3=0.03mm/px</a:t>
                      </a:r>
                      <a:endParaRPr sz="1400" b="0" kern="1200" spc="13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附件区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        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17491" marR="317491" marT="35993" marB="3599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23888" y="908050"/>
            <a:ext cx="1989138" cy="37623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工站需求和功能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工位六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下料尺寸检测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025" y="2204720"/>
            <a:ext cx="2794000" cy="13138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8990" y="3932555"/>
            <a:ext cx="2592705" cy="10439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63208" y="797099"/>
            <a:ext cx="1619250" cy="30540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硬件选型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26720" y="1215390"/>
          <a:ext cx="11389995" cy="927100"/>
        </p:xfrm>
        <a:graphic>
          <a:graphicData uri="http://schemas.openxmlformats.org/drawingml/2006/table">
            <a:tbl>
              <a:tblPr/>
              <a:tblGrid>
                <a:gridCol w="1537970"/>
                <a:gridCol w="1115060"/>
                <a:gridCol w="1275080"/>
                <a:gridCol w="1402080"/>
                <a:gridCol w="1339850"/>
                <a:gridCol w="1280160"/>
                <a:gridCol w="1760220"/>
                <a:gridCol w="1679575"/>
              </a:tblGrid>
              <a:tr h="462280"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相机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6858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分辨率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设计视野（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像素精度（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mm/px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帧率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行频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镜头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工作距离（</a:t>
                      </a:r>
                      <a:r>
                        <a:rPr lang="en-US" altLang="zh-CN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mm</a:t>
                      </a: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457200" lvl="1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2pPr>
                      <a:lvl3pPr marL="914400" lvl="2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3pPr>
                      <a:lvl4pPr marL="1371600" lvl="3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4pPr>
                      <a:lvl5pPr marL="1828800" lvl="4" indent="0" algn="l" defTabSz="4572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200" b="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背光源</a:t>
                      </a:r>
                      <a:endParaRPr lang="zh-CN" altLang="en-US" sz="1200" b="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64820"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MV-CS200-10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UM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5472*3648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131*87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0.024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19.2 fps 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FA3516A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356</a:t>
                      </a: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±</a:t>
                      </a: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10mm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lvl="0" algn="ctr" defTabSz="914400" eaLnBrk="1" hangingPunct="1">
                        <a:buNone/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OPT-RSBLP15088-W</a:t>
                      </a:r>
                      <a:endParaRPr lang="en-US" altLang="zh-CN" sz="1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993" marR="47993" marT="47994" marB="47994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文本框 12"/>
          <p:cNvSpPr txBox="1"/>
          <p:nvPr/>
        </p:nvSpPr>
        <p:spPr>
          <a:xfrm>
            <a:off x="263525" y="2290980"/>
            <a:ext cx="1250315" cy="3056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0" sz="140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安装示意图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工位六</a:t>
            </a:r>
            <a:r>
              <a:rPr kumimoji="0" lang="en-US" altLang="zh-CN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下料尺寸检测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工位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227079" y="2839085"/>
            <a:ext cx="3021331" cy="2662476"/>
            <a:chOff x="1365" y="3925"/>
            <a:chExt cx="5172" cy="4785"/>
          </a:xfrm>
        </p:grpSpPr>
        <p:grpSp>
          <p:nvGrpSpPr>
            <p:cNvPr id="23577" name="组合 119"/>
            <p:cNvGrpSpPr/>
            <p:nvPr/>
          </p:nvGrpSpPr>
          <p:grpSpPr>
            <a:xfrm rot="10800000">
              <a:off x="1365" y="3925"/>
              <a:ext cx="5172" cy="4785"/>
              <a:chOff x="256154" y="1704801"/>
              <a:chExt cx="3283292" cy="3038059"/>
            </a:xfrm>
          </p:grpSpPr>
          <p:pic>
            <p:nvPicPr>
              <p:cNvPr id="23578" name="图片 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3050" y="1704801"/>
                <a:ext cx="328465" cy="89058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" name="矩形 5"/>
              <p:cNvSpPr/>
              <p:nvPr/>
            </p:nvSpPr>
            <p:spPr>
              <a:xfrm>
                <a:off x="1414863" y="4365087"/>
                <a:ext cx="576180" cy="4603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23581" name="组合 21"/>
              <p:cNvGrpSpPr/>
              <p:nvPr/>
            </p:nvGrpSpPr>
            <p:grpSpPr>
              <a:xfrm>
                <a:off x="534657" y="3876582"/>
                <a:ext cx="907980" cy="489544"/>
                <a:chOff x="534657" y="3876582"/>
                <a:chExt cx="907980" cy="489544"/>
              </a:xfrm>
            </p:grpSpPr>
            <p:sp>
              <p:nvSpPr>
                <p:cNvPr id="7" name="矩形 8"/>
                <p:cNvSpPr/>
                <p:nvPr/>
              </p:nvSpPr>
              <p:spPr bwMode="auto">
                <a:xfrm flipV="1">
                  <a:off x="965664" y="4026996"/>
                  <a:ext cx="476182" cy="339679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" name="矩形 76"/>
                <p:cNvSpPr/>
                <p:nvPr/>
              </p:nvSpPr>
              <p:spPr bwMode="auto">
                <a:xfrm rot="10800000" flipH="1">
                  <a:off x="533926" y="3876204"/>
                  <a:ext cx="528562" cy="21587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产品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23584" name="组合 22"/>
              <p:cNvGrpSpPr/>
              <p:nvPr/>
            </p:nvGrpSpPr>
            <p:grpSpPr>
              <a:xfrm>
                <a:off x="256154" y="4526960"/>
                <a:ext cx="1093615" cy="215900"/>
                <a:chOff x="534657" y="3876582"/>
                <a:chExt cx="1093615" cy="215900"/>
              </a:xfrm>
            </p:grpSpPr>
            <p:sp>
              <p:nvSpPr>
                <p:cNvPr id="9" name="矩形 8"/>
                <p:cNvSpPr/>
                <p:nvPr/>
              </p:nvSpPr>
              <p:spPr bwMode="auto">
                <a:xfrm>
                  <a:off x="966395" y="3911532"/>
                  <a:ext cx="661893" cy="114284"/>
                </a:xfrm>
                <a:custGeom>
                  <a:avLst/>
                  <a:gdLst>
                    <a:gd name="connsiteX0" fmla="*/ 0 w 854003"/>
                    <a:gd name="connsiteY0" fmla="*/ 0 h 854003"/>
                    <a:gd name="connsiteX1" fmla="*/ 854003 w 854003"/>
                    <a:gd name="connsiteY1" fmla="*/ 0 h 854003"/>
                    <a:gd name="connsiteX2" fmla="*/ 854003 w 854003"/>
                    <a:gd name="connsiteY2" fmla="*/ 854003 h 854003"/>
                    <a:gd name="connsiteX3" fmla="*/ 0 w 854003"/>
                    <a:gd name="connsiteY3" fmla="*/ 854003 h 854003"/>
                    <a:gd name="connsiteX4" fmla="*/ 0 w 854003"/>
                    <a:gd name="connsiteY4" fmla="*/ 0 h 854003"/>
                    <a:gd name="connsiteX0-1" fmla="*/ 0 w 854003"/>
                    <a:gd name="connsiteY0-2" fmla="*/ 0 h 854003"/>
                    <a:gd name="connsiteX1-3" fmla="*/ 854003 w 854003"/>
                    <a:gd name="connsiteY1-4" fmla="*/ 0 h 854003"/>
                    <a:gd name="connsiteX2-5" fmla="*/ 854003 w 854003"/>
                    <a:gd name="connsiteY2-6" fmla="*/ 854003 h 854003"/>
                    <a:gd name="connsiteX3-7" fmla="*/ 0 w 854003"/>
                    <a:gd name="connsiteY3-8" fmla="*/ 854003 h 854003"/>
                    <a:gd name="connsiteX4-9" fmla="*/ 91440 w 854003"/>
                    <a:gd name="connsiteY4-10" fmla="*/ 91440 h 854003"/>
                    <a:gd name="connsiteX0-11" fmla="*/ 854003 w 854003"/>
                    <a:gd name="connsiteY0-12" fmla="*/ 0 h 854003"/>
                    <a:gd name="connsiteX1-13" fmla="*/ 854003 w 854003"/>
                    <a:gd name="connsiteY1-14" fmla="*/ 854003 h 854003"/>
                    <a:gd name="connsiteX2-15" fmla="*/ 0 w 854003"/>
                    <a:gd name="connsiteY2-16" fmla="*/ 854003 h 854003"/>
                    <a:gd name="connsiteX3-17" fmla="*/ 91440 w 854003"/>
                    <a:gd name="connsiteY3-18" fmla="*/ 91440 h 854003"/>
                    <a:gd name="connsiteX0-19" fmla="*/ 854003 w 854003"/>
                    <a:gd name="connsiteY0-20" fmla="*/ 0 h 854003"/>
                    <a:gd name="connsiteX1-21" fmla="*/ 854003 w 854003"/>
                    <a:gd name="connsiteY1-22" fmla="*/ 854003 h 854003"/>
                    <a:gd name="connsiteX2-23" fmla="*/ 0 w 854003"/>
                    <a:gd name="connsiteY2-24" fmla="*/ 854003 h 854003"/>
                    <a:gd name="connsiteX0-25" fmla="*/ 1019595 w 1019595"/>
                    <a:gd name="connsiteY0-26" fmla="*/ 0 h 72953"/>
                    <a:gd name="connsiteX1-27" fmla="*/ 854003 w 1019595"/>
                    <a:gd name="connsiteY1-28" fmla="*/ 72953 h 72953"/>
                    <a:gd name="connsiteX2-29" fmla="*/ 0 w 1019595"/>
                    <a:gd name="connsiteY2-30" fmla="*/ 72953 h 72953"/>
                    <a:gd name="connsiteX0-31" fmla="*/ 1049223 w 1049223"/>
                    <a:gd name="connsiteY0-32" fmla="*/ 0 h 306315"/>
                    <a:gd name="connsiteX1-33" fmla="*/ 854003 w 1049223"/>
                    <a:gd name="connsiteY1-34" fmla="*/ 306315 h 306315"/>
                    <a:gd name="connsiteX2-35" fmla="*/ 0 w 1049223"/>
                    <a:gd name="connsiteY2-36" fmla="*/ 306315 h 306315"/>
                    <a:gd name="connsiteX0-37" fmla="*/ 1054161 w 1054161"/>
                    <a:gd name="connsiteY0-38" fmla="*/ 0 h 325365"/>
                    <a:gd name="connsiteX1-39" fmla="*/ 854003 w 1054161"/>
                    <a:gd name="connsiteY1-40" fmla="*/ 325365 h 325365"/>
                    <a:gd name="connsiteX2-41" fmla="*/ 0 w 1054161"/>
                    <a:gd name="connsiteY2-42" fmla="*/ 325365 h 325365"/>
                    <a:gd name="connsiteX0-43" fmla="*/ 1038427 w 1038427"/>
                    <a:gd name="connsiteY0-44" fmla="*/ 0 h 302685"/>
                    <a:gd name="connsiteX1-45" fmla="*/ 854003 w 1038427"/>
                    <a:gd name="connsiteY1-46" fmla="*/ 302685 h 302685"/>
                    <a:gd name="connsiteX2-47" fmla="*/ 0 w 1038427"/>
                    <a:gd name="connsiteY2-48" fmla="*/ 302685 h 302685"/>
                    <a:gd name="connsiteX0-49" fmla="*/ 736399 w 736399"/>
                    <a:gd name="connsiteY0-50" fmla="*/ 0 h 302685"/>
                    <a:gd name="connsiteX1-51" fmla="*/ 551975 w 736399"/>
                    <a:gd name="connsiteY1-52" fmla="*/ 302685 h 302685"/>
                    <a:gd name="connsiteX2-53" fmla="*/ 0 w 736399"/>
                    <a:gd name="connsiteY2-54" fmla="*/ 301872 h 302685"/>
                    <a:gd name="connsiteX0-55" fmla="*/ 687641 w 687641"/>
                    <a:gd name="connsiteY0-56" fmla="*/ 0 h 220527"/>
                    <a:gd name="connsiteX1-57" fmla="*/ 551975 w 687641"/>
                    <a:gd name="connsiteY1-58" fmla="*/ 220527 h 220527"/>
                    <a:gd name="connsiteX2-59" fmla="*/ 0 w 687641"/>
                    <a:gd name="connsiteY2-60" fmla="*/ 219714 h 220527"/>
                    <a:gd name="connsiteX0-61" fmla="*/ 747234 w 747234"/>
                    <a:gd name="connsiteY0-62" fmla="*/ 0 h 220527"/>
                    <a:gd name="connsiteX1-63" fmla="*/ 611568 w 747234"/>
                    <a:gd name="connsiteY1-64" fmla="*/ 220527 h 220527"/>
                    <a:gd name="connsiteX2-65" fmla="*/ 0 w 747234"/>
                    <a:gd name="connsiteY2-66" fmla="*/ 219714 h 220527"/>
                    <a:gd name="connsiteX0-67" fmla="*/ 548547 w 548547"/>
                    <a:gd name="connsiteY0-68" fmla="*/ 0 h 220528"/>
                    <a:gd name="connsiteX1-69" fmla="*/ 412881 w 548547"/>
                    <a:gd name="connsiteY1-70" fmla="*/ 220527 h 220528"/>
                    <a:gd name="connsiteX2-71" fmla="*/ 0 w 548547"/>
                    <a:gd name="connsiteY2-72" fmla="*/ 220528 h 220528"/>
                    <a:gd name="connsiteX0-73" fmla="*/ 657109 w 657109"/>
                    <a:gd name="connsiteY0-74" fmla="*/ 0 h 52144"/>
                    <a:gd name="connsiteX1-75" fmla="*/ 412881 w 657109"/>
                    <a:gd name="connsiteY1-76" fmla="*/ 52143 h 52144"/>
                    <a:gd name="connsiteX2-77" fmla="*/ 0 w 657109"/>
                    <a:gd name="connsiteY2-78" fmla="*/ 52144 h 52144"/>
                    <a:gd name="connsiteX0-79" fmla="*/ 663254 w 663254"/>
                    <a:gd name="connsiteY0-80" fmla="*/ 0 h 52144"/>
                    <a:gd name="connsiteX1-81" fmla="*/ 419026 w 663254"/>
                    <a:gd name="connsiteY1-82" fmla="*/ 52143 h 52144"/>
                    <a:gd name="connsiteX2-83" fmla="*/ 0 w 663254"/>
                    <a:gd name="connsiteY2-84" fmla="*/ 52144 h 52144"/>
                    <a:gd name="connsiteX0-85" fmla="*/ 630481 w 630481"/>
                    <a:gd name="connsiteY0-86" fmla="*/ 0 h 253879"/>
                    <a:gd name="connsiteX1-87" fmla="*/ 419026 w 630481"/>
                    <a:gd name="connsiteY1-88" fmla="*/ 253878 h 253879"/>
                    <a:gd name="connsiteX2-89" fmla="*/ 0 w 630481"/>
                    <a:gd name="connsiteY2-90" fmla="*/ 253879 h 253879"/>
                    <a:gd name="connsiteX0-91" fmla="*/ 663254 w 663254"/>
                    <a:gd name="connsiteY0-92" fmla="*/ 0 h 297263"/>
                    <a:gd name="connsiteX1-93" fmla="*/ 419026 w 663254"/>
                    <a:gd name="connsiteY1-94" fmla="*/ 297262 h 297263"/>
                    <a:gd name="connsiteX2-95" fmla="*/ 0 w 663254"/>
                    <a:gd name="connsiteY2-96" fmla="*/ 297263 h 297263"/>
                    <a:gd name="connsiteX0-97" fmla="*/ 581321 w 581321"/>
                    <a:gd name="connsiteY0-98" fmla="*/ 0 h 300517"/>
                    <a:gd name="connsiteX1-99" fmla="*/ 419026 w 581321"/>
                    <a:gd name="connsiteY1-100" fmla="*/ 300516 h 300517"/>
                    <a:gd name="connsiteX2-101" fmla="*/ 0 w 581321"/>
                    <a:gd name="connsiteY2-102" fmla="*/ 300517 h 300517"/>
                    <a:gd name="connsiteX0-103" fmla="*/ 581321 w 581321"/>
                    <a:gd name="connsiteY0-104" fmla="*/ 0 h 300517"/>
                    <a:gd name="connsiteX1-105" fmla="*/ 386252 w 581321"/>
                    <a:gd name="connsiteY1-106" fmla="*/ 300516 h 300517"/>
                    <a:gd name="connsiteX2-107" fmla="*/ 0 w 581321"/>
                    <a:gd name="connsiteY2-108" fmla="*/ 300517 h 300517"/>
                    <a:gd name="connsiteX0-109" fmla="*/ 646867 w 646867"/>
                    <a:gd name="connsiteY0-110" fmla="*/ 0 h 385116"/>
                    <a:gd name="connsiteX1-111" fmla="*/ 386252 w 646867"/>
                    <a:gd name="connsiteY1-112" fmla="*/ 385115 h 385116"/>
                    <a:gd name="connsiteX2-113" fmla="*/ 0 w 646867"/>
                    <a:gd name="connsiteY2-114" fmla="*/ 385116 h 38511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</a:cxnLst>
                  <a:rect l="l" t="t" r="r" b="b"/>
                  <a:pathLst>
                    <a:path w="646867" h="385116">
                      <a:moveTo>
                        <a:pt x="646867" y="0"/>
                      </a:moveTo>
                      <a:lnTo>
                        <a:pt x="386252" y="385115"/>
                      </a:lnTo>
                      <a:lnTo>
                        <a:pt x="0" y="385116"/>
                      </a:lnTo>
                    </a:path>
                  </a:pathLst>
                </a:custGeom>
                <a:noFill/>
                <a:ln w="9525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2" name="矩形 76"/>
                <p:cNvSpPr/>
                <p:nvPr/>
              </p:nvSpPr>
              <p:spPr bwMode="auto">
                <a:xfrm rot="10800000" flipH="1">
                  <a:off x="534657" y="3876612"/>
                  <a:ext cx="528562" cy="21587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BDD7EE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背光</a:t>
                  </a:r>
                  <a:endPara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cxnSp>
            <p:nvCxnSpPr>
              <p:cNvPr id="51" name="直接连接符 50"/>
              <p:cNvCxnSpPr>
                <a:stCxn id="23578" idx="2"/>
              </p:cNvCxnSpPr>
              <p:nvPr/>
            </p:nvCxnSpPr>
            <p:spPr>
              <a:xfrm>
                <a:off x="1706922" y="2595267"/>
                <a:ext cx="136505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>
                <a:stCxn id="6" idx="3"/>
              </p:cNvCxnSpPr>
              <p:nvPr/>
            </p:nvCxnSpPr>
            <p:spPr>
              <a:xfrm>
                <a:off x="1991043" y="4387309"/>
                <a:ext cx="936491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箭头连接符 58"/>
              <p:cNvCxnSpPr/>
              <p:nvPr/>
            </p:nvCxnSpPr>
            <p:spPr>
              <a:xfrm flipH="1">
                <a:off x="2440242" y="2630187"/>
                <a:ext cx="0" cy="173489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90" name="文本框 13311"/>
              <p:cNvSpPr txBox="1"/>
              <p:nvPr/>
            </p:nvSpPr>
            <p:spPr>
              <a:xfrm rot="10800000">
                <a:off x="2284922" y="3306839"/>
                <a:ext cx="1000583" cy="2796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eaLnBrk="0" hangingPunct="0">
                  <a:buFontTx/>
                </a:pPr>
                <a:r>
                  <a:rPr lang="en-US" altLang="zh-CN" sz="1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356±10mm</a:t>
                </a:r>
                <a:endPara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2" name="直接连接符 61"/>
              <p:cNvCxnSpPr/>
              <p:nvPr/>
            </p:nvCxnSpPr>
            <p:spPr>
              <a:xfrm>
                <a:off x="2118344" y="4499054"/>
                <a:ext cx="50388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箭头连接符 72"/>
              <p:cNvCxnSpPr/>
              <p:nvPr/>
            </p:nvCxnSpPr>
            <p:spPr>
              <a:xfrm flipV="1">
                <a:off x="2567224" y="4444451"/>
                <a:ext cx="0" cy="11111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93" name="文本框 13311"/>
              <p:cNvSpPr txBox="1"/>
              <p:nvPr/>
            </p:nvSpPr>
            <p:spPr>
              <a:xfrm rot="10800000">
                <a:off x="2622360" y="4348056"/>
                <a:ext cx="917086" cy="2796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p>
                <a:pPr eaLnBrk="0" hangingPunct="0">
                  <a:buFontTx/>
                </a:pPr>
                <a:r>
                  <a:rPr lang="en-US" altLang="zh-CN" sz="1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</a:t>
                </a:r>
                <a:r>
                  <a:rPr lang="zh-CN" altLang="en-US" sz="1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±</a:t>
                </a:r>
                <a:r>
                  <a:rPr lang="en-US" altLang="zh-CN" sz="1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5mm</a:t>
                </a:r>
                <a:endParaRPr lang="en-US" altLang="zh-CN" sz="1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 cstate="print"/>
            <a:srcRect l="4870" t="25134" r="4940" b="12567"/>
            <a:stretch>
              <a:fillRect/>
            </a:stretch>
          </p:blipFill>
          <p:spPr>
            <a:xfrm rot="10800000">
              <a:off x="3250" y="3925"/>
              <a:ext cx="1967" cy="388"/>
            </a:xfrm>
            <a:prstGeom prst="rect">
              <a:avLst/>
            </a:prstGeom>
          </p:spPr>
        </p:pic>
      </p:grpSp>
      <p:sp>
        <p:nvSpPr>
          <p:cNvPr id="23554" name="文本框 49"/>
          <p:cNvSpPr txBox="1"/>
          <p:nvPr/>
        </p:nvSpPr>
        <p:spPr>
          <a:xfrm>
            <a:off x="4177665" y="5372735"/>
            <a:ext cx="3381375" cy="6451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FontTx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r>
              <a: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、相机安装方向要如图所示；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Tx/>
            </a:pPr>
            <a:endParaRPr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926580" y="2828925"/>
            <a:ext cx="3473450" cy="2286000"/>
            <a:chOff x="9746" y="4188"/>
            <a:chExt cx="5470" cy="3600"/>
          </a:xfrm>
        </p:grpSpPr>
        <p:grpSp>
          <p:nvGrpSpPr>
            <p:cNvPr id="61" name="组合 60"/>
            <p:cNvGrpSpPr/>
            <p:nvPr/>
          </p:nvGrpSpPr>
          <p:grpSpPr>
            <a:xfrm>
              <a:off x="9746" y="4188"/>
              <a:ext cx="5471" cy="3600"/>
              <a:chOff x="7365" y="4440"/>
              <a:chExt cx="5471" cy="3600"/>
            </a:xfrm>
          </p:grpSpPr>
          <p:grpSp>
            <p:nvGrpSpPr>
              <p:cNvPr id="23594" name="组合 118"/>
              <p:cNvGrpSpPr/>
              <p:nvPr/>
            </p:nvGrpSpPr>
            <p:grpSpPr>
              <a:xfrm rot="0">
                <a:off x="7365" y="4440"/>
                <a:ext cx="3935" cy="3600"/>
                <a:chOff x="3303998" y="2010579"/>
                <a:chExt cx="2499381" cy="2284937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3894703" y="2629416"/>
                  <a:ext cx="1697483" cy="866372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4161473" y="3032454"/>
                  <a:ext cx="1182997" cy="866372"/>
                </a:xfrm>
                <a:prstGeom prst="rect">
                  <a:avLst/>
                </a:prstGeom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4342496" y="2751597"/>
                  <a:ext cx="160379" cy="28244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4926849" y="2751597"/>
                  <a:ext cx="160379" cy="28244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4572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000" i="0" u="none" strike="noStrike" kern="1200" cap="none" spc="0" normalizeH="0" baseline="0" noProof="0">
                    <a:ln>
                      <a:noFill/>
                    </a:ln>
                    <a:solidFill>
                      <a:schemeClr val="lt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grpSp>
              <p:nvGrpSpPr>
                <p:cNvPr id="23600" name="组合 84"/>
                <p:cNvGrpSpPr/>
                <p:nvPr/>
              </p:nvGrpSpPr>
              <p:grpSpPr>
                <a:xfrm>
                  <a:off x="3303998" y="2042144"/>
                  <a:ext cx="634441" cy="639598"/>
                  <a:chOff x="534657" y="3876582"/>
                  <a:chExt cx="634441" cy="639598"/>
                </a:xfrm>
              </p:grpSpPr>
              <p:sp>
                <p:nvSpPr>
                  <p:cNvPr id="38" name="矩形 8"/>
                  <p:cNvSpPr/>
                  <p:nvPr/>
                </p:nvSpPr>
                <p:spPr bwMode="auto">
                  <a:xfrm flipV="1">
                    <a:off x="968158" y="3986239"/>
                    <a:ext cx="201666" cy="529978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39" name="矩形 76"/>
                  <p:cNvSpPr/>
                  <p:nvPr/>
                </p:nvSpPr>
                <p:spPr bwMode="auto">
                  <a:xfrm flipH="1">
                    <a:off x="534657" y="3876752"/>
                    <a:ext cx="528776" cy="21579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背光</a:t>
                    </a:r>
                    <a:endPara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3603" name="组合 112"/>
                <p:cNvGrpSpPr/>
                <p:nvPr/>
              </p:nvGrpSpPr>
              <p:grpSpPr>
                <a:xfrm>
                  <a:off x="3344770" y="3798331"/>
                  <a:ext cx="1007368" cy="497185"/>
                  <a:chOff x="534657" y="3595297"/>
                  <a:chExt cx="1007368" cy="497185"/>
                </a:xfrm>
              </p:grpSpPr>
              <p:sp>
                <p:nvSpPr>
                  <p:cNvPr id="52" name="矩形 8"/>
                  <p:cNvSpPr/>
                  <p:nvPr/>
                </p:nvSpPr>
                <p:spPr bwMode="auto">
                  <a:xfrm>
                    <a:off x="967084" y="3595826"/>
                    <a:ext cx="574826" cy="430012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3" name="矩形 76"/>
                  <p:cNvSpPr/>
                  <p:nvPr/>
                </p:nvSpPr>
                <p:spPr bwMode="auto">
                  <a:xfrm flipH="1">
                    <a:off x="535171" y="3876682"/>
                    <a:ext cx="528776" cy="215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产品</a:t>
                    </a:r>
                    <a:endPara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3606" name="组合 115"/>
                <p:cNvGrpSpPr/>
                <p:nvPr/>
              </p:nvGrpSpPr>
              <p:grpSpPr>
                <a:xfrm>
                  <a:off x="4748430" y="2010579"/>
                  <a:ext cx="1054949" cy="1201537"/>
                  <a:chOff x="306025" y="3902826"/>
                  <a:chExt cx="1054949" cy="1201537"/>
                </a:xfrm>
              </p:grpSpPr>
              <p:sp>
                <p:nvSpPr>
                  <p:cNvPr id="54" name="矩形 8"/>
                  <p:cNvSpPr/>
                  <p:nvPr/>
                </p:nvSpPr>
                <p:spPr bwMode="auto">
                  <a:xfrm flipH="1" flipV="1">
                    <a:off x="306597" y="4026593"/>
                    <a:ext cx="660573" cy="1077412"/>
                  </a:xfrm>
                  <a:custGeom>
                    <a:avLst/>
                    <a:gdLst>
                      <a:gd name="connsiteX0" fmla="*/ 0 w 854003"/>
                      <a:gd name="connsiteY0" fmla="*/ 0 h 854003"/>
                      <a:gd name="connsiteX1" fmla="*/ 854003 w 854003"/>
                      <a:gd name="connsiteY1" fmla="*/ 0 h 854003"/>
                      <a:gd name="connsiteX2" fmla="*/ 854003 w 854003"/>
                      <a:gd name="connsiteY2" fmla="*/ 854003 h 854003"/>
                      <a:gd name="connsiteX3" fmla="*/ 0 w 854003"/>
                      <a:gd name="connsiteY3" fmla="*/ 854003 h 854003"/>
                      <a:gd name="connsiteX4" fmla="*/ 0 w 854003"/>
                      <a:gd name="connsiteY4" fmla="*/ 0 h 854003"/>
                      <a:gd name="connsiteX0-1" fmla="*/ 0 w 854003"/>
                      <a:gd name="connsiteY0-2" fmla="*/ 0 h 854003"/>
                      <a:gd name="connsiteX1-3" fmla="*/ 854003 w 854003"/>
                      <a:gd name="connsiteY1-4" fmla="*/ 0 h 854003"/>
                      <a:gd name="connsiteX2-5" fmla="*/ 854003 w 854003"/>
                      <a:gd name="connsiteY2-6" fmla="*/ 854003 h 854003"/>
                      <a:gd name="connsiteX3-7" fmla="*/ 0 w 854003"/>
                      <a:gd name="connsiteY3-8" fmla="*/ 854003 h 854003"/>
                      <a:gd name="connsiteX4-9" fmla="*/ 91440 w 854003"/>
                      <a:gd name="connsiteY4-10" fmla="*/ 91440 h 854003"/>
                      <a:gd name="connsiteX0-11" fmla="*/ 854003 w 854003"/>
                      <a:gd name="connsiteY0-12" fmla="*/ 0 h 854003"/>
                      <a:gd name="connsiteX1-13" fmla="*/ 854003 w 854003"/>
                      <a:gd name="connsiteY1-14" fmla="*/ 854003 h 854003"/>
                      <a:gd name="connsiteX2-15" fmla="*/ 0 w 854003"/>
                      <a:gd name="connsiteY2-16" fmla="*/ 854003 h 854003"/>
                      <a:gd name="connsiteX3-17" fmla="*/ 91440 w 854003"/>
                      <a:gd name="connsiteY3-18" fmla="*/ 91440 h 854003"/>
                      <a:gd name="connsiteX0-19" fmla="*/ 854003 w 854003"/>
                      <a:gd name="connsiteY0-20" fmla="*/ 0 h 854003"/>
                      <a:gd name="connsiteX1-21" fmla="*/ 854003 w 854003"/>
                      <a:gd name="connsiteY1-22" fmla="*/ 854003 h 854003"/>
                      <a:gd name="connsiteX2-23" fmla="*/ 0 w 854003"/>
                      <a:gd name="connsiteY2-24" fmla="*/ 854003 h 854003"/>
                      <a:gd name="connsiteX0-25" fmla="*/ 1019595 w 1019595"/>
                      <a:gd name="connsiteY0-26" fmla="*/ 0 h 72953"/>
                      <a:gd name="connsiteX1-27" fmla="*/ 854003 w 1019595"/>
                      <a:gd name="connsiteY1-28" fmla="*/ 72953 h 72953"/>
                      <a:gd name="connsiteX2-29" fmla="*/ 0 w 1019595"/>
                      <a:gd name="connsiteY2-30" fmla="*/ 72953 h 72953"/>
                      <a:gd name="connsiteX0-31" fmla="*/ 1049223 w 1049223"/>
                      <a:gd name="connsiteY0-32" fmla="*/ 0 h 306315"/>
                      <a:gd name="connsiteX1-33" fmla="*/ 854003 w 1049223"/>
                      <a:gd name="connsiteY1-34" fmla="*/ 306315 h 306315"/>
                      <a:gd name="connsiteX2-35" fmla="*/ 0 w 1049223"/>
                      <a:gd name="connsiteY2-36" fmla="*/ 306315 h 306315"/>
                      <a:gd name="connsiteX0-37" fmla="*/ 1054161 w 1054161"/>
                      <a:gd name="connsiteY0-38" fmla="*/ 0 h 325365"/>
                      <a:gd name="connsiteX1-39" fmla="*/ 854003 w 1054161"/>
                      <a:gd name="connsiteY1-40" fmla="*/ 325365 h 325365"/>
                      <a:gd name="connsiteX2-41" fmla="*/ 0 w 1054161"/>
                      <a:gd name="connsiteY2-42" fmla="*/ 325365 h 325365"/>
                      <a:gd name="connsiteX0-43" fmla="*/ 1038427 w 1038427"/>
                      <a:gd name="connsiteY0-44" fmla="*/ 0 h 302685"/>
                      <a:gd name="connsiteX1-45" fmla="*/ 854003 w 1038427"/>
                      <a:gd name="connsiteY1-46" fmla="*/ 302685 h 302685"/>
                      <a:gd name="connsiteX2-47" fmla="*/ 0 w 1038427"/>
                      <a:gd name="connsiteY2-48" fmla="*/ 302685 h 302685"/>
                      <a:gd name="connsiteX0-49" fmla="*/ 736399 w 736399"/>
                      <a:gd name="connsiteY0-50" fmla="*/ 0 h 302685"/>
                      <a:gd name="connsiteX1-51" fmla="*/ 551975 w 736399"/>
                      <a:gd name="connsiteY1-52" fmla="*/ 302685 h 302685"/>
                      <a:gd name="connsiteX2-53" fmla="*/ 0 w 736399"/>
                      <a:gd name="connsiteY2-54" fmla="*/ 301872 h 302685"/>
                      <a:gd name="connsiteX0-55" fmla="*/ 687641 w 687641"/>
                      <a:gd name="connsiteY0-56" fmla="*/ 0 h 220527"/>
                      <a:gd name="connsiteX1-57" fmla="*/ 551975 w 687641"/>
                      <a:gd name="connsiteY1-58" fmla="*/ 220527 h 220527"/>
                      <a:gd name="connsiteX2-59" fmla="*/ 0 w 687641"/>
                      <a:gd name="connsiteY2-60" fmla="*/ 219714 h 220527"/>
                      <a:gd name="connsiteX0-61" fmla="*/ 747234 w 747234"/>
                      <a:gd name="connsiteY0-62" fmla="*/ 0 h 220527"/>
                      <a:gd name="connsiteX1-63" fmla="*/ 611568 w 747234"/>
                      <a:gd name="connsiteY1-64" fmla="*/ 220527 h 220527"/>
                      <a:gd name="connsiteX2-65" fmla="*/ 0 w 747234"/>
                      <a:gd name="connsiteY2-66" fmla="*/ 219714 h 220527"/>
                      <a:gd name="connsiteX0-67" fmla="*/ 548547 w 548547"/>
                      <a:gd name="connsiteY0-68" fmla="*/ 0 h 220528"/>
                      <a:gd name="connsiteX1-69" fmla="*/ 412881 w 548547"/>
                      <a:gd name="connsiteY1-70" fmla="*/ 220527 h 220528"/>
                      <a:gd name="connsiteX2-71" fmla="*/ 0 w 548547"/>
                      <a:gd name="connsiteY2-72" fmla="*/ 220528 h 220528"/>
                      <a:gd name="connsiteX0-73" fmla="*/ 657109 w 657109"/>
                      <a:gd name="connsiteY0-74" fmla="*/ 0 h 52144"/>
                      <a:gd name="connsiteX1-75" fmla="*/ 412881 w 657109"/>
                      <a:gd name="connsiteY1-76" fmla="*/ 52143 h 52144"/>
                      <a:gd name="connsiteX2-77" fmla="*/ 0 w 657109"/>
                      <a:gd name="connsiteY2-78" fmla="*/ 52144 h 52144"/>
                      <a:gd name="connsiteX0-79" fmla="*/ 663254 w 663254"/>
                      <a:gd name="connsiteY0-80" fmla="*/ 0 h 52144"/>
                      <a:gd name="connsiteX1-81" fmla="*/ 419026 w 663254"/>
                      <a:gd name="connsiteY1-82" fmla="*/ 52143 h 52144"/>
                      <a:gd name="connsiteX2-83" fmla="*/ 0 w 663254"/>
                      <a:gd name="connsiteY2-84" fmla="*/ 52144 h 52144"/>
                      <a:gd name="connsiteX0-85" fmla="*/ 630481 w 630481"/>
                      <a:gd name="connsiteY0-86" fmla="*/ 0 h 253879"/>
                      <a:gd name="connsiteX1-87" fmla="*/ 419026 w 630481"/>
                      <a:gd name="connsiteY1-88" fmla="*/ 253878 h 253879"/>
                      <a:gd name="connsiteX2-89" fmla="*/ 0 w 630481"/>
                      <a:gd name="connsiteY2-90" fmla="*/ 253879 h 253879"/>
                      <a:gd name="connsiteX0-91" fmla="*/ 663254 w 663254"/>
                      <a:gd name="connsiteY0-92" fmla="*/ 0 h 297263"/>
                      <a:gd name="connsiteX1-93" fmla="*/ 419026 w 663254"/>
                      <a:gd name="connsiteY1-94" fmla="*/ 297262 h 297263"/>
                      <a:gd name="connsiteX2-95" fmla="*/ 0 w 663254"/>
                      <a:gd name="connsiteY2-96" fmla="*/ 297263 h 297263"/>
                      <a:gd name="connsiteX0-97" fmla="*/ 581321 w 581321"/>
                      <a:gd name="connsiteY0-98" fmla="*/ 0 h 300517"/>
                      <a:gd name="connsiteX1-99" fmla="*/ 419026 w 581321"/>
                      <a:gd name="connsiteY1-100" fmla="*/ 300516 h 300517"/>
                      <a:gd name="connsiteX2-101" fmla="*/ 0 w 581321"/>
                      <a:gd name="connsiteY2-102" fmla="*/ 300517 h 300517"/>
                      <a:gd name="connsiteX0-103" fmla="*/ 581321 w 581321"/>
                      <a:gd name="connsiteY0-104" fmla="*/ 0 h 300517"/>
                      <a:gd name="connsiteX1-105" fmla="*/ 386252 w 581321"/>
                      <a:gd name="connsiteY1-106" fmla="*/ 300516 h 300517"/>
                      <a:gd name="connsiteX2-107" fmla="*/ 0 w 581321"/>
                      <a:gd name="connsiteY2-108" fmla="*/ 300517 h 300517"/>
                      <a:gd name="connsiteX0-109" fmla="*/ 646867 w 646867"/>
                      <a:gd name="connsiteY0-110" fmla="*/ 0 h 385116"/>
                      <a:gd name="connsiteX1-111" fmla="*/ 386252 w 646867"/>
                      <a:gd name="connsiteY1-112" fmla="*/ 385115 h 385116"/>
                      <a:gd name="connsiteX2-113" fmla="*/ 0 w 646867"/>
                      <a:gd name="connsiteY2-114" fmla="*/ 385116 h 385116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</a:cxnLst>
                    <a:rect l="l" t="t" r="r" b="b"/>
                    <a:pathLst>
                      <a:path w="646867" h="385116">
                        <a:moveTo>
                          <a:pt x="646867" y="0"/>
                        </a:moveTo>
                        <a:lnTo>
                          <a:pt x="386252" y="385115"/>
                        </a:lnTo>
                        <a:lnTo>
                          <a:pt x="0" y="385116"/>
                        </a:lnTo>
                      </a:path>
                    </a:pathLst>
                  </a:custGeom>
                  <a:noFill/>
                  <a:ln w="9525">
                    <a:solidFill>
                      <a:schemeClr val="accent5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>
                    <a:defPPr>
                      <a:defRPr lang="en-US"/>
                    </a:defPPr>
                    <a:lvl1pPr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lt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55" name="矩形 76"/>
                  <p:cNvSpPr/>
                  <p:nvPr/>
                </p:nvSpPr>
                <p:spPr bwMode="auto">
                  <a:xfrm flipH="1">
                    <a:off x="832197" y="3902826"/>
                    <a:ext cx="528777" cy="21580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BDD7EE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/>
                  <a:lstStyle>
                    <a:defPPr>
                      <a:defRPr lang="en-US"/>
                    </a:defPPr>
                    <a:lvl1pPr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457200" rt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相机</a:t>
                    </a:r>
                    <a:endPara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72" name="矩形 71"/>
              <p:cNvSpPr/>
              <p:nvPr/>
            </p:nvSpPr>
            <p:spPr>
              <a:xfrm>
                <a:off x="8466" y="5505"/>
                <a:ext cx="2317" cy="1188"/>
              </a:xfrm>
              <a:prstGeom prst="rect">
                <a:avLst/>
              </a:prstGeom>
              <a:noFill/>
              <a:ln w="12700" cmpd="sng">
                <a:solidFill>
                  <a:srgbClr val="FF0000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矩形 76"/>
              <p:cNvSpPr/>
              <p:nvPr/>
            </p:nvSpPr>
            <p:spPr bwMode="auto">
              <a:xfrm flipH="1">
                <a:off x="11414" y="5346"/>
                <a:ext cx="1422" cy="527"/>
              </a:xfrm>
              <a:prstGeom prst="roundRect">
                <a:avLst>
                  <a:gd name="adj" fmla="val 50000"/>
                </a:avLst>
              </a:prstGeom>
              <a:solidFill>
                <a:srgbClr val="BDD7E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相机视野</a:t>
                </a:r>
                <a:r>
                  <a:rPr kumimoji="0" lang="en-US" altLang="zh-CN" sz="10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131*87mm</a:t>
                </a:r>
                <a:endParaRPr kumimoji="0" lang="en-US" altLang="zh-CN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60" name="矩形 8"/>
              <p:cNvSpPr/>
              <p:nvPr/>
            </p:nvSpPr>
            <p:spPr bwMode="auto">
              <a:xfrm flipH="1" flipV="1">
                <a:off x="10773" y="5612"/>
                <a:ext cx="650" cy="269"/>
              </a:xfrm>
              <a:custGeom>
                <a:avLst/>
                <a:gdLst>
                  <a:gd name="connsiteX0" fmla="*/ 1395 w 1395"/>
                  <a:gd name="connsiteY0" fmla="*/ 0 h 3145"/>
                  <a:gd name="connsiteX1" fmla="*/ 707 w 1395"/>
                  <a:gd name="connsiteY1" fmla="*/ 3145 h 3145"/>
                  <a:gd name="connsiteX2" fmla="*/ 0 w 1395"/>
                  <a:gd name="connsiteY2" fmla="*/ 3145 h 3145"/>
                  <a:gd name="connsiteX0-1" fmla="*/ 9140 w 9140"/>
                  <a:gd name="connsiteY0-2" fmla="*/ 0 h 10000"/>
                  <a:gd name="connsiteX1-3" fmla="*/ 5068 w 9140"/>
                  <a:gd name="connsiteY1-4" fmla="*/ 10000 h 10000"/>
                  <a:gd name="connsiteX2-5" fmla="*/ 0 w 9140"/>
                  <a:gd name="connsiteY2-6" fmla="*/ 10000 h 10000"/>
                  <a:gd name="connsiteX0-7" fmla="*/ 10000 w 10000"/>
                  <a:gd name="connsiteY0-8" fmla="*/ 0 h 9322"/>
                  <a:gd name="connsiteX1-9" fmla="*/ 5545 w 10000"/>
                  <a:gd name="connsiteY1-10" fmla="*/ 9322 h 9322"/>
                  <a:gd name="connsiteX2-11" fmla="*/ 0 w 10000"/>
                  <a:gd name="connsiteY2-12" fmla="*/ 9322 h 932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0000" h="9322">
                    <a:moveTo>
                      <a:pt x="10000" y="0"/>
                    </a:moveTo>
                    <a:lnTo>
                      <a:pt x="5545" y="9322"/>
                    </a:lnTo>
                    <a:lnTo>
                      <a:pt x="0" y="9322"/>
                    </a:lnTo>
                  </a:path>
                </a:pathLst>
              </a:custGeom>
              <a:noFill/>
              <a:ln w="952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42" y="5513"/>
              <a:ext cx="743" cy="7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1"/>
          <p:cNvSpPr txBox="1">
            <a:spLocks noChangeArrowheads="1"/>
          </p:cNvSpPr>
          <p:nvPr/>
        </p:nvSpPr>
        <p:spPr bwMode="auto">
          <a:xfrm>
            <a:off x="119063" y="11588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HelveticaNeueLT Pro 55 Roman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硬件要求及</a:t>
            </a:r>
            <a:r>
              <a:rPr kumimoji="0" lang="zh-CN" altLang="en-US" sz="3445" b="0" i="0" u="none" strike="noStrike" kern="1200" cap="none" spc="0" normalizeH="0" baseline="0" noProof="0" dirty="0">
                <a:ln>
                  <a:noFill/>
                </a:ln>
                <a:solidFill>
                  <a:srgbClr val="0C579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注意事项</a:t>
            </a:r>
            <a:endParaRPr kumimoji="0" lang="zh-CN" altLang="en-US" sz="3445" b="0" i="0" u="none" strike="noStrike" kern="1200" cap="none" spc="0" normalizeH="0" baseline="0" noProof="0" dirty="0">
              <a:ln>
                <a:noFill/>
              </a:ln>
              <a:solidFill>
                <a:srgbClr val="0C5799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1180" y="1052830"/>
            <a:ext cx="1005205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机构设计请根据方案设计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线扫拍照棍请根据工位三过棍要求设计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编码器优先和拍照棍同轴的方式安装，其次考虑压辊的方式安装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机柜（工控机、控制器、电气）摆放位置，需要跟相机靠近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需要预留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CCD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走线线槽，无强电干扰，强弱电分开，电、气分开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相机线布线距离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≤5m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线扫相机、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线扫光源线缆长度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，工控机、光源控制器需要正负极分开摆放，确认线缆长度是否足够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u"/>
            </a:pP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1" name="Picture 5" descr="杰锐思VI PPT-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237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.xml><?xml version="1.0" encoding="utf-8"?>
<p:tagLst xmlns:p="http://schemas.openxmlformats.org/presentationml/2006/main">
  <p:tag name="KSO_WM_DIAGRAM_VIRTUALLY_FRAME" val="{&quot;height&quot;:346.78691205478617,&quot;left&quot;:321.24999999999994,&quot;top&quot;:59.819690361971176,&quot;width&quot;:599.8}"/>
</p:tagLst>
</file>

<file path=ppt/tags/tag3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4.xml><?xml version="1.0" encoding="utf-8"?>
<p:tagLst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5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6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7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8.xml><?xml version="1.0" encoding="utf-8"?>
<p:tagLst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9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0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1.xml><?xml version="1.0" encoding="utf-8"?>
<p:tagLst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12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3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4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5.xml><?xml version="1.0" encoding="utf-8"?>
<p:tagLst xmlns:p="http://schemas.openxmlformats.org/presentationml/2006/main">
  <p:tag name="KSO_WM_DIAGRAM_VIRTUALLY_FRAME" val="{&quot;height&quot;:331.7543700787402,&quot;left&quot;:355.7635369181402,&quot;top&quot;:92.89562992125984,&quot;width&quot;:564.2364630818598}"/>
</p:tagLst>
</file>

<file path=ppt/tags/tag16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7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8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19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0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1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2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3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4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5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6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7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8.xml><?xml version="1.0" encoding="utf-8"?>
<p:tagLst xmlns:p="http://schemas.openxmlformats.org/presentationml/2006/main">
  <p:tag name="KSO_WM_DIAGRAM_VIRTUALLY_FRAME" val="{&quot;height&quot;:426.7,&quot;left&quot;:315.54999999999995,&quot;top&quot;:31.9,&quot;width&quot;:593.9}"/>
</p:tagLst>
</file>

<file path=ppt/tags/tag29.xml><?xml version="1.0" encoding="utf-8"?>
<p:tagLst xmlns:p="http://schemas.openxmlformats.org/presentationml/2006/main">
  <p:tag name="TABLE_ENDDRAG_ORIGIN_RECT" val="900*82"/>
  <p:tag name="TABLE_ENDDRAG_RECT" val="20*92*900*82"/>
</p:tagLst>
</file>

<file path=ppt/tags/tag30.xml><?xml version="1.0" encoding="utf-8"?>
<p:tagLst xmlns:p="http://schemas.openxmlformats.org/presentationml/2006/main">
  <p:tag name="TABLE_ENDDRAG_ORIGIN_RECT" val="913*98"/>
  <p:tag name="TABLE_ENDDRAG_RECT" val="21*92*913*98"/>
</p:tagLst>
</file>

<file path=ppt/tags/tag31.xml><?xml version="1.0" encoding="utf-8"?>
<p:tagLst xmlns:p="http://schemas.openxmlformats.org/presentationml/2006/main">
  <p:tag name="TABLE_ENDDRAG_ORIGIN_RECT" val="890*97"/>
  <p:tag name="TABLE_ENDDRAG_RECT" val="37*90*890*97"/>
</p:tagLst>
</file>

<file path=ppt/tags/tag32.xml><?xml version="1.0" encoding="utf-8"?>
<p:tagLst xmlns:p="http://schemas.openxmlformats.org/presentationml/2006/main">
  <p:tag name="TABLE_ENDDRAG_ORIGIN_RECT" val="885*71"/>
  <p:tag name="TABLE_ENDDRAG_RECT" val="34*92*885*71"/>
</p:tagLst>
</file>

<file path=ppt/tags/tag33.xml><?xml version="1.0" encoding="utf-8"?>
<p:tagLst xmlns:p="http://schemas.openxmlformats.org/presentationml/2006/main">
  <p:tag name="TABLE_ENDDRAG_ORIGIN_RECT" val="865*80"/>
  <p:tag name="TABLE_ENDDRAG_RECT" val="25*94*865*80"/>
</p:tagLst>
</file>

<file path=ppt/tags/tag34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35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36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37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38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39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0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1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2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3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4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5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6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7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8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49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0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1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2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3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4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5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6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7.xml><?xml version="1.0" encoding="utf-8"?>
<p:tagLst xmlns:p="http://schemas.openxmlformats.org/presentationml/2006/main">
  <p:tag name="KSO_WM_DIAGRAM_VIRTUALLY_FRAME" val="{&quot;height&quot;:238.3,&quot;left&quot;:36.75000000000004,&quot;top&quot;:204.5,&quot;width&quot;:357.65102040816316}"/>
</p:tagLst>
</file>

<file path=ppt/tags/tag58.xml><?xml version="1.0" encoding="utf-8"?>
<p:tagLst xmlns:p="http://schemas.openxmlformats.org/presentationml/2006/main">
  <p:tag name="TABLE_ENDDRAG_ORIGIN_RECT" val="896*71"/>
  <p:tag name="TABLE_ENDDRAG_RECT" val="34*98*896*71"/>
</p:tagLst>
</file>

<file path=ppt/tags/tag59.xml><?xml version="1.0" encoding="utf-8"?>
<p:tagLst xmlns:p="http://schemas.openxmlformats.org/presentationml/2006/main">
  <p:tag name="commondata" val="eyJoZGlkIjoiMTQ0NWRjZTU5Yzg3YmYxODBiYWNiYzFiMzczYzU3ODYifQ==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3499</Words>
  <Application>WPS 演示</Application>
  <PresentationFormat>宽屏</PresentationFormat>
  <Paragraphs>688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等线</vt:lpstr>
      <vt:lpstr>Calibri Light</vt:lpstr>
      <vt:lpstr>微软雅黑</vt:lpstr>
      <vt:lpstr>HelveticaNeueLT Pro 55 Roman</vt:lpstr>
      <vt:lpstr>Segoe Print</vt:lpstr>
      <vt:lpstr>黑体</vt:lpstr>
      <vt:lpstr>Times New Roman</vt:lpstr>
      <vt:lpstr>Wingdings</vt:lpstr>
      <vt:lpstr>Arial Unicode MS</vt:lpstr>
      <vt:lpstr>等线 Light</vt:lpstr>
      <vt:lpstr>默认设计模板</vt:lpstr>
      <vt:lpstr>PowerPoint 演示文稿</vt:lpstr>
      <vt:lpstr>更新记录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mingxh</dc:creator>
  <cp:lastModifiedBy>沫忆</cp:lastModifiedBy>
  <cp:revision>1615</cp:revision>
  <dcterms:created xsi:type="dcterms:W3CDTF">2018-03-20T12:00:00Z</dcterms:created>
  <dcterms:modified xsi:type="dcterms:W3CDTF">2025-03-08T08:06:06Z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545D950B55344B9A9BF0A428B089D846_13</vt:lpwstr>
  </property>
</Properties>
</file>