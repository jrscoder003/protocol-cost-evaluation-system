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309" r:id="rId3"/>
    <p:sldId id="260" r:id="rId4"/>
    <p:sldId id="1523" r:id="rId5"/>
    <p:sldId id="1491" r:id="rId6"/>
    <p:sldId id="1492" r:id="rId7"/>
    <p:sldId id="308" r:id="rId8"/>
    <p:sldId id="1524" r:id="rId9"/>
    <p:sldId id="1525" r:id="rId10"/>
    <p:sldId id="1512" r:id="rId11"/>
    <p:sldId id="1513" r:id="rId12"/>
    <p:sldId id="1540" r:id="rId13"/>
    <p:sldId id="1601" r:id="rId14"/>
    <p:sldId id="1499" r:id="rId15"/>
    <p:sldId id="1500" r:id="rId16"/>
    <p:sldId id="1501" r:id="rId17"/>
    <p:sldId id="1541" r:id="rId18"/>
    <p:sldId id="1542" r:id="rId19"/>
    <p:sldId id="1543" r:id="rId20"/>
    <p:sldId id="1502" r:id="rId21"/>
    <p:sldId id="1503" r:id="rId22"/>
    <p:sldId id="1544" r:id="rId23"/>
    <p:sldId id="1610" r:id="rId24"/>
    <p:sldId id="1611" r:id="rId25"/>
    <p:sldId id="1612" r:id="rId26"/>
    <p:sldId id="1602" r:id="rId27"/>
    <p:sldId id="1603" r:id="rId28"/>
    <p:sldId id="1604" r:id="rId29"/>
    <p:sldId id="1608" r:id="rId30"/>
    <p:sldId id="1605" r:id="rId31"/>
    <p:sldId id="1606" r:id="rId32"/>
    <p:sldId id="1607" r:id="rId33"/>
    <p:sldId id="1609" r:id="rId34"/>
    <p:sldId id="1613" r:id="rId35"/>
    <p:sldId id="259" r:id="rId36"/>
  </p:sldIdLst>
  <p:sldSz cx="12192000" cy="6858000"/>
  <p:notesSz cx="6858000" cy="9144000"/>
  <p:custDataLst>
    <p:tags r:id="rId38"/>
  </p:custDataLst>
  <p:defaultTextStyle>
    <a:defPPr>
      <a:defRPr lang="en-US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407BAF"/>
    <a:srgbClr val="F3F9FA"/>
    <a:srgbClr val="0C57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0"/>
    <p:restoredTop sz="94607"/>
  </p:normalViewPr>
  <p:slideViewPr>
    <p:cSldViewPr showGuides="1">
      <p:cViewPr varScale="1">
        <p:scale>
          <a:sx n="108" d="100"/>
          <a:sy n="108" d="100"/>
        </p:scale>
        <p:origin x="1158" y="132"/>
      </p:cViewPr>
      <p:guideLst>
        <p:guide orient="horz" pos="2360"/>
        <p:guide pos="3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9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‹#›</a:t>
            </a:fld>
            <a:endParaRPr lang="zh-CN" altLang="en-US" sz="1200" strike="noStrike" noProof="1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6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9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1"/>
          <p:cNvCxnSpPr/>
          <p:nvPr/>
        </p:nvCxnSpPr>
        <p:spPr>
          <a:xfrm>
            <a:off x="-19050" y="692150"/>
            <a:ext cx="12185650" cy="0"/>
          </a:xfrm>
          <a:prstGeom prst="line">
            <a:avLst/>
          </a:prstGeom>
          <a:ln w="60325" cmpd="thinThick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8110" y="-171400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1"/>
          <p:cNvCxnSpPr/>
          <p:nvPr/>
        </p:nvCxnSpPr>
        <p:spPr>
          <a:xfrm>
            <a:off x="-19050" y="692150"/>
            <a:ext cx="12185650" cy="0"/>
          </a:xfrm>
          <a:prstGeom prst="line">
            <a:avLst/>
          </a:prstGeom>
          <a:ln w="60325" cmpd="thinThick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92615" cy="4525963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00201"/>
            <a:ext cx="5392615" cy="4525963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8110" y="-171400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1"/>
          <p:cNvCxnSpPr/>
          <p:nvPr/>
        </p:nvCxnSpPr>
        <p:spPr>
          <a:xfrm>
            <a:off x="-19050" y="692150"/>
            <a:ext cx="12185650" cy="0"/>
          </a:xfrm>
          <a:prstGeom prst="line">
            <a:avLst/>
          </a:prstGeom>
          <a:ln w="60325" cmpd="thinThick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154" y="1681163"/>
            <a:ext cx="5158154" cy="823912"/>
          </a:xfrm>
        </p:spPr>
        <p:txBody>
          <a:bodyPr anchor="b"/>
          <a:lstStyle>
            <a:lvl1pPr marL="0" indent="0">
              <a:buNone/>
              <a:defRPr sz="2955" b="1"/>
            </a:lvl1pPr>
            <a:lvl2pPr marL="562610" indent="0">
              <a:buNone/>
              <a:defRPr sz="2460" b="1"/>
            </a:lvl2pPr>
            <a:lvl3pPr marL="1125220" indent="0">
              <a:buNone/>
              <a:defRPr sz="2215" b="1"/>
            </a:lvl3pPr>
            <a:lvl4pPr marL="1688465" indent="0">
              <a:buNone/>
              <a:defRPr sz="1970" b="1"/>
            </a:lvl4pPr>
            <a:lvl5pPr marL="2251075" indent="0">
              <a:buNone/>
              <a:defRPr sz="1970" b="1"/>
            </a:lvl5pPr>
            <a:lvl6pPr marL="2813685" indent="0">
              <a:buNone/>
              <a:defRPr sz="1970" b="1"/>
            </a:lvl6pPr>
            <a:lvl7pPr marL="3376295" indent="0">
              <a:buNone/>
              <a:defRPr sz="1970" b="1"/>
            </a:lvl7pPr>
            <a:lvl8pPr marL="3938905" indent="0">
              <a:buNone/>
              <a:defRPr sz="1970" b="1"/>
            </a:lvl8pPr>
            <a:lvl9pPr marL="4501515" indent="0">
              <a:buNone/>
              <a:defRPr sz="1970" b="1"/>
            </a:lvl9pPr>
          </a:lstStyle>
          <a:p>
            <a:pPr lvl="0" fontAlgn="base"/>
            <a:r>
              <a:rPr lang="en-US" altLang="zh-CN" sz="2955" strike="noStrike" noProof="1"/>
              <a:t>Edit Master text styles</a:t>
            </a:r>
            <a:endParaRPr lang="en-US" altLang="zh-C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154" y="2505075"/>
            <a:ext cx="5158154" cy="3684588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553" cy="823912"/>
          </a:xfrm>
        </p:spPr>
        <p:txBody>
          <a:bodyPr anchor="b"/>
          <a:lstStyle>
            <a:lvl1pPr marL="0" indent="0">
              <a:buNone/>
              <a:defRPr sz="2955" b="1"/>
            </a:lvl1pPr>
            <a:lvl2pPr marL="562610" indent="0">
              <a:buNone/>
              <a:defRPr sz="2460" b="1"/>
            </a:lvl2pPr>
            <a:lvl3pPr marL="1125220" indent="0">
              <a:buNone/>
              <a:defRPr sz="2215" b="1"/>
            </a:lvl3pPr>
            <a:lvl4pPr marL="1688465" indent="0">
              <a:buNone/>
              <a:defRPr sz="1970" b="1"/>
            </a:lvl4pPr>
            <a:lvl5pPr marL="2251075" indent="0">
              <a:buNone/>
              <a:defRPr sz="1970" b="1"/>
            </a:lvl5pPr>
            <a:lvl6pPr marL="2813685" indent="0">
              <a:buNone/>
              <a:defRPr sz="1970" b="1"/>
            </a:lvl6pPr>
            <a:lvl7pPr marL="3376295" indent="0">
              <a:buNone/>
              <a:defRPr sz="1970" b="1"/>
            </a:lvl7pPr>
            <a:lvl8pPr marL="3938905" indent="0">
              <a:buNone/>
              <a:defRPr sz="1970" b="1"/>
            </a:lvl8pPr>
            <a:lvl9pPr marL="4501515" indent="0">
              <a:buNone/>
              <a:defRPr sz="1970" b="1"/>
            </a:lvl9pPr>
          </a:lstStyle>
          <a:p>
            <a:pPr lvl="0" fontAlgn="base"/>
            <a:r>
              <a:rPr lang="en-US" altLang="zh-CN" sz="2955" strike="noStrike" noProof="1"/>
              <a:t>Edit Master text styles</a:t>
            </a:r>
            <a:endParaRPr lang="en-US" altLang="zh-CN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553" cy="3684588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</a:p>
          <a:p>
            <a:pPr lvl="1" fontAlgn="base"/>
            <a:r>
              <a:rPr lang="en-US" altLang="zh-CN" strike="noStrike" noProof="1"/>
              <a:t>Second level</a:t>
            </a:r>
          </a:p>
          <a:p>
            <a:pPr lvl="2" fontAlgn="base"/>
            <a:r>
              <a:rPr lang="en-US" altLang="zh-CN" strike="noStrike" noProof="1"/>
              <a:t>Third level</a:t>
            </a:r>
          </a:p>
          <a:p>
            <a:pPr lvl="3" fontAlgn="base"/>
            <a:r>
              <a:rPr lang="en-US" altLang="zh-CN" strike="noStrike" noProof="1"/>
              <a:t>Fourth level</a:t>
            </a:r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8110" y="-171400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225" y="185738"/>
            <a:ext cx="1527175" cy="2619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4" name="组合 8"/>
          <p:cNvGrpSpPr/>
          <p:nvPr userDrawn="1"/>
        </p:nvGrpSpPr>
        <p:grpSpPr>
          <a:xfrm>
            <a:off x="320675" y="60325"/>
            <a:ext cx="638175" cy="506413"/>
            <a:chOff x="-10583" y="105502"/>
            <a:chExt cx="615821" cy="487307"/>
          </a:xfrm>
        </p:grpSpPr>
        <p:sp>
          <p:nvSpPr>
            <p:cNvPr id="7" name="菱形 6"/>
            <p:cNvSpPr/>
            <p:nvPr/>
          </p:nvSpPr>
          <p:spPr>
            <a:xfrm>
              <a:off x="232988" y="163551"/>
              <a:ext cx="372250" cy="371209"/>
            </a:xfrm>
            <a:prstGeom prst="diamond">
              <a:avLst/>
            </a:prstGeom>
            <a:solidFill>
              <a:srgbClr val="B0C8E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菱形 7"/>
            <p:cNvSpPr/>
            <p:nvPr/>
          </p:nvSpPr>
          <p:spPr>
            <a:xfrm>
              <a:off x="-10583" y="105502"/>
              <a:ext cx="487142" cy="487307"/>
            </a:xfrm>
            <a:prstGeom prst="diamond">
              <a:avLst/>
            </a:prstGeom>
            <a:solidFill>
              <a:srgbClr val="0C5D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320675" y="611188"/>
            <a:ext cx="11515725" cy="47625"/>
          </a:xfrm>
          <a:prstGeom prst="rect">
            <a:avLst/>
          </a:prstGeom>
          <a:solidFill>
            <a:srgbClr val="005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8" name="Picture 2" descr="C:\Users\10859\Desktop\0图1片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192338"/>
            <a:ext cx="12192000" cy="4665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FE242F-4C14-49B4-AAC2-7285167CA354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2025/6/18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a typeface="等线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Calibri" panose="020F0502020204030204" pitchFamily="34" charset="0"/>
            </a:endParaRPr>
          </a:p>
        </p:txBody>
      </p:sp>
      <p:pic>
        <p:nvPicPr>
          <p:cNvPr id="1031" name="Picture 7" descr="杰锐思VI PPT-02"/>
          <p:cNvPicPr>
            <a:picLocks noChangeAspect="1"/>
          </p:cNvPicPr>
          <p:nvPr userDrawn="1"/>
        </p:nvPicPr>
        <p:blipFill>
          <a:blip r:embed="rId17"/>
          <a:srcRect b="91219"/>
          <a:stretch>
            <a:fillRect/>
          </a:stretch>
        </p:blipFill>
        <p:spPr>
          <a:xfrm>
            <a:off x="-6350" y="6245225"/>
            <a:ext cx="12192000" cy="6016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notesSlide" Target="../notesSlides/notesSlide1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slideLayout" Target="../slideLayouts/slideLayout1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image" Target="../media/image24.png"/><Relationship Id="rId3" Type="http://schemas.openxmlformats.org/officeDocument/2006/relationships/tags" Target="../tags/tag39.xml"/><Relationship Id="rId21" Type="http://schemas.openxmlformats.org/officeDocument/2006/relationships/tags" Target="../tags/tag5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image" Target="../media/image26.png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image" Target="../media/image11.png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slideLayout" Target="../slideLayouts/slideLayout12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tags" Target="../tags/tag5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9" name="Group 4"/>
          <p:cNvGrpSpPr/>
          <p:nvPr/>
        </p:nvGrpSpPr>
        <p:grpSpPr>
          <a:xfrm>
            <a:off x="0" y="0"/>
            <a:ext cx="12192000" cy="6278245"/>
            <a:chOff x="0" y="0"/>
            <a:chExt cx="9906000" cy="6929864"/>
          </a:xfrm>
        </p:grpSpPr>
        <p:pic>
          <p:nvPicPr>
            <p:cNvPr id="7170" name="Picture 5" descr="杰锐思VI PPT-0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906000" cy="692986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1" name="Picture 5" descr="杰锐思VI PPT-01"/>
            <p:cNvPicPr>
              <a:picLocks noChangeAspect="1"/>
            </p:cNvPicPr>
            <p:nvPr/>
          </p:nvPicPr>
          <p:blipFill>
            <a:blip r:embed="rId2"/>
            <a:srcRect t="24666" r="34093" b="51195"/>
            <a:stretch>
              <a:fillRect/>
            </a:stretch>
          </p:blipFill>
          <p:spPr>
            <a:xfrm>
              <a:off x="200472" y="3573016"/>
              <a:ext cx="6528792" cy="165618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TextBox 1"/>
          <p:cNvSpPr txBox="1"/>
          <p:nvPr/>
        </p:nvSpPr>
        <p:spPr>
          <a:xfrm>
            <a:off x="488950" y="1905000"/>
            <a:ext cx="11456988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4572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JC250056</a:t>
            </a:r>
            <a:r>
              <a:rPr kumimoji="0" lang="zh-CN" altLang="en-US" sz="4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力神数码卷绕检测方案</a:t>
            </a:r>
            <a:endParaRPr kumimoji="0" lang="en-US" altLang="zh-CN" sz="2000" b="1" kern="1200" cap="none" spc="0" normalizeH="0" baseline="0" noProof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244" name="TextBox 6"/>
          <p:cNvSpPr txBox="1">
            <a:spLocks noChangeArrowheads="1"/>
          </p:cNvSpPr>
          <p:nvPr/>
        </p:nvSpPr>
        <p:spPr bwMode="auto">
          <a:xfrm>
            <a:off x="766763" y="4581525"/>
            <a:ext cx="10017125" cy="5461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2025</a:t>
            </a:r>
            <a:r>
              <a:rPr kumimoji="0" lang="zh-CN" altLang="en-US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05</a:t>
            </a:r>
            <a:r>
              <a:rPr kumimoji="0" lang="zh-CN" altLang="en-US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10972800" cy="5334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更新记录</a:t>
            </a:r>
          </a:p>
        </p:txBody>
      </p:sp>
      <p:graphicFrame>
        <p:nvGraphicFramePr>
          <p:cNvPr id="3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558434"/>
              </p:ext>
            </p:extLst>
          </p:nvPr>
        </p:nvGraphicFramePr>
        <p:xfrm>
          <a:off x="479425" y="1773238"/>
          <a:ext cx="10972800" cy="338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6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2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41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版本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更新时间</a:t>
                      </a:r>
                    </a:p>
                  </a:txBody>
                  <a:tcPr marL="112565" marR="112565" marT="56235" marB="5623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工程师</a:t>
                      </a:r>
                    </a:p>
                  </a:txBody>
                  <a:tcPr marL="112565" marR="112565" marT="56235" marB="5623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备注</a:t>
                      </a: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V1.0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20250521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初版方案</a:t>
                      </a: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V1.1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20250526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下料光源更新，压花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激光头更新</a:t>
                      </a: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V1.2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20250526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卷绕相机工作距离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Wingdings" panose="05000000000000000000" pitchFamily="2" charset="2"/>
                        </a:rPr>
                        <a:t>450mm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Wingdings" panose="05000000000000000000" pitchFamily="2" charset="2"/>
                        </a:rPr>
                        <a:t>；卷绕收尾相机更新为彩色；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V1.3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20250527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阴极槽口检测，删除一套相机，只检测反面；正面焊接后检测；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V1.4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20250528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下料机料盒相机工作距离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580—&gt;950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，相机更换</a:t>
                      </a: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79715056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V1.5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20250529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下料机定位相机工作距离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356—&gt;750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；焊接相机安装角度增加要求；</a:t>
                      </a: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33244112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V1.6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20250603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下料机定位工位，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光源更新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0611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下料定位前光源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100—&gt;200;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498827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V1.7</a:t>
                      </a: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20250618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谭秀鹏</a:t>
                      </a: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卷绕工位工作距离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450—&gt;500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，镜头更换；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44118000"/>
                  </a:ext>
                </a:extLst>
              </a:tr>
              <a:tr h="167455">
                <a:tc>
                  <a:txBody>
                    <a:bodyPr/>
                    <a:lstStyle/>
                    <a:p>
                      <a:pPr algn="ctr"/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83491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35915" y="1268413"/>
            <a:ext cx="3308350" cy="2952750"/>
            <a:chOff x="1187624" y="1671750"/>
            <a:chExt cx="2016225" cy="1800000"/>
          </a:xfrm>
        </p:grpSpPr>
        <p:sp>
          <p:nvSpPr>
            <p:cNvPr id="4" name="六边形 3"/>
            <p:cNvSpPr/>
            <p:nvPr/>
          </p:nvSpPr>
          <p:spPr>
            <a:xfrm>
              <a:off x="1187624" y="1671750"/>
              <a:ext cx="2016225" cy="1800000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955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3"/>
            <p:cNvSpPr txBox="1"/>
            <p:nvPr/>
          </p:nvSpPr>
          <p:spPr>
            <a:xfrm>
              <a:off x="1394664" y="2125621"/>
              <a:ext cx="1583762" cy="85741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algn="ctr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910" b="1" kern="1200" cap="none" spc="0" normalizeH="0" baseline="0" noProof="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  录</a:t>
              </a:r>
              <a:endParaRPr kumimoji="0" lang="en-US" altLang="zh-CN" sz="5910" b="1" kern="1200" cap="none" spc="0" normalizeH="0" baseline="0" noProof="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R="0" algn="ctr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30" b="1" kern="1200" cap="none" spc="0" normalizeH="0" baseline="0" noProof="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6090F03-00A9-3CEC-9DBD-FF4156CDA136}"/>
              </a:ext>
            </a:extLst>
          </p:cNvPr>
          <p:cNvGrpSpPr/>
          <p:nvPr/>
        </p:nvGrpSpPr>
        <p:grpSpPr>
          <a:xfrm>
            <a:off x="4797725" y="311132"/>
            <a:ext cx="5690763" cy="5814627"/>
            <a:chOff x="4797725" y="311132"/>
            <a:chExt cx="5690763" cy="5814627"/>
          </a:xfrm>
        </p:grpSpPr>
        <p:sp>
          <p:nvSpPr>
            <p:cNvPr id="19" name="TextBox 19"/>
            <p:cNvSpPr txBox="1"/>
            <p:nvPr>
              <p:custDataLst>
                <p:tags r:id="rId1"/>
              </p:custDataLst>
            </p:nvPr>
          </p:nvSpPr>
          <p:spPr>
            <a:xfrm>
              <a:off x="5447398" y="1455819"/>
              <a:ext cx="5041090" cy="4491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阴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阳极绿胶检测工位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组合 5"/>
            <p:cNvGrpSpPr/>
            <p:nvPr>
              <p:custDataLst>
                <p:tags r:id="rId2"/>
              </p:custDataLst>
            </p:nvPr>
          </p:nvGrpSpPr>
          <p:grpSpPr>
            <a:xfrm>
              <a:off x="4819638" y="888034"/>
              <a:ext cx="608675" cy="515414"/>
              <a:chOff x="4049976" y="665477"/>
              <a:chExt cx="604868" cy="540000"/>
            </a:xfr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grpSpPr>
          <p:sp>
            <p:nvSpPr>
              <p:cNvPr id="7" name="六边形 6"/>
              <p:cNvSpPr>
                <a:spLocks noChangeAspect="1"/>
              </p:cNvSpPr>
              <p:nvPr>
                <p:custDataLst>
                  <p:tags r:id="rId34"/>
                </p:custDataLst>
              </p:nvPr>
            </p:nvSpPr>
            <p:spPr>
              <a:xfrm>
                <a:off x="4049976" y="665477"/>
                <a:ext cx="604868" cy="540000"/>
              </a:xfrm>
              <a:prstGeom prst="hexagon">
                <a:avLst/>
              </a:prstGeom>
              <a:grpFill/>
              <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TextBox 6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4216720" y="698633"/>
                <a:ext cx="288032" cy="483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</p:grpSp>
        <p:sp>
          <p:nvSpPr>
            <p:cNvPr id="21" name="TextBox 19"/>
            <p:cNvSpPr txBox="1"/>
            <p:nvPr>
              <p:custDataLst>
                <p:tags r:id="rId3"/>
              </p:custDataLst>
            </p:nvPr>
          </p:nvSpPr>
          <p:spPr>
            <a:xfrm>
              <a:off x="5447398" y="918990"/>
              <a:ext cx="4455790" cy="4491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阴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阳极焊接工位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>
              <p:custDataLst>
                <p:tags r:id="rId4"/>
              </p:custDataLst>
            </p:nvPr>
          </p:nvGrpSpPr>
          <p:grpSpPr>
            <a:xfrm>
              <a:off x="4822754" y="1458460"/>
              <a:ext cx="608675" cy="515414"/>
              <a:chOff x="4022431" y="654654"/>
              <a:chExt cx="604868" cy="540000"/>
            </a:xfr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grpSpPr>
          <p:sp>
            <p:nvSpPr>
              <p:cNvPr id="17" name="六边形 16"/>
              <p:cNvSpPr>
                <a:spLocks noChangeAspect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4022431" y="654654"/>
                <a:ext cx="604868" cy="540000"/>
              </a:xfrm>
              <a:prstGeom prst="hexagon">
                <a:avLst/>
              </a:prstGeom>
              <a:grpFill/>
              <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TextBox 6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4186079" y="670580"/>
                <a:ext cx="288032" cy="483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</p:grpSp>
        <p:grpSp>
          <p:nvGrpSpPr>
            <p:cNvPr id="12" name="组合 11"/>
            <p:cNvGrpSpPr/>
            <p:nvPr>
              <p:custDataLst>
                <p:tags r:id="rId5"/>
              </p:custDataLst>
            </p:nvPr>
          </p:nvGrpSpPr>
          <p:grpSpPr>
            <a:xfrm>
              <a:off x="4811162" y="3193568"/>
              <a:ext cx="608675" cy="524936"/>
              <a:chOff x="4022431" y="654654"/>
              <a:chExt cx="604868" cy="549976"/>
            </a:xfr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grpSpPr>
          <p:sp>
            <p:nvSpPr>
              <p:cNvPr id="13" name="六边形 12"/>
              <p:cNvSpPr>
                <a:spLocks noChangeAspect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4022431" y="654654"/>
                <a:ext cx="604868" cy="540000"/>
              </a:xfrm>
              <a:prstGeom prst="hexagon">
                <a:avLst/>
              </a:prstGeom>
              <a:grpFill/>
              <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TextBox 6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4197599" y="720943"/>
                <a:ext cx="288032" cy="483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</a:p>
            </p:txBody>
          </p:sp>
        </p:grpSp>
        <p:sp>
          <p:nvSpPr>
            <p:cNvPr id="15" name="TextBox 19"/>
            <p:cNvSpPr txBox="1"/>
            <p:nvPr>
              <p:custDataLst>
                <p:tags r:id="rId6"/>
              </p:custDataLst>
            </p:nvPr>
          </p:nvSpPr>
          <p:spPr>
            <a:xfrm>
              <a:off x="5451773" y="3180589"/>
              <a:ext cx="3749704" cy="403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 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下料搓电芯检测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" name="组合 24"/>
            <p:cNvGrpSpPr/>
            <p:nvPr>
              <p:custDataLst>
                <p:tags r:id="rId7"/>
              </p:custDataLst>
            </p:nvPr>
          </p:nvGrpSpPr>
          <p:grpSpPr>
            <a:xfrm>
              <a:off x="4811162" y="2614282"/>
              <a:ext cx="608675" cy="515414"/>
              <a:chOff x="4022431" y="654654"/>
              <a:chExt cx="604868" cy="540000"/>
            </a:xfr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grpSpPr>
          <p:sp>
            <p:nvSpPr>
              <p:cNvPr id="26" name="六边形 25"/>
              <p:cNvSpPr>
                <a:spLocks noChangeAspect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4022431" y="654654"/>
                <a:ext cx="604868" cy="540000"/>
              </a:xfrm>
              <a:prstGeom prst="hexagon">
                <a:avLst/>
              </a:prstGeom>
              <a:grpFill/>
              <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TextBox 6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4197599" y="700501"/>
                <a:ext cx="288032" cy="483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TextBox 19"/>
            <p:cNvSpPr txBox="1"/>
            <p:nvPr>
              <p:custDataLst>
                <p:tags r:id="rId8"/>
              </p:custDataLst>
            </p:nvPr>
          </p:nvSpPr>
          <p:spPr>
            <a:xfrm>
              <a:off x="5435807" y="2622716"/>
              <a:ext cx="3058952" cy="403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卷绕收尾检测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六边形 21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4823907" y="311132"/>
              <a:ext cx="608660" cy="515275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6"/>
            <p:cNvSpPr txBox="1"/>
            <p:nvPr>
              <p:custDataLst>
                <p:tags r:id="rId10"/>
              </p:custDataLst>
            </p:nvPr>
          </p:nvSpPr>
          <p:spPr>
            <a:xfrm>
              <a:off x="4987432" y="354441"/>
              <a:ext cx="289934" cy="461665"/>
            </a:xfrm>
            <a:prstGeom prst="rect">
              <a:avLst/>
            </a:prstGeom>
            <a:noFill/>
            <a:ln>
              <a:noFill/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TextBox 19"/>
            <p:cNvSpPr txBox="1"/>
            <p:nvPr>
              <p:custDataLst>
                <p:tags r:id="rId11"/>
              </p:custDataLst>
            </p:nvPr>
          </p:nvSpPr>
          <p:spPr>
            <a:xfrm>
              <a:off x="5447398" y="317790"/>
              <a:ext cx="4455790" cy="403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阴极模切后切口检测工位</a:t>
              </a:r>
            </a:p>
          </p:txBody>
        </p:sp>
        <p:sp>
          <p:nvSpPr>
            <p:cNvPr id="2" name="六边形 1"/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4808170" y="3757184"/>
              <a:ext cx="608484" cy="515581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6"/>
            <p:cNvSpPr txBox="1"/>
            <p:nvPr>
              <p:custDataLst>
                <p:tags r:id="rId13"/>
              </p:custDataLst>
            </p:nvPr>
          </p:nvSpPr>
          <p:spPr>
            <a:xfrm>
              <a:off x="4987432" y="3820501"/>
              <a:ext cx="289734" cy="461665"/>
            </a:xfrm>
            <a:prstGeom prst="rect">
              <a:avLst/>
            </a:prstGeom>
            <a:noFill/>
            <a:ln>
              <a:noFill/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10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5452662" y="3738889"/>
              <a:ext cx="4751383" cy="403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 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下料尺寸检测工位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EFBB43D-3F16-B8C4-21AE-EB906EB889B9}"/>
                </a:ext>
              </a:extLst>
            </p:cNvPr>
            <p:cNvGrpSpPr/>
            <p:nvPr>
              <p:custDataLst>
                <p:tags r:id="rId15"/>
              </p:custDataLst>
            </p:nvPr>
          </p:nvGrpSpPr>
          <p:grpSpPr>
            <a:xfrm>
              <a:off x="4828016" y="2036137"/>
              <a:ext cx="608675" cy="528741"/>
              <a:chOff x="4022431" y="654654"/>
              <a:chExt cx="604868" cy="553963"/>
            </a:xfr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grpSpPr>
          <p:sp>
            <p:nvSpPr>
              <p:cNvPr id="32" name="六边形 31">
                <a:extLst>
                  <a:ext uri="{FF2B5EF4-FFF2-40B4-BE49-F238E27FC236}">
                    <a16:creationId xmlns:a16="http://schemas.microsoft.com/office/drawing/2014/main" id="{6DFA8601-C0CB-9C31-C4D8-4B31804F27C0}"/>
                  </a:ext>
                </a:extLst>
              </p:cNvPr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4022431" y="654654"/>
                <a:ext cx="604868" cy="540000"/>
              </a:xfrm>
              <a:prstGeom prst="hexagon">
                <a:avLst/>
              </a:prstGeom>
              <a:grpFill/>
              <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TextBox 6">
                <a:extLst>
                  <a:ext uri="{FF2B5EF4-FFF2-40B4-BE49-F238E27FC236}">
                    <a16:creationId xmlns:a16="http://schemas.microsoft.com/office/drawing/2014/main" id="{43B8E69D-9E7C-090A-7BA8-E16B65301DD5}"/>
                  </a:ext>
                </a:extLst>
              </p:cNvPr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4180849" y="724930"/>
                <a:ext cx="288032" cy="483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</p:txBody>
          </p:sp>
        </p:grpSp>
        <p:sp>
          <p:nvSpPr>
            <p:cNvPr id="34" name="TextBox 19">
              <a:extLst>
                <a:ext uri="{FF2B5EF4-FFF2-40B4-BE49-F238E27FC236}">
                  <a16:creationId xmlns:a16="http://schemas.microsoft.com/office/drawing/2014/main" id="{9C56CDBA-50CE-0ACA-9C29-8DC2AA09F0C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452662" y="2044572"/>
              <a:ext cx="4107117" cy="403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卷绕对齐度工位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六边形 28">
              <a:extLst>
                <a:ext uri="{FF2B5EF4-FFF2-40B4-BE49-F238E27FC236}">
                  <a16:creationId xmlns:a16="http://schemas.microsoft.com/office/drawing/2014/main" id="{A698807A-2610-2FD1-90EE-69AF93E05C95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>
            <a:xfrm>
              <a:off x="4797725" y="4358041"/>
              <a:ext cx="608484" cy="515581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Box 6">
              <a:extLst>
                <a:ext uri="{FF2B5EF4-FFF2-40B4-BE49-F238E27FC236}">
                  <a16:creationId xmlns:a16="http://schemas.microsoft.com/office/drawing/2014/main" id="{2C349CEF-0E68-CB20-9746-B12630F484ED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4987432" y="4374215"/>
              <a:ext cx="289734" cy="461665"/>
            </a:xfrm>
            <a:prstGeom prst="rect">
              <a:avLst/>
            </a:prstGeom>
            <a:noFill/>
            <a:ln>
              <a:noFill/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Box 19">
              <a:extLst>
                <a:ext uri="{FF2B5EF4-FFF2-40B4-BE49-F238E27FC236}">
                  <a16:creationId xmlns:a16="http://schemas.microsoft.com/office/drawing/2014/main" id="{008A7455-BA2B-ED79-FCF9-89294047F1B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5442217" y="4339746"/>
              <a:ext cx="4751383" cy="417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电芯定位及表面检测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六边形 36">
              <a:extLst>
                <a:ext uri="{FF2B5EF4-FFF2-40B4-BE49-F238E27FC236}">
                  <a16:creationId xmlns:a16="http://schemas.microsoft.com/office/drawing/2014/main" id="{570646FC-C26B-1952-8860-3D7C2555C974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>
            <a:xfrm>
              <a:off x="4808170" y="4973623"/>
              <a:ext cx="608484" cy="515581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1C9F1ED2-6FFA-CDCD-95BD-A952564F4563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4987432" y="5029831"/>
              <a:ext cx="289734" cy="461665"/>
            </a:xfrm>
            <a:prstGeom prst="rect">
              <a:avLst/>
            </a:prstGeom>
            <a:noFill/>
            <a:ln>
              <a:noFill/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Box 19">
              <a:extLst>
                <a:ext uri="{FF2B5EF4-FFF2-40B4-BE49-F238E27FC236}">
                  <a16:creationId xmlns:a16="http://schemas.microsoft.com/office/drawing/2014/main" id="{95D7D230-6FFB-D4A6-525F-BEE67DB76BD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5452662" y="4955328"/>
              <a:ext cx="4751383" cy="417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 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料盒定位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六边形 40">
              <a:extLst>
                <a:ext uri="{FF2B5EF4-FFF2-40B4-BE49-F238E27FC236}">
                  <a16:creationId xmlns:a16="http://schemas.microsoft.com/office/drawing/2014/main" id="{ECF15310-E4BE-EC12-B7AC-F935BE2E72B7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>
            <a:xfrm>
              <a:off x="4808170" y="5566146"/>
              <a:ext cx="608484" cy="515581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TextBox 6">
              <a:extLst>
                <a:ext uri="{FF2B5EF4-FFF2-40B4-BE49-F238E27FC236}">
                  <a16:creationId xmlns:a16="http://schemas.microsoft.com/office/drawing/2014/main" id="{B0262F27-D151-F071-98A2-0ABECFAF38FE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4797930" y="5664094"/>
              <a:ext cx="608484" cy="461665"/>
            </a:xfrm>
            <a:prstGeom prst="rect">
              <a:avLst/>
            </a:prstGeom>
            <a:noFill/>
            <a:ln>
              <a:noFill/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43" name="TextBox 19">
              <a:extLst>
                <a:ext uri="{FF2B5EF4-FFF2-40B4-BE49-F238E27FC236}">
                  <a16:creationId xmlns:a16="http://schemas.microsoft.com/office/drawing/2014/main" id="{9570148E-2CFA-E33E-A00C-C60DB44C34D8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5452662" y="5547851"/>
              <a:ext cx="47513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工位</a:t>
              </a:r>
              <a:r>
                <a:rPr kumimoji="0" lang="en-US" altLang="zh-CN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 3D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压花检测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020635"/>
              </p:ext>
            </p:extLst>
          </p:nvPr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视觉需求：检测正反面槽位边缘区域是否刷掉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兼容尺寸：极片宽度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≤160mm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，极耳高度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检测精度：无，按常规精度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走带速度：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≤660mm/s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8175" y="939800"/>
            <a:ext cx="251460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380" y="91440"/>
            <a:ext cx="10972800" cy="42735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工位一 阴极模切后切口检测工位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269C40-7CBF-1823-3782-56F4D61C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621" y="2079448"/>
            <a:ext cx="2324624" cy="2880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E8667C-F5B6-FCB7-9DED-30A0E33B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2" y="2653550"/>
            <a:ext cx="2449011" cy="1944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表格 12289"/>
          <p:cNvGraphicFramePr/>
          <p:nvPr>
            <p:extLst>
              <p:ext uri="{D42A27DB-BD31-4B8C-83A1-F6EECF244321}">
                <p14:modId xmlns:p14="http://schemas.microsoft.com/office/powerpoint/2010/main" val="3744952941"/>
              </p:ext>
            </p:extLst>
          </p:nvPr>
        </p:nvGraphicFramePr>
        <p:xfrm>
          <a:off x="623888" y="1390650"/>
          <a:ext cx="10814050" cy="4335780"/>
        </p:xfrm>
        <a:graphic>
          <a:graphicData uri="http://schemas.openxmlformats.org/drawingml/2006/table">
            <a:tbl>
              <a:tblPr/>
              <a:tblGrid>
                <a:gridCol w="90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41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MV-CS050-10GC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2448 × 2048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777875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3.45 µm 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待定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0.02mm/px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24.2 fps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MVL-MF2528M-8MP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25mm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150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50*41mm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CST-C60M60-W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同轴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背光源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CST-PHFS5050-W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9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平行背光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defTabSz="914400" eaLnBrk="1" hangingPunct="1">
                        <a:buFont typeface="Wingdings" panose="05000000000000000000" charset="0"/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反面槽口尺寸及残粉检测；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工位一 阴极模切后切口检测工位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文本框 49"/>
          <p:cNvSpPr txBox="1"/>
          <p:nvPr/>
        </p:nvSpPr>
        <p:spPr>
          <a:xfrm>
            <a:off x="4295774" y="5150485"/>
            <a:ext cx="7344841" cy="98361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eaLnBrk="0" hangingPunct="0"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、相机光源角度如图安装；</a:t>
            </a: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、安装时，切口检测区域要在相机视野中心，光源安装以相机视野中心为准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、相机光源尽量水平安装，减少灰尘落入背光；</a:t>
            </a:r>
          </a:p>
          <a:p>
            <a:pPr eaLnBrk="0" hangingPunct="0">
              <a:buFontTx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工位一 阴极模切后切口检测工位</a:t>
            </a:r>
          </a:p>
        </p:txBody>
      </p:sp>
      <p:grpSp>
        <p:nvGrpSpPr>
          <p:cNvPr id="13339" name="组合 49"/>
          <p:cNvGrpSpPr/>
          <p:nvPr/>
        </p:nvGrpSpPr>
        <p:grpSpPr>
          <a:xfrm>
            <a:off x="4439920" y="2305050"/>
            <a:ext cx="3882073" cy="1992313"/>
            <a:chOff x="5159896" y="1987888"/>
            <a:chExt cx="3881752" cy="1993958"/>
          </a:xfrm>
        </p:grpSpPr>
        <p:sp>
          <p:nvSpPr>
            <p:cNvPr id="57" name="矩形 56"/>
            <p:cNvSpPr/>
            <p:nvPr/>
          </p:nvSpPr>
          <p:spPr>
            <a:xfrm>
              <a:off x="5159896" y="2688871"/>
              <a:ext cx="2942347" cy="86558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341" name="组合 40"/>
            <p:cNvGrpSpPr/>
            <p:nvPr/>
          </p:nvGrpSpPr>
          <p:grpSpPr>
            <a:xfrm>
              <a:off x="5580721" y="1987888"/>
              <a:ext cx="2380200" cy="1993958"/>
              <a:chOff x="5580721" y="1987888"/>
              <a:chExt cx="2380200" cy="1993958"/>
            </a:xfrm>
          </p:grpSpPr>
          <p:pic>
            <p:nvPicPr>
              <p:cNvPr id="13342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343221" y="2225385"/>
                <a:ext cx="1909979" cy="143498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43" name="图片 1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6065879" y="2551414"/>
                <a:ext cx="375728" cy="37288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13344" name="组合 21"/>
              <p:cNvGrpSpPr/>
              <p:nvPr/>
            </p:nvGrpSpPr>
            <p:grpSpPr>
              <a:xfrm>
                <a:off x="6291640" y="2157403"/>
                <a:ext cx="1412757" cy="590223"/>
                <a:chOff x="3954427" y="2048074"/>
                <a:chExt cx="1412757" cy="590223"/>
              </a:xfrm>
            </p:grpSpPr>
            <p:sp>
              <p:nvSpPr>
                <p:cNvPr id="12295" name="矩形 76"/>
                <p:cNvSpPr/>
                <p:nvPr/>
              </p:nvSpPr>
              <p:spPr bwMode="auto">
                <a:xfrm flipH="1">
                  <a:off x="4741811" y="2048562"/>
                  <a:ext cx="625424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</a:p>
              </p:txBody>
            </p:sp>
            <p:sp>
              <p:nvSpPr>
                <p:cNvPr id="12296" name="矩形 8"/>
                <p:cNvSpPr/>
                <p:nvPr/>
              </p:nvSpPr>
              <p:spPr bwMode="auto">
                <a:xfrm flipH="1" flipV="1">
                  <a:off x="3954476" y="2129591"/>
                  <a:ext cx="955597" cy="508420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3347" name="组合 30"/>
              <p:cNvGrpSpPr/>
              <p:nvPr/>
            </p:nvGrpSpPr>
            <p:grpSpPr>
              <a:xfrm>
                <a:off x="6468742" y="3404634"/>
                <a:ext cx="1492179" cy="577212"/>
                <a:chOff x="3831768" y="1906661"/>
                <a:chExt cx="1492179" cy="577212"/>
              </a:xfrm>
            </p:grpSpPr>
            <p:sp>
              <p:nvSpPr>
                <p:cNvPr id="12291" name="矩形 76"/>
                <p:cNvSpPr/>
                <p:nvPr/>
              </p:nvSpPr>
              <p:spPr bwMode="auto">
                <a:xfrm flipH="1">
                  <a:off x="4676981" y="2267795"/>
                  <a:ext cx="647647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光源</a:t>
                  </a:r>
                </a:p>
              </p:txBody>
            </p:sp>
            <p:sp>
              <p:nvSpPr>
                <p:cNvPr id="12292" name="矩形 8"/>
                <p:cNvSpPr/>
                <p:nvPr/>
              </p:nvSpPr>
              <p:spPr bwMode="auto">
                <a:xfrm flipH="1">
                  <a:off x="3832501" y="1907134"/>
                  <a:ext cx="955596" cy="460755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sp>
          <p:nvSpPr>
            <p:cNvPr id="59" name="矩形 76"/>
            <p:cNvSpPr/>
            <p:nvPr/>
          </p:nvSpPr>
          <p:spPr bwMode="auto">
            <a:xfrm flipH="1">
              <a:off x="8394001" y="2284996"/>
              <a:ext cx="647647" cy="216078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极片</a:t>
              </a:r>
            </a:p>
          </p:txBody>
        </p:sp>
        <p:sp>
          <p:nvSpPr>
            <p:cNvPr id="60" name="矩形 8"/>
            <p:cNvSpPr/>
            <p:nvPr/>
          </p:nvSpPr>
          <p:spPr bwMode="auto">
            <a:xfrm flipH="1" flipV="1">
              <a:off x="7704131" y="2394624"/>
              <a:ext cx="689553" cy="686366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301" name="矩形 12300"/>
          <p:cNvSpPr/>
          <p:nvPr/>
        </p:nvSpPr>
        <p:spPr>
          <a:xfrm>
            <a:off x="6724650" y="2898775"/>
            <a:ext cx="92075" cy="2936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353" name="组合 12308"/>
          <p:cNvGrpSpPr/>
          <p:nvPr/>
        </p:nvGrpSpPr>
        <p:grpSpPr>
          <a:xfrm>
            <a:off x="263525" y="914026"/>
            <a:ext cx="3742055" cy="4693024"/>
            <a:chOff x="-856" y="603203"/>
            <a:chExt cx="3926511" cy="5344941"/>
          </a:xfrm>
        </p:grpSpPr>
        <p:sp>
          <p:nvSpPr>
            <p:cNvPr id="9" name="矩形 8"/>
            <p:cNvSpPr/>
            <p:nvPr/>
          </p:nvSpPr>
          <p:spPr bwMode="auto">
            <a:xfrm flipH="1">
              <a:off x="2136403" y="5260786"/>
              <a:ext cx="955749" cy="374633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3354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0224" y="3830958"/>
              <a:ext cx="1419086" cy="143763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5" name="TextBox 23"/>
            <p:cNvSpPr txBox="1"/>
            <p:nvPr/>
          </p:nvSpPr>
          <p:spPr>
            <a:xfrm>
              <a:off x="-856" y="5099081"/>
              <a:ext cx="1220788" cy="3493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20±10mm</a:t>
              </a:r>
            </a:p>
          </p:txBody>
        </p:sp>
        <p:cxnSp>
          <p:nvCxnSpPr>
            <p:cNvPr id="20" name="直接连接符 19"/>
            <p:cNvCxnSpPr/>
            <p:nvPr/>
          </p:nvCxnSpPr>
          <p:spPr bwMode="auto">
            <a:xfrm flipH="1">
              <a:off x="840902" y="3166967"/>
              <a:ext cx="17892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57" name="Picture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44521" y="2141576"/>
              <a:ext cx="350967" cy="1009568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23" name="直接连接符 22"/>
            <p:cNvCxnSpPr/>
            <p:nvPr/>
          </p:nvCxnSpPr>
          <p:spPr bwMode="auto">
            <a:xfrm flipH="1">
              <a:off x="262054" y="5159191"/>
              <a:ext cx="24036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 bwMode="auto">
            <a:xfrm>
              <a:off x="1453724" y="5167129"/>
              <a:ext cx="762059" cy="460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360" name="TextBox 39"/>
            <p:cNvSpPr txBox="1"/>
            <p:nvPr/>
          </p:nvSpPr>
          <p:spPr>
            <a:xfrm rot="5400000">
              <a:off x="190894" y="4100917"/>
              <a:ext cx="1440134" cy="3218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150±10mm</a:t>
              </a:r>
            </a:p>
          </p:txBody>
        </p:sp>
        <p:cxnSp>
          <p:nvCxnSpPr>
            <p:cNvPr id="31" name="直接连接符 30"/>
            <p:cNvCxnSpPr/>
            <p:nvPr/>
          </p:nvCxnSpPr>
          <p:spPr bwMode="auto">
            <a:xfrm flipH="1">
              <a:off x="1856981" y="4951238"/>
              <a:ext cx="979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 bwMode="auto">
            <a:xfrm flipH="1">
              <a:off x="2700009" y="4943300"/>
              <a:ext cx="3175" cy="21589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 bwMode="auto">
            <a:xfrm>
              <a:off x="1088571" y="3213002"/>
              <a:ext cx="0" cy="188586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64" name="组合 33"/>
            <p:cNvGrpSpPr/>
            <p:nvPr/>
          </p:nvGrpSpPr>
          <p:grpSpPr>
            <a:xfrm>
              <a:off x="2485767" y="3571132"/>
              <a:ext cx="1437495" cy="617818"/>
              <a:chOff x="4073524" y="2563648"/>
              <a:chExt cx="1437495" cy="617701"/>
            </a:xfrm>
          </p:grpSpPr>
          <p:sp>
            <p:nvSpPr>
              <p:cNvPr id="54" name="矩形 76"/>
              <p:cNvSpPr/>
              <p:nvPr/>
            </p:nvSpPr>
            <p:spPr bwMode="auto">
              <a:xfrm flipH="1">
                <a:off x="4862486" y="2564277"/>
                <a:ext cx="647750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光源</a:t>
                </a:r>
              </a:p>
            </p:txBody>
          </p:sp>
          <p:sp>
            <p:nvSpPr>
              <p:cNvPr id="55" name="矩形 8"/>
              <p:cNvSpPr/>
              <p:nvPr/>
            </p:nvSpPr>
            <p:spPr bwMode="auto">
              <a:xfrm flipH="1" flipV="1">
                <a:off x="4073437" y="267220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3367" name="组合 36"/>
            <p:cNvGrpSpPr/>
            <p:nvPr/>
          </p:nvGrpSpPr>
          <p:grpSpPr>
            <a:xfrm>
              <a:off x="1838067" y="1933575"/>
              <a:ext cx="1437495" cy="617818"/>
              <a:chOff x="4073524" y="2563648"/>
              <a:chExt cx="1437495" cy="617701"/>
            </a:xfrm>
          </p:grpSpPr>
          <p:sp>
            <p:nvSpPr>
              <p:cNvPr id="52" name="矩形 76"/>
              <p:cNvSpPr/>
              <p:nvPr/>
            </p:nvSpPr>
            <p:spPr bwMode="auto">
              <a:xfrm flipH="1">
                <a:off x="4862435" y="2563607"/>
                <a:ext cx="649338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</a:p>
            </p:txBody>
          </p:sp>
          <p:sp>
            <p:nvSpPr>
              <p:cNvPr id="53" name="矩形 8"/>
              <p:cNvSpPr/>
              <p:nvPr/>
            </p:nvSpPr>
            <p:spPr bwMode="auto">
              <a:xfrm flipH="1" flipV="1">
                <a:off x="4073386" y="267153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8" name="矩形 76"/>
            <p:cNvSpPr/>
            <p:nvPr/>
          </p:nvSpPr>
          <p:spPr bwMode="auto">
            <a:xfrm flipH="1">
              <a:off x="2844395" y="5500547"/>
              <a:ext cx="814199" cy="248876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槽位切口</a:t>
              </a:r>
            </a:p>
          </p:txBody>
        </p:sp>
        <p:sp>
          <p:nvSpPr>
            <p:cNvPr id="12297" name="文本框 12"/>
            <p:cNvSpPr txBox="1"/>
            <p:nvPr/>
          </p:nvSpPr>
          <p:spPr>
            <a:xfrm>
              <a:off x="204430" y="603203"/>
              <a:ext cx="1439974" cy="420471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anchor="ctr">
              <a:spAutoFit/>
            </a:bodyPr>
            <a:lstStyle>
              <a:defPPr>
                <a:defRPr lang="zh-CN"/>
              </a:defPPr>
              <a:lvl1pPr>
                <a:defRPr kumimoji="0" sz="1400" i="0" u="none" strike="noStrike" cap="none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安装示意图</a:t>
              </a:r>
            </a:p>
          </p:txBody>
        </p:sp>
        <p:sp>
          <p:nvSpPr>
            <p:cNvPr id="12298" name="矩形 12297"/>
            <p:cNvSpPr/>
            <p:nvPr/>
          </p:nvSpPr>
          <p:spPr bwMode="auto">
            <a:xfrm>
              <a:off x="1358467" y="5384606"/>
              <a:ext cx="993852" cy="460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99" name="矩形 76"/>
            <p:cNvSpPr/>
            <p:nvPr/>
          </p:nvSpPr>
          <p:spPr bwMode="auto">
            <a:xfrm flipH="1">
              <a:off x="771046" y="5732254"/>
              <a:ext cx="647750" cy="21589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背光</a:t>
              </a:r>
            </a:p>
          </p:txBody>
        </p:sp>
        <p:sp>
          <p:nvSpPr>
            <p:cNvPr id="12300" name="矩形 8"/>
            <p:cNvSpPr/>
            <p:nvPr/>
          </p:nvSpPr>
          <p:spPr bwMode="auto">
            <a:xfrm>
              <a:off x="1358467" y="5460803"/>
              <a:ext cx="574720" cy="374633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302" name="直接连接符 12301"/>
            <p:cNvCxnSpPr/>
            <p:nvPr/>
          </p:nvCxnSpPr>
          <p:spPr bwMode="auto">
            <a:xfrm flipH="1" flipV="1">
              <a:off x="726593" y="5381431"/>
              <a:ext cx="833503" cy="31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5" name="直接箭头连接符 12304"/>
            <p:cNvCxnSpPr/>
            <p:nvPr/>
          </p:nvCxnSpPr>
          <p:spPr bwMode="auto">
            <a:xfrm>
              <a:off x="1180018" y="5145222"/>
              <a:ext cx="15876" cy="26033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78" name="TextBox 23"/>
            <p:cNvSpPr txBox="1"/>
            <p:nvPr/>
          </p:nvSpPr>
          <p:spPr>
            <a:xfrm>
              <a:off x="2704867" y="4897536"/>
              <a:ext cx="1220788" cy="3493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20±10mm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197215" y="908685"/>
            <a:ext cx="2989580" cy="4576445"/>
            <a:chOff x="12909" y="1431"/>
            <a:chExt cx="4708" cy="7207"/>
          </a:xfrm>
        </p:grpSpPr>
        <p:grpSp>
          <p:nvGrpSpPr>
            <p:cNvPr id="10" name="组合 9"/>
            <p:cNvGrpSpPr/>
            <p:nvPr/>
          </p:nvGrpSpPr>
          <p:grpSpPr>
            <a:xfrm>
              <a:off x="14589" y="6731"/>
              <a:ext cx="2339" cy="1142"/>
              <a:chOff x="14289" y="6747"/>
              <a:chExt cx="3758" cy="1409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14289" y="6996"/>
                <a:ext cx="3758" cy="116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15301" y="6988"/>
                <a:ext cx="696" cy="51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14924" y="6747"/>
                <a:ext cx="1496" cy="941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文本框 12"/>
            <p:cNvSpPr txBox="1"/>
            <p:nvPr/>
          </p:nvSpPr>
          <p:spPr>
            <a:xfrm>
              <a:off x="12909" y="1431"/>
              <a:ext cx="2630" cy="5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anchor="ctr">
              <a:spAutoFit/>
            </a:bodyPr>
            <a:lstStyle>
              <a:defPPr>
                <a:defRPr lang="zh-CN"/>
              </a:defPPr>
              <a:lvl1pPr>
                <a:defRPr kumimoji="0" sz="1400" i="0" u="none" strike="noStrike" cap="none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相机视野示意图</a:t>
              </a:r>
            </a:p>
          </p:txBody>
        </p:sp>
        <p:pic>
          <p:nvPicPr>
            <p:cNvPr id="13319" name="图片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156" y="3048"/>
              <a:ext cx="496" cy="139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41" name="直接连接符 40"/>
            <p:cNvCxnSpPr>
              <a:stCxn id="13319" idx="2"/>
            </p:cNvCxnSpPr>
            <p:nvPr/>
          </p:nvCxnSpPr>
          <p:spPr>
            <a:xfrm flipH="1">
              <a:off x="15006" y="4438"/>
              <a:ext cx="398" cy="2663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3319" idx="2"/>
              <a:endCxn id="5" idx="3"/>
            </p:cNvCxnSpPr>
            <p:nvPr/>
          </p:nvCxnSpPr>
          <p:spPr>
            <a:xfrm>
              <a:off x="15404" y="4438"/>
              <a:ext cx="511" cy="2675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15443" y="2451"/>
              <a:ext cx="0" cy="6124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8"/>
            <p:cNvSpPr/>
            <p:nvPr/>
          </p:nvSpPr>
          <p:spPr bwMode="auto">
            <a:xfrm flipH="1" flipV="1">
              <a:off x="15497" y="6080"/>
              <a:ext cx="1086" cy="1080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矩形 8"/>
            <p:cNvSpPr/>
            <p:nvPr/>
          </p:nvSpPr>
          <p:spPr bwMode="auto">
            <a:xfrm flipH="1">
              <a:off x="15652" y="7555"/>
              <a:ext cx="824" cy="904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矩形 76"/>
            <p:cNvSpPr/>
            <p:nvPr/>
          </p:nvSpPr>
          <p:spPr bwMode="auto">
            <a:xfrm flipH="1">
              <a:off x="16177" y="8111"/>
              <a:ext cx="1440" cy="52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相机视野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50x41mm</a:t>
              </a:r>
            </a:p>
          </p:txBody>
        </p:sp>
        <p:sp>
          <p:nvSpPr>
            <p:cNvPr id="15" name="矩形 76"/>
            <p:cNvSpPr/>
            <p:nvPr/>
          </p:nvSpPr>
          <p:spPr bwMode="auto">
            <a:xfrm flipH="1">
              <a:off x="16289" y="5967"/>
              <a:ext cx="1020" cy="34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切口区域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77888"/>
              </p:ext>
            </p:extLst>
          </p:nvPr>
        </p:nvGraphicFramePr>
        <p:xfrm>
          <a:off x="638175" y="1603375"/>
          <a:ext cx="10714409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0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视觉需求：检测极耳胶长宽、焊接位置；负极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增加焊点数量和大小检测：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视野：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相机要求：海康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走带速度：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≤660mm/s</a:t>
                      </a: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8175" y="939800"/>
            <a:ext cx="251460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工位二 </a:t>
            </a:r>
            <a:r>
              <a:rPr kumimoji="0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阴/阳极焊接检测工位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34DB47-B137-A7A9-F509-5EDFA4745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00" y="2066344"/>
            <a:ext cx="3801212" cy="9804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0CE9F8-87D2-1274-B64A-773B35F21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208" y="3287256"/>
            <a:ext cx="1672435" cy="7965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D6F4D78-9BA6-C92E-0A38-00AD26D33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144" y="4149080"/>
            <a:ext cx="3333261" cy="11608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表格 12289"/>
          <p:cNvGraphicFramePr/>
          <p:nvPr>
            <p:extLst>
              <p:ext uri="{D42A27DB-BD31-4B8C-83A1-F6EECF244321}">
                <p14:modId xmlns:p14="http://schemas.microsoft.com/office/powerpoint/2010/main" val="2843326853"/>
              </p:ext>
            </p:extLst>
          </p:nvPr>
        </p:nvGraphicFramePr>
        <p:xfrm>
          <a:off x="623888" y="1390650"/>
          <a:ext cx="10814050" cy="4280535"/>
        </p:xfrm>
        <a:graphic>
          <a:graphicData uri="http://schemas.openxmlformats.org/drawingml/2006/table">
            <a:tbl>
              <a:tblPr/>
              <a:tblGrid>
                <a:gridCol w="900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2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41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MV-CS050-10GC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2448 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2048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777875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3.45 µm 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待定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0.028mm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/px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24fps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MVL-MF1628M-8MP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16mm</a:t>
                      </a:r>
                      <a:endParaRPr lang="en-US" altLang="zh-CN" sz="1400" dirty="0">
                        <a:solidFill>
                          <a:srgbClr val="0D0D0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130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66*55mm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21902" marR="121902" marT="6096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CST-COS7080-W</a:t>
                      </a:r>
                      <a:endParaRPr lang="en-US" altLang="zh-CN" sz="1400" b="0" i="0" u="none" kern="120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同轴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背光源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CST-PHFS5050-W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9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平行背光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4" marB="6096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以上为阳阴极配置数量；</a:t>
                      </a:r>
                    </a:p>
                  </a:txBody>
                  <a:tcPr marL="47993" marR="47993" marT="48003" marB="4800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工位二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阳极焊接检测工位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文本框 49"/>
          <p:cNvSpPr txBox="1"/>
          <p:nvPr/>
        </p:nvSpPr>
        <p:spPr>
          <a:xfrm>
            <a:off x="3956919" y="4861381"/>
            <a:ext cx="6713388" cy="1514499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eaLnBrk="0" hangingPunct="0"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相机光源角度如图安装，光源发光面长边对应极耳长边；</a:t>
            </a: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、安装时，相机、前光源要在整个焊接极耳中心，极片边与背光中心对齐；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、相机光源尽量水平安装，减少背光掉落灰尘；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、检测背面焊接相机无需背光；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、负极需要检测焊点，相机光源中心需与极耳长边中心重合；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工位二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阳极焊接检测工位</a:t>
            </a:r>
          </a:p>
        </p:txBody>
      </p:sp>
      <p:grpSp>
        <p:nvGrpSpPr>
          <p:cNvPr id="13339" name="组合 49"/>
          <p:cNvGrpSpPr/>
          <p:nvPr/>
        </p:nvGrpSpPr>
        <p:grpSpPr>
          <a:xfrm>
            <a:off x="4511675" y="2492373"/>
            <a:ext cx="3960813" cy="1992315"/>
            <a:chOff x="5159896" y="1987886"/>
            <a:chExt cx="3960486" cy="1993960"/>
          </a:xfrm>
        </p:grpSpPr>
        <p:sp>
          <p:nvSpPr>
            <p:cNvPr id="57" name="矩形 56"/>
            <p:cNvSpPr/>
            <p:nvPr/>
          </p:nvSpPr>
          <p:spPr>
            <a:xfrm>
              <a:off x="5159896" y="2688871"/>
              <a:ext cx="2840755" cy="86558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341" name="组合 40"/>
            <p:cNvGrpSpPr/>
            <p:nvPr/>
          </p:nvGrpSpPr>
          <p:grpSpPr>
            <a:xfrm>
              <a:off x="5580720" y="1987886"/>
              <a:ext cx="2380201" cy="1993960"/>
              <a:chOff x="5580720" y="1987886"/>
              <a:chExt cx="2380201" cy="1993960"/>
            </a:xfrm>
          </p:grpSpPr>
          <p:pic>
            <p:nvPicPr>
              <p:cNvPr id="13342" name="图片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343221" y="2225385"/>
                <a:ext cx="1909979" cy="143498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3343" name="图片 1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6065879" y="2551414"/>
                <a:ext cx="375728" cy="37288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13344" name="组合 21"/>
              <p:cNvGrpSpPr/>
              <p:nvPr/>
            </p:nvGrpSpPr>
            <p:grpSpPr>
              <a:xfrm>
                <a:off x="6291640" y="2157403"/>
                <a:ext cx="1412757" cy="590223"/>
                <a:chOff x="3954427" y="2048074"/>
                <a:chExt cx="1412757" cy="590223"/>
              </a:xfrm>
            </p:grpSpPr>
            <p:sp>
              <p:nvSpPr>
                <p:cNvPr id="12295" name="矩形 76"/>
                <p:cNvSpPr/>
                <p:nvPr/>
              </p:nvSpPr>
              <p:spPr bwMode="auto">
                <a:xfrm flipH="1">
                  <a:off x="4741811" y="2048562"/>
                  <a:ext cx="625424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</a:p>
              </p:txBody>
            </p:sp>
            <p:sp>
              <p:nvSpPr>
                <p:cNvPr id="12296" name="矩形 8"/>
                <p:cNvSpPr/>
                <p:nvPr/>
              </p:nvSpPr>
              <p:spPr bwMode="auto">
                <a:xfrm flipH="1" flipV="1">
                  <a:off x="3954476" y="2129591"/>
                  <a:ext cx="955597" cy="508420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3347" name="组合 30"/>
              <p:cNvGrpSpPr/>
              <p:nvPr/>
            </p:nvGrpSpPr>
            <p:grpSpPr>
              <a:xfrm>
                <a:off x="6468742" y="3404634"/>
                <a:ext cx="1492179" cy="577212"/>
                <a:chOff x="3831768" y="1906661"/>
                <a:chExt cx="1492179" cy="577212"/>
              </a:xfrm>
            </p:grpSpPr>
            <p:sp>
              <p:nvSpPr>
                <p:cNvPr id="12291" name="矩形 76"/>
                <p:cNvSpPr/>
                <p:nvPr/>
              </p:nvSpPr>
              <p:spPr bwMode="auto">
                <a:xfrm flipH="1">
                  <a:off x="4676981" y="2267795"/>
                  <a:ext cx="647647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光源</a:t>
                  </a:r>
                </a:p>
              </p:txBody>
            </p:sp>
            <p:sp>
              <p:nvSpPr>
                <p:cNvPr id="12292" name="矩形 8"/>
                <p:cNvSpPr/>
                <p:nvPr/>
              </p:nvSpPr>
              <p:spPr bwMode="auto">
                <a:xfrm flipH="1">
                  <a:off x="3832501" y="1907134"/>
                  <a:ext cx="955596" cy="460755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sp>
          <p:nvSpPr>
            <p:cNvPr id="60" name="矩形 8"/>
            <p:cNvSpPr/>
            <p:nvPr/>
          </p:nvSpPr>
          <p:spPr bwMode="auto">
            <a:xfrm flipH="1" flipV="1">
              <a:off x="7776833" y="2464532"/>
              <a:ext cx="898451" cy="686366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矩形 76"/>
            <p:cNvSpPr/>
            <p:nvPr/>
          </p:nvSpPr>
          <p:spPr bwMode="auto">
            <a:xfrm flipH="1">
              <a:off x="8472735" y="2333296"/>
              <a:ext cx="647647" cy="216078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极片</a:t>
              </a:r>
            </a:p>
          </p:txBody>
        </p:sp>
      </p:grpSp>
      <p:sp>
        <p:nvSpPr>
          <p:cNvPr id="12301" name="矩形 12300"/>
          <p:cNvSpPr/>
          <p:nvPr/>
        </p:nvSpPr>
        <p:spPr>
          <a:xfrm>
            <a:off x="6724650" y="2898775"/>
            <a:ext cx="92075" cy="2936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353" name="组合 12308"/>
          <p:cNvGrpSpPr/>
          <p:nvPr/>
        </p:nvGrpSpPr>
        <p:grpSpPr>
          <a:xfrm>
            <a:off x="281305" y="972411"/>
            <a:ext cx="3908425" cy="4668294"/>
            <a:chOff x="-856" y="972048"/>
            <a:chExt cx="3926511" cy="4976096"/>
          </a:xfrm>
        </p:grpSpPr>
        <p:sp>
          <p:nvSpPr>
            <p:cNvPr id="9" name="矩形 8"/>
            <p:cNvSpPr/>
            <p:nvPr/>
          </p:nvSpPr>
          <p:spPr bwMode="auto">
            <a:xfrm flipH="1">
              <a:off x="2136403" y="5260786"/>
              <a:ext cx="955749" cy="374633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3354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80224" y="3830958"/>
              <a:ext cx="1419086" cy="143763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5" name="TextBox 23"/>
            <p:cNvSpPr txBox="1"/>
            <p:nvPr/>
          </p:nvSpPr>
          <p:spPr>
            <a:xfrm>
              <a:off x="-856" y="5099081"/>
              <a:ext cx="1220788" cy="3269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20±10mm</a:t>
              </a:r>
            </a:p>
          </p:txBody>
        </p:sp>
        <p:cxnSp>
          <p:nvCxnSpPr>
            <p:cNvPr id="20" name="直接连接符 19"/>
            <p:cNvCxnSpPr/>
            <p:nvPr/>
          </p:nvCxnSpPr>
          <p:spPr bwMode="auto">
            <a:xfrm flipH="1">
              <a:off x="840902" y="3166967"/>
              <a:ext cx="178925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57" name="Picture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44521" y="2141576"/>
              <a:ext cx="350967" cy="1009568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23" name="直接连接符 22"/>
            <p:cNvCxnSpPr/>
            <p:nvPr/>
          </p:nvCxnSpPr>
          <p:spPr bwMode="auto">
            <a:xfrm flipH="1">
              <a:off x="262054" y="5159191"/>
              <a:ext cx="24036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 bwMode="auto">
            <a:xfrm>
              <a:off x="1453724" y="5167129"/>
              <a:ext cx="762059" cy="460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360" name="TextBox 39"/>
            <p:cNvSpPr txBox="1"/>
            <p:nvPr/>
          </p:nvSpPr>
          <p:spPr>
            <a:xfrm rot="5400000">
              <a:off x="190894" y="4100315"/>
              <a:ext cx="1440134" cy="30812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130±10mm</a:t>
              </a:r>
            </a:p>
          </p:txBody>
        </p:sp>
        <p:cxnSp>
          <p:nvCxnSpPr>
            <p:cNvPr id="31" name="直接连接符 30"/>
            <p:cNvCxnSpPr/>
            <p:nvPr/>
          </p:nvCxnSpPr>
          <p:spPr bwMode="auto">
            <a:xfrm flipH="1">
              <a:off x="1856981" y="4951238"/>
              <a:ext cx="97956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 bwMode="auto">
            <a:xfrm flipH="1">
              <a:off x="2700009" y="4943300"/>
              <a:ext cx="3175" cy="21589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 bwMode="auto">
            <a:xfrm>
              <a:off x="1088571" y="3213002"/>
              <a:ext cx="0" cy="188586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64" name="组合 33"/>
            <p:cNvGrpSpPr/>
            <p:nvPr/>
          </p:nvGrpSpPr>
          <p:grpSpPr>
            <a:xfrm>
              <a:off x="2485767" y="3571132"/>
              <a:ext cx="1437495" cy="617818"/>
              <a:chOff x="4073524" y="2563648"/>
              <a:chExt cx="1437495" cy="617701"/>
            </a:xfrm>
          </p:grpSpPr>
          <p:sp>
            <p:nvSpPr>
              <p:cNvPr id="54" name="矩形 76"/>
              <p:cNvSpPr/>
              <p:nvPr/>
            </p:nvSpPr>
            <p:spPr bwMode="auto">
              <a:xfrm flipH="1">
                <a:off x="4862486" y="2564277"/>
                <a:ext cx="647750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光源</a:t>
                </a:r>
              </a:p>
            </p:txBody>
          </p:sp>
          <p:sp>
            <p:nvSpPr>
              <p:cNvPr id="55" name="矩形 8"/>
              <p:cNvSpPr/>
              <p:nvPr/>
            </p:nvSpPr>
            <p:spPr bwMode="auto">
              <a:xfrm flipH="1" flipV="1">
                <a:off x="4073437" y="267220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3367" name="组合 36"/>
            <p:cNvGrpSpPr/>
            <p:nvPr/>
          </p:nvGrpSpPr>
          <p:grpSpPr>
            <a:xfrm>
              <a:off x="1838067" y="1933575"/>
              <a:ext cx="1437495" cy="617818"/>
              <a:chOff x="4073524" y="2563648"/>
              <a:chExt cx="1437495" cy="617701"/>
            </a:xfrm>
          </p:grpSpPr>
          <p:sp>
            <p:nvSpPr>
              <p:cNvPr id="52" name="矩形 76"/>
              <p:cNvSpPr/>
              <p:nvPr/>
            </p:nvSpPr>
            <p:spPr bwMode="auto">
              <a:xfrm flipH="1">
                <a:off x="4862435" y="2563607"/>
                <a:ext cx="649338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</a:p>
            </p:txBody>
          </p:sp>
          <p:sp>
            <p:nvSpPr>
              <p:cNvPr id="53" name="矩形 8"/>
              <p:cNvSpPr/>
              <p:nvPr/>
            </p:nvSpPr>
            <p:spPr bwMode="auto">
              <a:xfrm flipH="1" flipV="1">
                <a:off x="4073386" y="267153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8" name="矩形 76"/>
            <p:cNvSpPr/>
            <p:nvPr/>
          </p:nvSpPr>
          <p:spPr bwMode="auto">
            <a:xfrm flipH="1">
              <a:off x="2844483" y="5500489"/>
              <a:ext cx="647750" cy="21589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极耳</a:t>
              </a:r>
            </a:p>
          </p:txBody>
        </p:sp>
        <p:sp>
          <p:nvSpPr>
            <p:cNvPr id="12297" name="文本框 12"/>
            <p:cNvSpPr txBox="1"/>
            <p:nvPr/>
          </p:nvSpPr>
          <p:spPr>
            <a:xfrm>
              <a:off x="255069" y="972048"/>
              <a:ext cx="1439974" cy="3958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anchor="ctr">
              <a:spAutoFit/>
            </a:bodyPr>
            <a:lstStyle>
              <a:defPPr>
                <a:defRPr lang="zh-CN"/>
              </a:defPPr>
              <a:lvl1pPr>
                <a:defRPr kumimoji="0" sz="1400" i="0" u="none" strike="noStrike" cap="none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安装示意图</a:t>
              </a:r>
            </a:p>
          </p:txBody>
        </p:sp>
        <p:sp>
          <p:nvSpPr>
            <p:cNvPr id="12298" name="矩形 12297"/>
            <p:cNvSpPr/>
            <p:nvPr/>
          </p:nvSpPr>
          <p:spPr bwMode="auto">
            <a:xfrm>
              <a:off x="1358467" y="5384606"/>
              <a:ext cx="993852" cy="460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99" name="矩形 76"/>
            <p:cNvSpPr/>
            <p:nvPr/>
          </p:nvSpPr>
          <p:spPr bwMode="auto">
            <a:xfrm flipH="1">
              <a:off x="771046" y="5732254"/>
              <a:ext cx="647750" cy="21589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背光</a:t>
              </a:r>
            </a:p>
          </p:txBody>
        </p:sp>
        <p:sp>
          <p:nvSpPr>
            <p:cNvPr id="12300" name="矩形 8"/>
            <p:cNvSpPr/>
            <p:nvPr/>
          </p:nvSpPr>
          <p:spPr bwMode="auto">
            <a:xfrm>
              <a:off x="1358467" y="5460803"/>
              <a:ext cx="574720" cy="374633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302" name="直接连接符 12301"/>
            <p:cNvCxnSpPr/>
            <p:nvPr/>
          </p:nvCxnSpPr>
          <p:spPr bwMode="auto">
            <a:xfrm flipH="1" flipV="1">
              <a:off x="726593" y="5381431"/>
              <a:ext cx="833503" cy="31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5" name="直接箭头连接符 12304"/>
            <p:cNvCxnSpPr/>
            <p:nvPr/>
          </p:nvCxnSpPr>
          <p:spPr bwMode="auto">
            <a:xfrm>
              <a:off x="1180018" y="5145222"/>
              <a:ext cx="15876" cy="26033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78" name="TextBox 23"/>
            <p:cNvSpPr txBox="1"/>
            <p:nvPr/>
          </p:nvSpPr>
          <p:spPr>
            <a:xfrm>
              <a:off x="2704867" y="4897536"/>
              <a:ext cx="1220788" cy="3269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20±10mm</a:t>
              </a:r>
            </a:p>
          </p:txBody>
        </p:sp>
      </p:grpSp>
      <p:sp>
        <p:nvSpPr>
          <p:cNvPr id="7" name="文本框 12"/>
          <p:cNvSpPr txBox="1"/>
          <p:nvPr/>
        </p:nvSpPr>
        <p:spPr>
          <a:xfrm>
            <a:off x="8197215" y="908542"/>
            <a:ext cx="1670050" cy="3736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相机视野示意图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9264015" y="1556385"/>
            <a:ext cx="1922780" cy="3928110"/>
            <a:chOff x="14589" y="2451"/>
            <a:chExt cx="3028" cy="6186"/>
          </a:xfrm>
        </p:grpSpPr>
        <p:grpSp>
          <p:nvGrpSpPr>
            <p:cNvPr id="10" name="组合 9"/>
            <p:cNvGrpSpPr/>
            <p:nvPr/>
          </p:nvGrpSpPr>
          <p:grpSpPr>
            <a:xfrm>
              <a:off x="14589" y="6731"/>
              <a:ext cx="2339" cy="1310"/>
              <a:chOff x="14289" y="6747"/>
              <a:chExt cx="3758" cy="1616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4289" y="7424"/>
                <a:ext cx="3758" cy="93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 flipV="1">
                <a:off x="15301" y="6992"/>
                <a:ext cx="696" cy="43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4924" y="6747"/>
                <a:ext cx="1496" cy="941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1" name="图片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156" y="3048"/>
              <a:ext cx="496" cy="139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2" name="直接连接符 11"/>
            <p:cNvCxnSpPr>
              <a:stCxn id="11" idx="2"/>
            </p:cNvCxnSpPr>
            <p:nvPr/>
          </p:nvCxnSpPr>
          <p:spPr>
            <a:xfrm flipH="1">
              <a:off x="15006" y="4438"/>
              <a:ext cx="398" cy="2663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11" idx="2"/>
              <a:endCxn id="6" idx="3"/>
            </p:cNvCxnSpPr>
            <p:nvPr/>
          </p:nvCxnSpPr>
          <p:spPr>
            <a:xfrm>
              <a:off x="15404" y="4438"/>
              <a:ext cx="511" cy="2675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5443" y="2451"/>
              <a:ext cx="0" cy="6124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8"/>
            <p:cNvSpPr/>
            <p:nvPr/>
          </p:nvSpPr>
          <p:spPr bwMode="auto">
            <a:xfrm flipH="1" flipV="1">
              <a:off x="15497" y="6080"/>
              <a:ext cx="1086" cy="1080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矩形 8"/>
            <p:cNvSpPr/>
            <p:nvPr/>
          </p:nvSpPr>
          <p:spPr bwMode="auto">
            <a:xfrm flipH="1">
              <a:off x="15652" y="7555"/>
              <a:ext cx="824" cy="904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矩形 76"/>
            <p:cNvSpPr/>
            <p:nvPr/>
          </p:nvSpPr>
          <p:spPr bwMode="auto">
            <a:xfrm flipH="1">
              <a:off x="16177" y="8111"/>
              <a:ext cx="1440" cy="52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相机视野</a:t>
              </a:r>
              <a:r>
                <a:rPr lang="en-US" altLang="zh-CN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x66mm</a:t>
              </a:r>
            </a:p>
          </p:txBody>
        </p:sp>
        <p:sp>
          <p:nvSpPr>
            <p:cNvPr id="15" name="矩形 76"/>
            <p:cNvSpPr/>
            <p:nvPr/>
          </p:nvSpPr>
          <p:spPr bwMode="auto">
            <a:xfrm flipH="1">
              <a:off x="16289" y="5967"/>
              <a:ext cx="1328" cy="31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极耳焊接区域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74263"/>
              </p:ext>
            </p:extLst>
          </p:nvPr>
        </p:nvGraphicFramePr>
        <p:xfrm>
          <a:off x="623888" y="1555750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视觉需求：检测绿胶位置以及极片缺陷；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极片兼容尺寸：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≤160mm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，极耳高度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10-20mm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相机要求：彩色相机，阴极阳极各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0.05mm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，单像素精度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0.1/3=0.03mm/px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走带速度：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≤660mm/s</a:t>
                      </a: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8175" y="938213"/>
            <a:ext cx="1863725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工位三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阳极绿胶检测工位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E8AA3A-98C7-20FD-5293-196CCF42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72" y="2478344"/>
            <a:ext cx="1619590" cy="9216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表格 16385"/>
          <p:cNvGraphicFramePr/>
          <p:nvPr>
            <p:extLst>
              <p:ext uri="{D42A27DB-BD31-4B8C-83A1-F6EECF244321}">
                <p14:modId xmlns:p14="http://schemas.microsoft.com/office/powerpoint/2010/main" val="737294511"/>
              </p:ext>
            </p:extLst>
          </p:nvPr>
        </p:nvGraphicFramePr>
        <p:xfrm>
          <a:off x="578455" y="1543428"/>
          <a:ext cx="10814050" cy="3325837"/>
        </p:xfrm>
        <a:graphic>
          <a:graphicData uri="http://schemas.openxmlformats.org/drawingml/2006/table">
            <a:tbl>
              <a:tblPr/>
              <a:tblGrid>
                <a:gridCol w="720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32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8976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896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2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PN8KCL-33KC(</a:t>
                      </a:r>
                      <a:r>
                        <a:rPr lang="zh-CN" altLang="en-US" sz="12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新</a:t>
                      </a:r>
                      <a:r>
                        <a:rPr lang="en-US" altLang="zh-CN" sz="12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0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8192 * 2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7μm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30us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0.026mm/px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48KHz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896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OPT-VCT60/5.6-0.17X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82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235±15mm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190mm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1*OPT-ETB-M72E10</a:t>
                      </a: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1*OPT-ETB-M72E8</a:t>
                      </a: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1*OPT-ETB-M72E6</a:t>
                      </a: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1*OPT-ADP-M42M72-E8</a:t>
                      </a: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1*OPT-ADP-V38M42-E18_23</a:t>
                      </a:r>
                    </a:p>
                  </a:txBody>
                  <a:tcPr marL="121902" marR="121902" marT="6095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616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</a:t>
                      </a:r>
                    </a:p>
                  </a:txBody>
                  <a:tcPr marL="0" marR="0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CST-ARS148316-XEK-W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气冷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光源）</a:t>
                      </a:r>
                      <a:endParaRPr lang="en-US" altLang="zh-CN" sz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0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线光源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0" marB="6095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896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796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以上为阳极阴极配置数量</a:t>
                      </a:r>
                    </a:p>
                  </a:txBody>
                  <a:tcPr marL="47993" marR="47993" marT="47991" marB="47991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50849" y="908720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工位三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阳极绿胶检测工位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49"/>
          <p:cNvSpPr txBox="1"/>
          <p:nvPr/>
        </p:nvSpPr>
        <p:spPr>
          <a:xfrm>
            <a:off x="4698192" y="4544525"/>
            <a:ext cx="6910387" cy="16247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  <a:buFontTx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、相机安装方向必须如图所示；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、相机、光源、过棍中心一致，法线是过棍中心与拍照点所连成的直线</a:t>
            </a: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、相机镜头护罩需按照相机视野角设计</a:t>
            </a: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、气冷光源注意气孔位置安装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、采用红色硬质氧化，光洁度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，硬度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HV600-800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，耐磨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度不变色；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、线扫相机到卷绕预留最长片长的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倍距离</a:t>
            </a: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工位三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阳极绿胶检测工位</a:t>
            </a:r>
          </a:p>
        </p:txBody>
      </p:sp>
      <p:sp>
        <p:nvSpPr>
          <p:cNvPr id="16426" name="文本框 12"/>
          <p:cNvSpPr txBox="1"/>
          <p:nvPr/>
        </p:nvSpPr>
        <p:spPr>
          <a:xfrm>
            <a:off x="255588" y="893763"/>
            <a:ext cx="1439863" cy="3746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767715" y="1292860"/>
            <a:ext cx="3157855" cy="4724400"/>
            <a:chOff x="950" y="2021"/>
            <a:chExt cx="4973" cy="7440"/>
          </a:xfrm>
        </p:grpSpPr>
        <p:sp>
          <p:nvSpPr>
            <p:cNvPr id="2" name="文本框 1"/>
            <p:cNvSpPr txBox="1"/>
            <p:nvPr/>
          </p:nvSpPr>
          <p:spPr bwMode="auto">
            <a:xfrm>
              <a:off x="3671" y="2021"/>
              <a:ext cx="1000" cy="5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法线</a:t>
              </a: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950" y="2284"/>
              <a:ext cx="4973" cy="7177"/>
              <a:chOff x="1930" y="2321"/>
              <a:chExt cx="4973" cy="7177"/>
            </a:xfrm>
          </p:grpSpPr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2" cstate="print"/>
              <a:srcRect l="3070" t="8372" r="2271" b="8125"/>
              <a:stretch>
                <a:fillRect/>
              </a:stretch>
            </p:blipFill>
            <p:spPr>
              <a:xfrm>
                <a:off x="4615" y="6636"/>
                <a:ext cx="1628" cy="756"/>
              </a:xfrm>
              <a:prstGeom prst="rect">
                <a:avLst/>
              </a:prstGeom>
            </p:spPr>
          </p:pic>
          <p:grpSp>
            <p:nvGrpSpPr>
              <p:cNvPr id="33" name="组合 20"/>
              <p:cNvGrpSpPr/>
              <p:nvPr/>
            </p:nvGrpSpPr>
            <p:grpSpPr>
              <a:xfrm>
                <a:off x="1930" y="2321"/>
                <a:ext cx="4962" cy="7177"/>
                <a:chOff x="996950" y="1439863"/>
                <a:chExt cx="3269791" cy="4557018"/>
              </a:xfrm>
            </p:grpSpPr>
            <p:grpSp>
              <p:nvGrpSpPr>
                <p:cNvPr id="34" name="组合 4"/>
                <p:cNvGrpSpPr/>
                <p:nvPr/>
              </p:nvGrpSpPr>
              <p:grpSpPr>
                <a:xfrm flipH="1">
                  <a:off x="1095142" y="3517509"/>
                  <a:ext cx="1657162" cy="809475"/>
                  <a:chOff x="14010" y="4905"/>
                  <a:chExt cx="2358" cy="1277"/>
                </a:xfrm>
              </p:grpSpPr>
              <p:sp>
                <p:nvSpPr>
                  <p:cNvPr id="35" name="矩形 8"/>
                  <p:cNvSpPr/>
                  <p:nvPr/>
                </p:nvSpPr>
                <p:spPr>
                  <a:xfrm flipH="1" flipV="1">
                    <a:off x="14009" y="5040"/>
                    <a:ext cx="1586" cy="1142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36" name="矩形 76"/>
                  <p:cNvSpPr/>
                  <p:nvPr/>
                </p:nvSpPr>
                <p:spPr>
                  <a:xfrm>
                    <a:off x="15347" y="4905"/>
                    <a:ext cx="1021" cy="3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光源</a:t>
                    </a:r>
                  </a:p>
                </p:txBody>
              </p:sp>
            </p:grpSp>
            <p:sp>
              <p:nvSpPr>
                <p:cNvPr id="37" name="文本框 36"/>
                <p:cNvSpPr txBox="1"/>
                <p:nvPr/>
              </p:nvSpPr>
              <p:spPr bwMode="auto">
                <a:xfrm rot="5400000">
                  <a:off x="3437762" y="3642440"/>
                  <a:ext cx="1203225" cy="4547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R="0" lvl="0" indent="0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cap="none" spc="0" normalizeH="0" baseline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l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1400" dirty="0">
                      <a:solidFill>
                        <a:srgbClr val="0D0D0D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235±15mm</a:t>
                  </a:r>
                  <a:endPara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cxnSp>
              <p:nvCxnSpPr>
                <p:cNvPr id="38" name="AutoShape 9"/>
                <p:cNvCxnSpPr/>
                <p:nvPr/>
              </p:nvCxnSpPr>
              <p:spPr>
                <a:xfrm flipV="1">
                  <a:off x="3798579" y="2924331"/>
                  <a:ext cx="0" cy="2091442"/>
                </a:xfrm>
                <a:prstGeom prst="straightConnector1">
                  <a:avLst/>
                </a:prstGeom>
                <a:ln w="9525" cap="flat" cmpd="sng">
                  <a:solidFill>
                    <a:srgbClr val="035CDF"/>
                  </a:solidFill>
                  <a:prstDash val="solid"/>
                  <a:headEnd type="stealth" w="med" len="med"/>
                  <a:tailEnd type="stealth" w="med" len="med"/>
                </a:ln>
              </p:spPr>
            </p:cxnSp>
            <p:grpSp>
              <p:nvGrpSpPr>
                <p:cNvPr id="39" name="组合 27"/>
                <p:cNvGrpSpPr/>
                <p:nvPr/>
              </p:nvGrpSpPr>
              <p:grpSpPr>
                <a:xfrm flipH="1">
                  <a:off x="996950" y="1439863"/>
                  <a:ext cx="2198439" cy="788841"/>
                  <a:chOff x="12654" y="5337"/>
                  <a:chExt cx="3127" cy="1243"/>
                </a:xfrm>
              </p:grpSpPr>
              <p:sp>
                <p:nvSpPr>
                  <p:cNvPr id="40" name="矩形 8"/>
                  <p:cNvSpPr/>
                  <p:nvPr/>
                </p:nvSpPr>
                <p:spPr>
                  <a:xfrm flipH="1" flipV="1">
                    <a:off x="12654" y="5485"/>
                    <a:ext cx="2141" cy="1095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" name="矩形 76"/>
                  <p:cNvSpPr/>
                  <p:nvPr/>
                </p:nvSpPr>
                <p:spPr>
                  <a:xfrm>
                    <a:off x="14760" y="5337"/>
                    <a:ext cx="1021" cy="3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相机</a:t>
                    </a:r>
                  </a:p>
                </p:txBody>
              </p:sp>
            </p:grpSp>
            <p:grpSp>
              <p:nvGrpSpPr>
                <p:cNvPr id="43" name="组合 37"/>
                <p:cNvGrpSpPr/>
                <p:nvPr/>
              </p:nvGrpSpPr>
              <p:grpSpPr>
                <a:xfrm flipH="1">
                  <a:off x="1125523" y="2027129"/>
                  <a:ext cx="2069866" cy="725353"/>
                  <a:chOff x="12655" y="5333"/>
                  <a:chExt cx="2942" cy="1142"/>
                </a:xfrm>
              </p:grpSpPr>
              <p:sp>
                <p:nvSpPr>
                  <p:cNvPr id="44" name="矩形 8"/>
                  <p:cNvSpPr/>
                  <p:nvPr/>
                </p:nvSpPr>
                <p:spPr>
                  <a:xfrm flipH="1" flipV="1">
                    <a:off x="12655" y="5513"/>
                    <a:ext cx="2042" cy="962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5" name="矩形 76"/>
                  <p:cNvSpPr/>
                  <p:nvPr/>
                </p:nvSpPr>
                <p:spPr>
                  <a:xfrm>
                    <a:off x="14575" y="5333"/>
                    <a:ext cx="1022" cy="3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镜头</a:t>
                    </a:r>
                  </a:p>
                </p:txBody>
              </p:sp>
            </p:grpSp>
            <p:pic>
              <p:nvPicPr>
                <p:cNvPr id="46" name="图片 41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85065">
                  <a:off x="3025473" y="1974838"/>
                  <a:ext cx="523075" cy="87208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48" name="Line 7"/>
                <p:cNvSpPr/>
                <p:nvPr/>
              </p:nvSpPr>
              <p:spPr>
                <a:xfrm>
                  <a:off x="2001001" y="4671384"/>
                  <a:ext cx="807788" cy="0"/>
                </a:xfrm>
                <a:prstGeom prst="line">
                  <a:avLst/>
                </a:prstGeom>
                <a:ln w="9525" cap="flat" cmpd="sng">
                  <a:solidFill>
                    <a:srgbClr val="035CD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cxnSp>
              <p:nvCxnSpPr>
                <p:cNvPr id="49" name="AutoShape 9"/>
                <p:cNvCxnSpPr/>
                <p:nvPr/>
              </p:nvCxnSpPr>
              <p:spPr>
                <a:xfrm flipV="1">
                  <a:off x="2533112" y="4669679"/>
                  <a:ext cx="7937" cy="304744"/>
                </a:xfrm>
                <a:prstGeom prst="straightConnector1">
                  <a:avLst/>
                </a:prstGeom>
                <a:ln w="9525" cap="flat" cmpd="sng">
                  <a:solidFill>
                    <a:srgbClr val="035CDF"/>
                  </a:solidFill>
                  <a:prstDash val="solid"/>
                  <a:headEnd type="stealth" w="med" len="med"/>
                  <a:tailEnd type="stealth" w="med" len="med"/>
                </a:ln>
              </p:spPr>
            </p:cxnSp>
            <p:sp>
              <p:nvSpPr>
                <p:cNvPr id="50" name="文本框 49"/>
                <p:cNvSpPr txBox="1"/>
                <p:nvPr/>
              </p:nvSpPr>
              <p:spPr bwMode="auto">
                <a:xfrm>
                  <a:off x="1226294" y="4632378"/>
                  <a:ext cx="1204712" cy="4139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>
                  <a:defPPr>
                    <a:defRPr lang="zh-CN"/>
                  </a:defPPr>
                  <a:lvl1pPr marR="0" lvl="0" indent="0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 kumimoji="0" sz="1200" b="0" i="0" u="none" strike="noStrike" cap="none" spc="0" normalizeH="0" baseline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defRPr>
                  </a:lvl1pPr>
                  <a:lvl2pPr>
                    <a:defRPr>
                      <a:solidFill>
                        <a:schemeClr val="dk1"/>
                      </a:solidFill>
                    </a:defRPr>
                  </a:lvl2pPr>
                  <a:lvl3pPr>
                    <a:defRPr>
                      <a:solidFill>
                        <a:schemeClr val="dk1"/>
                      </a:solidFill>
                    </a:defRPr>
                  </a:lvl3pPr>
                  <a:lvl4pPr>
                    <a:defRPr>
                      <a:solidFill>
                        <a:schemeClr val="dk1"/>
                      </a:solidFill>
                    </a:defRPr>
                  </a:lvl4pPr>
                  <a:lvl5pPr>
                    <a:defRPr>
                      <a:solidFill>
                        <a:schemeClr val="dk1"/>
                      </a:solidFill>
                    </a:defRPr>
                  </a:lvl5pPr>
                  <a:lvl6pPr>
                    <a:defRPr>
                      <a:solidFill>
                        <a:schemeClr val="dk1"/>
                      </a:solidFill>
                    </a:defRPr>
                  </a:lvl6pPr>
                  <a:lvl7pPr>
                    <a:defRPr>
                      <a:solidFill>
                        <a:schemeClr val="dk1"/>
                      </a:solidFill>
                    </a:defRPr>
                  </a:lvl7pPr>
                  <a:lvl8pPr>
                    <a:defRPr>
                      <a:solidFill>
                        <a:schemeClr val="dk1"/>
                      </a:solidFill>
                    </a:defRPr>
                  </a:lvl8pPr>
                  <a:lvl9pPr>
                    <a:defRPr>
                      <a:solidFill>
                        <a:schemeClr val="dk1"/>
                      </a:solidFill>
                    </a:defRPr>
                  </a:lvl9pPr>
                </a:lstStyle>
                <a:p>
                  <a:pPr marL="0" marR="0" lvl="0" indent="0" algn="l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30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±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10mm</a:t>
                  </a:r>
                </a:p>
              </p:txBody>
            </p:sp>
            <p:grpSp>
              <p:nvGrpSpPr>
                <p:cNvPr id="53" name="组合 4"/>
                <p:cNvGrpSpPr/>
                <p:nvPr/>
              </p:nvGrpSpPr>
              <p:grpSpPr>
                <a:xfrm flipH="1">
                  <a:off x="1823520" y="5207885"/>
                  <a:ext cx="1191920" cy="229468"/>
                  <a:chOff x="14382" y="4290"/>
                  <a:chExt cx="1696" cy="362"/>
                </a:xfrm>
              </p:grpSpPr>
              <p:sp>
                <p:nvSpPr>
                  <p:cNvPr id="64" name="矩形 8"/>
                  <p:cNvSpPr/>
                  <p:nvPr/>
                </p:nvSpPr>
                <p:spPr>
                  <a:xfrm flipH="1">
                    <a:off x="14383" y="4290"/>
                    <a:ext cx="931" cy="183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65" name="矩形 76"/>
                  <p:cNvSpPr/>
                  <p:nvPr/>
                </p:nvSpPr>
                <p:spPr>
                  <a:xfrm>
                    <a:off x="15056" y="4310"/>
                    <a:ext cx="1021" cy="34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产品</a:t>
                    </a:r>
                  </a:p>
                </p:txBody>
              </p:sp>
            </p:grpSp>
            <p:sp>
              <p:nvSpPr>
                <p:cNvPr id="66" name="椭圆 65"/>
                <p:cNvSpPr/>
                <p:nvPr/>
              </p:nvSpPr>
              <p:spPr>
                <a:xfrm>
                  <a:off x="3119438" y="5014368"/>
                  <a:ext cx="377825" cy="387291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弧形 66"/>
                <p:cNvSpPr/>
                <p:nvPr/>
              </p:nvSpPr>
              <p:spPr>
                <a:xfrm rot="17078738">
                  <a:off x="2759152" y="5155581"/>
                  <a:ext cx="990449" cy="692150"/>
                </a:xfrm>
                <a:prstGeom prst="arc">
                  <a:avLst>
                    <a:gd name="adj1" fmla="val 17244973"/>
                    <a:gd name="adj2" fmla="val 3311546"/>
                  </a:avLst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8" name="Line 7"/>
                <p:cNvSpPr/>
                <p:nvPr/>
              </p:nvSpPr>
              <p:spPr>
                <a:xfrm flipV="1">
                  <a:off x="2417904" y="5014863"/>
                  <a:ext cx="1669909" cy="0"/>
                </a:xfrm>
                <a:prstGeom prst="line">
                  <a:avLst/>
                </a:prstGeom>
                <a:ln w="9525" cap="flat" cmpd="sng">
                  <a:solidFill>
                    <a:srgbClr val="035CD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cxnSp>
              <p:nvCxnSpPr>
                <p:cNvPr id="47" name="直接连接符 46"/>
                <p:cNvCxnSpPr/>
                <p:nvPr/>
              </p:nvCxnSpPr>
              <p:spPr bwMode="auto">
                <a:xfrm flipH="1">
                  <a:off x="3295650" y="1533511"/>
                  <a:ext cx="0" cy="4196710"/>
                </a:xfrm>
                <a:prstGeom prst="line">
                  <a:avLst/>
                </a:prstGeom>
                <a:ln w="12700" cmpd="sng">
                  <a:solidFill>
                    <a:srgbClr val="FF0000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Line 7"/>
              <p:cNvSpPr/>
              <p:nvPr/>
            </p:nvSpPr>
            <p:spPr>
              <a:xfrm>
                <a:off x="5631" y="4496"/>
                <a:ext cx="1272" cy="0"/>
              </a:xfrm>
              <a:prstGeom prst="line">
                <a:avLst/>
              </a:prstGeom>
              <a:ln w="9525" cap="flat" cmpd="sng">
                <a:solidFill>
                  <a:srgbClr val="035CD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3356C78-9F1E-E468-7482-94FEBC17F377}"/>
              </a:ext>
            </a:extLst>
          </p:cNvPr>
          <p:cNvGrpSpPr/>
          <p:nvPr/>
        </p:nvGrpSpPr>
        <p:grpSpPr>
          <a:xfrm>
            <a:off x="5664200" y="1575435"/>
            <a:ext cx="4618990" cy="2588260"/>
            <a:chOff x="5664200" y="1575435"/>
            <a:chExt cx="4618990" cy="2588260"/>
          </a:xfrm>
        </p:grpSpPr>
        <p:grpSp>
          <p:nvGrpSpPr>
            <p:cNvPr id="12293" name="组合 25"/>
            <p:cNvGrpSpPr/>
            <p:nvPr/>
          </p:nvGrpSpPr>
          <p:grpSpPr>
            <a:xfrm>
              <a:off x="5664200" y="1575435"/>
              <a:ext cx="4618990" cy="2588260"/>
              <a:chOff x="5256212" y="1700404"/>
              <a:chExt cx="3876676" cy="2935401"/>
            </a:xfrm>
          </p:grpSpPr>
          <p:sp>
            <p:nvSpPr>
              <p:cNvPr id="5" name="矩形 12290"/>
              <p:cNvSpPr/>
              <p:nvPr/>
            </p:nvSpPr>
            <p:spPr bwMode="auto">
              <a:xfrm>
                <a:off x="5256212" y="2689347"/>
                <a:ext cx="2592388" cy="126038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" name="矩形 8"/>
              <p:cNvSpPr/>
              <p:nvPr/>
            </p:nvSpPr>
            <p:spPr bwMode="auto">
              <a:xfrm flipH="1" flipV="1">
                <a:off x="7496175" y="2916345"/>
                <a:ext cx="1152525" cy="831792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" name="矩形 76"/>
              <p:cNvSpPr/>
              <p:nvPr/>
            </p:nvSpPr>
            <p:spPr bwMode="auto">
              <a:xfrm flipH="1">
                <a:off x="8415338" y="2806814"/>
                <a:ext cx="717550" cy="215885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极片</a:t>
                </a:r>
              </a:p>
            </p:txBody>
          </p:sp>
          <p:cxnSp>
            <p:nvCxnSpPr>
              <p:cNvPr id="12308" name="直接箭头连接符 12307"/>
              <p:cNvCxnSpPr/>
              <p:nvPr/>
            </p:nvCxnSpPr>
            <p:spPr bwMode="auto">
              <a:xfrm>
                <a:off x="5919787" y="4221179"/>
                <a:ext cx="1265237" cy="11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308"/>
              <p:cNvSpPr txBox="1"/>
              <p:nvPr/>
            </p:nvSpPr>
            <p:spPr bwMode="auto">
              <a:xfrm>
                <a:off x="5886767" y="4217369"/>
                <a:ext cx="1541780" cy="4184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>
                <a:defPPr>
                  <a:defRPr lang="zh-CN"/>
                </a:defPPr>
                <a:lvl1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极片运行方向</a:t>
                </a:r>
              </a:p>
            </p:txBody>
          </p:sp>
          <p:sp>
            <p:nvSpPr>
              <p:cNvPr id="18" name="矩形 8"/>
              <p:cNvSpPr/>
              <p:nvPr/>
            </p:nvSpPr>
            <p:spPr bwMode="auto">
              <a:xfrm flipH="1" flipV="1">
                <a:off x="6404383" y="1842564"/>
                <a:ext cx="1152525" cy="1415952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矩形 8"/>
              <p:cNvSpPr/>
              <p:nvPr/>
            </p:nvSpPr>
            <p:spPr bwMode="auto">
              <a:xfrm flipV="1">
                <a:off x="5903912" y="1767074"/>
                <a:ext cx="517525" cy="652417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3" name="矩形 76"/>
              <p:cNvSpPr/>
              <p:nvPr/>
            </p:nvSpPr>
            <p:spPr bwMode="auto">
              <a:xfrm flipH="1">
                <a:off x="7345363" y="1708340"/>
                <a:ext cx="717550" cy="215885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</a:p>
            </p:txBody>
          </p:sp>
          <p:sp>
            <p:nvSpPr>
              <p:cNvPr id="25" name="矩形 76"/>
              <p:cNvSpPr/>
              <p:nvPr/>
            </p:nvSpPr>
            <p:spPr bwMode="auto">
              <a:xfrm flipH="1">
                <a:off x="5402262" y="1700404"/>
                <a:ext cx="717550" cy="215885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光源</a:t>
                </a:r>
              </a:p>
            </p:txBody>
          </p:sp>
        </p:grpSp>
        <p:pic>
          <p:nvPicPr>
            <p:cNvPr id="4" name="图片 20">
              <a:extLst>
                <a:ext uri="{FF2B5EF4-FFF2-40B4-BE49-F238E27FC236}">
                  <a16:creationId xmlns:a16="http://schemas.microsoft.com/office/drawing/2014/main" id="{DF83D12A-1D8E-95F1-7834-B61AEAEDD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6302114" y="2710640"/>
              <a:ext cx="1645566" cy="721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0" name="肘形连接符 29"/>
          <p:cNvCxnSpPr/>
          <p:nvPr/>
        </p:nvCxnSpPr>
        <p:spPr>
          <a:xfrm rot="16200000">
            <a:off x="3007360" y="1653540"/>
            <a:ext cx="503555" cy="360680"/>
          </a:xfrm>
          <a:prstGeom prst="bentConnector3">
            <a:avLst>
              <a:gd name="adj1" fmla="val 1003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矩形 76"/>
          <p:cNvSpPr/>
          <p:nvPr/>
        </p:nvSpPr>
        <p:spPr bwMode="auto">
          <a:xfrm flipH="1">
            <a:off x="3433445" y="1304925"/>
            <a:ext cx="895985" cy="467995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预留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80mm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走线空间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80A964-94F1-C4CC-72C6-BC56177C2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17668" y="2701170"/>
            <a:ext cx="603841" cy="6038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2EE8-7C08-0168-44C8-F9CD7BB9E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06A68115-0420-02A6-52D3-373114864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工位三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阳极绿胶检测工位</a:t>
            </a:r>
          </a:p>
        </p:txBody>
      </p:sp>
      <p:sp>
        <p:nvSpPr>
          <p:cNvPr id="16426" name="文本框 12">
            <a:extLst>
              <a:ext uri="{FF2B5EF4-FFF2-40B4-BE49-F238E27FC236}">
                <a16:creationId xmlns:a16="http://schemas.microsoft.com/office/drawing/2014/main" id="{C734BEEC-B2D5-3CA0-2FA7-5F77B677C76C}"/>
              </a:ext>
            </a:extLst>
          </p:cNvPr>
          <p:cNvSpPr txBox="1"/>
          <p:nvPr/>
        </p:nvSpPr>
        <p:spPr>
          <a:xfrm>
            <a:off x="255905" y="927742"/>
            <a:ext cx="1854200" cy="3060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过棍需求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3466B8C-D368-667C-491B-9BDBC5D149E4}"/>
              </a:ext>
            </a:extLst>
          </p:cNvPr>
          <p:cNvGrpSpPr/>
          <p:nvPr/>
        </p:nvGrpSpPr>
        <p:grpSpPr>
          <a:xfrm>
            <a:off x="983615" y="1439545"/>
            <a:ext cx="10221595" cy="3717290"/>
            <a:chOff x="2663" y="2430"/>
            <a:chExt cx="16097" cy="5854"/>
          </a:xfrm>
        </p:grpSpPr>
        <p:sp>
          <p:nvSpPr>
            <p:cNvPr id="6145" name="文本框 49">
              <a:extLst>
                <a:ext uri="{FF2B5EF4-FFF2-40B4-BE49-F238E27FC236}">
                  <a16:creationId xmlns:a16="http://schemas.microsoft.com/office/drawing/2014/main" id="{BC85AF7D-1E64-B2C1-E5EE-8575834F67B0}"/>
                </a:ext>
              </a:extLst>
            </p:cNvPr>
            <p:cNvSpPr txBox="1"/>
            <p:nvPr/>
          </p:nvSpPr>
          <p:spPr>
            <a:xfrm>
              <a:off x="2663" y="6399"/>
              <a:ext cx="16097" cy="18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lnSpc>
                  <a:spcPct val="120000"/>
                </a:lnSpc>
                <a:buFontTx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过棍要求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、红色背景棍，粗糙度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0.4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，过棍采用铝合金，表面处理硬质阳极氧化红色，硬度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HV600-700,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棍面一致性好，无斑点、划痕，受热不褪色（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60℃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、白色刻线长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90mm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，线宽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1.5mm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，误差±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0.02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，刻线边缘不能存在过多毛边，保证刻线边缘一致性（刻线不在极耳那一侧）</a:t>
              </a: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、过棍长度设计：相机视野（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220mm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≥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过棍长度＞极片最大幅宽</a:t>
              </a: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、供应商需要提供各项参数表</a:t>
              </a:r>
            </a:p>
          </p:txBody>
        </p:sp>
        <p:grpSp>
          <p:nvGrpSpPr>
            <p:cNvPr id="6148" name="组合 5">
              <a:extLst>
                <a:ext uri="{FF2B5EF4-FFF2-40B4-BE49-F238E27FC236}">
                  <a16:creationId xmlns:a16="http://schemas.microsoft.com/office/drawing/2014/main" id="{CD132B8D-155C-9F5E-C7B8-F60B2FD76780}"/>
                </a:ext>
              </a:extLst>
            </p:cNvPr>
            <p:cNvGrpSpPr/>
            <p:nvPr/>
          </p:nvGrpSpPr>
          <p:grpSpPr>
            <a:xfrm>
              <a:off x="3003" y="2430"/>
              <a:ext cx="8525" cy="3255"/>
              <a:chOff x="3003" y="2430"/>
              <a:chExt cx="8524" cy="3254"/>
            </a:xfrm>
          </p:grpSpPr>
          <p:grpSp>
            <p:nvGrpSpPr>
              <p:cNvPr id="6149" name="组合 50">
                <a:extLst>
                  <a:ext uri="{FF2B5EF4-FFF2-40B4-BE49-F238E27FC236}">
                    <a16:creationId xmlns:a16="http://schemas.microsoft.com/office/drawing/2014/main" id="{5C6F6C61-1514-EB99-10EB-9D6FB35BA1E9}"/>
                  </a:ext>
                </a:extLst>
              </p:cNvPr>
              <p:cNvGrpSpPr/>
              <p:nvPr/>
            </p:nvGrpSpPr>
            <p:grpSpPr>
              <a:xfrm>
                <a:off x="3003" y="2430"/>
                <a:ext cx="8524" cy="3254"/>
                <a:chOff x="3136" y="2940"/>
                <a:chExt cx="8524" cy="3254"/>
              </a:xfrm>
            </p:grpSpPr>
            <p:grpSp>
              <p:nvGrpSpPr>
                <p:cNvPr id="6150" name="组合 26">
                  <a:extLst>
                    <a:ext uri="{FF2B5EF4-FFF2-40B4-BE49-F238E27FC236}">
                      <a16:creationId xmlns:a16="http://schemas.microsoft.com/office/drawing/2014/main" id="{FC2E735F-02DA-3F36-708D-F4DECE98143F}"/>
                    </a:ext>
                  </a:extLst>
                </p:cNvPr>
                <p:cNvGrpSpPr/>
                <p:nvPr/>
              </p:nvGrpSpPr>
              <p:grpSpPr>
                <a:xfrm>
                  <a:off x="3188" y="2940"/>
                  <a:ext cx="8472" cy="1672"/>
                  <a:chOff x="3229" y="2072"/>
                  <a:chExt cx="6934" cy="2315"/>
                </a:xfrm>
              </p:grpSpPr>
              <p:sp>
                <p:nvSpPr>
                  <p:cNvPr id="2" name="矩形 1">
                    <a:extLst>
                      <a:ext uri="{FF2B5EF4-FFF2-40B4-BE49-F238E27FC236}">
                        <a16:creationId xmlns:a16="http://schemas.microsoft.com/office/drawing/2014/main" id="{04E966E8-FE83-0BED-DCA3-466C4EF6BB10}"/>
                      </a:ext>
                    </a:extLst>
                  </p:cNvPr>
                  <p:cNvSpPr/>
                  <p:nvPr/>
                </p:nvSpPr>
                <p:spPr>
                  <a:xfrm>
                    <a:off x="3229" y="3359"/>
                    <a:ext cx="4433" cy="1028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fontAlgn="base"/>
                    <a:endParaRPr lang="zh-CN" altLang="en-US" sz="1200" strike="noStrike" noProof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52" name="文本框 25">
                    <a:extLst>
                      <a:ext uri="{FF2B5EF4-FFF2-40B4-BE49-F238E27FC236}">
                        <a16:creationId xmlns:a16="http://schemas.microsoft.com/office/drawing/2014/main" id="{A7DD2296-5C1D-2B30-2370-AEDA6F43C49E}"/>
                      </a:ext>
                    </a:extLst>
                  </p:cNvPr>
                  <p:cNvSpPr txBox="1"/>
                  <p:nvPr/>
                </p:nvSpPr>
                <p:spPr>
                  <a:xfrm>
                    <a:off x="8400" y="2072"/>
                    <a:ext cx="1763" cy="91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anchor="t" anchorCtr="0"/>
                  <a:lstStyle/>
                  <a:p>
                    <a:r>
                      <a: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刻线长</a:t>
                    </a:r>
                    <a:r>
                      <a: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90mm</a:t>
                    </a:r>
                    <a:r>
                      <a: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，线宽</a:t>
                    </a:r>
                    <a:r>
                      <a: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1.5mm</a:t>
                    </a:r>
                  </a:p>
                </p:txBody>
              </p:sp>
            </p:grpSp>
            <p:cxnSp>
              <p:nvCxnSpPr>
                <p:cNvPr id="5" name="直接连接符 4">
                  <a:extLst>
                    <a:ext uri="{FF2B5EF4-FFF2-40B4-BE49-F238E27FC236}">
                      <a16:creationId xmlns:a16="http://schemas.microsoft.com/office/drawing/2014/main" id="{16A797BF-86CA-0512-C7DB-8F5655AEA46A}"/>
                    </a:ext>
                  </a:extLst>
                </p:cNvPr>
                <p:cNvCxnSpPr/>
                <p:nvPr/>
              </p:nvCxnSpPr>
              <p:spPr>
                <a:xfrm flipH="1">
                  <a:off x="3186" y="3471"/>
                  <a:ext cx="0" cy="260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连接符 7">
                  <a:extLst>
                    <a:ext uri="{FF2B5EF4-FFF2-40B4-BE49-F238E27FC236}">
                      <a16:creationId xmlns:a16="http://schemas.microsoft.com/office/drawing/2014/main" id="{B0C97C2F-0912-0FB0-BA4F-240732D44906}"/>
                    </a:ext>
                  </a:extLst>
                </p:cNvPr>
                <p:cNvCxnSpPr/>
                <p:nvPr/>
              </p:nvCxnSpPr>
              <p:spPr>
                <a:xfrm>
                  <a:off x="8607" y="3359"/>
                  <a:ext cx="5" cy="283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箭头连接符 12">
                  <a:extLst>
                    <a:ext uri="{FF2B5EF4-FFF2-40B4-BE49-F238E27FC236}">
                      <a16:creationId xmlns:a16="http://schemas.microsoft.com/office/drawing/2014/main" id="{8F443B99-FBEB-B594-0F42-075AB44C544E}"/>
                    </a:ext>
                  </a:extLst>
                </p:cNvPr>
                <p:cNvCxnSpPr/>
                <p:nvPr/>
              </p:nvCxnSpPr>
              <p:spPr>
                <a:xfrm>
                  <a:off x="3136" y="5513"/>
                  <a:ext cx="5443" cy="0"/>
                </a:xfrm>
                <a:prstGeom prst="straightConnector1">
                  <a:avLst/>
                </a:prstGeom>
                <a:ln>
                  <a:headEnd type="arrow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156" name="文本框 40">
                  <a:extLst>
                    <a:ext uri="{FF2B5EF4-FFF2-40B4-BE49-F238E27FC236}">
                      <a16:creationId xmlns:a16="http://schemas.microsoft.com/office/drawing/2014/main" id="{98387C2D-C2FF-D6F5-79E5-1996AD1C7CA3}"/>
                    </a:ext>
                  </a:extLst>
                </p:cNvPr>
                <p:cNvSpPr txBox="1"/>
                <p:nvPr/>
              </p:nvSpPr>
              <p:spPr>
                <a:xfrm>
                  <a:off x="4724" y="5594"/>
                  <a:ext cx="2819" cy="43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lstStyle/>
                <a:p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相机视野</a:t>
                  </a:r>
                  <a:r>
                    <a:rPr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190mm</a:t>
                  </a:r>
                </a:p>
              </p:txBody>
            </p:sp>
          </p:grp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F8086E0-8695-F390-56C8-A4147599194D}"/>
                  </a:ext>
                </a:extLst>
              </p:cNvPr>
              <p:cNvSpPr/>
              <p:nvPr/>
            </p:nvSpPr>
            <p:spPr>
              <a:xfrm>
                <a:off x="5677" y="3647"/>
                <a:ext cx="2802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1200" strike="noStrike" noProof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5" name="肘形连接符 14">
                <a:extLst>
                  <a:ext uri="{FF2B5EF4-FFF2-40B4-BE49-F238E27FC236}">
                    <a16:creationId xmlns:a16="http://schemas.microsoft.com/office/drawing/2014/main" id="{C5DD21A5-8FDD-7042-4A91-AE9BC68051BD}"/>
                  </a:ext>
                </a:extLst>
              </p:cNvPr>
              <p:cNvCxnSpPr/>
              <p:nvPr/>
            </p:nvCxnSpPr>
            <p:spPr>
              <a:xfrm flipV="1">
                <a:off x="7899" y="2633"/>
                <a:ext cx="1486" cy="1014"/>
              </a:xfrm>
              <a:prstGeom prst="bentConnector3">
                <a:avLst>
                  <a:gd name="adj1" fmla="val -403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19615C7-8153-D70B-9AA8-3FF098B5F8C9}"/>
                </a:ext>
              </a:extLst>
            </p:cNvPr>
            <p:cNvSpPr/>
            <p:nvPr/>
          </p:nvSpPr>
          <p:spPr>
            <a:xfrm>
              <a:off x="3478" y="3360"/>
              <a:ext cx="2908" cy="74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200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>
              <a:extLst>
                <a:ext uri="{FF2B5EF4-FFF2-40B4-BE49-F238E27FC236}">
                  <a16:creationId xmlns:a16="http://schemas.microsoft.com/office/drawing/2014/main" id="{F8EEF1D7-403E-8DD4-C743-D2E3ADEE5B02}"/>
                </a:ext>
              </a:extLst>
            </p:cNvPr>
            <p:cNvSpPr/>
            <p:nvPr/>
          </p:nvSpPr>
          <p:spPr>
            <a:xfrm>
              <a:off x="3250" y="3585"/>
              <a:ext cx="455" cy="2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200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C948EDA-81CC-5563-AAD7-6795E4E9E96A}"/>
                </a:ext>
              </a:extLst>
            </p:cNvPr>
            <p:cNvCxnSpPr/>
            <p:nvPr/>
          </p:nvCxnSpPr>
          <p:spPr>
            <a:xfrm>
              <a:off x="3250" y="3018"/>
              <a:ext cx="0" cy="18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D450448-948C-1DEE-B234-3653D612B2FE}"/>
                </a:ext>
              </a:extLst>
            </p:cNvPr>
            <p:cNvCxnSpPr/>
            <p:nvPr/>
          </p:nvCxnSpPr>
          <p:spPr>
            <a:xfrm>
              <a:off x="6368" y="2928"/>
              <a:ext cx="0" cy="18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163" name="文本框 18">
              <a:extLst>
                <a:ext uri="{FF2B5EF4-FFF2-40B4-BE49-F238E27FC236}">
                  <a16:creationId xmlns:a16="http://schemas.microsoft.com/office/drawing/2014/main" id="{0D28161A-E4E4-193A-8F5A-25369C87AABC}"/>
                </a:ext>
              </a:extLst>
            </p:cNvPr>
            <p:cNvSpPr txBox="1"/>
            <p:nvPr/>
          </p:nvSpPr>
          <p:spPr>
            <a:xfrm>
              <a:off x="3875" y="4265"/>
              <a:ext cx="1670" cy="4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lstStyle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极片＋极耳</a:t>
              </a: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71AAF28D-B334-859F-FBE4-CA6ABEB61599}"/>
                </a:ext>
              </a:extLst>
            </p:cNvPr>
            <p:cNvCxnSpPr/>
            <p:nvPr/>
          </p:nvCxnSpPr>
          <p:spPr>
            <a:xfrm>
              <a:off x="3203" y="4265"/>
              <a:ext cx="3175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7080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08220"/>
              </p:ext>
            </p:extLst>
          </p:nvPr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视觉需求：检测对齐度，入料打折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0.05mm</a:t>
                      </a: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，单像素精度</a:t>
                      </a:r>
                      <a:r>
                        <a:rPr lang="en-US" alt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0.1/3=0.03mm/px</a:t>
                      </a:r>
                      <a:endParaRPr sz="1400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en-US" altLang="zh-CN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23888" y="908050"/>
            <a:ext cx="200818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工位四 卷绕对齐度检测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889493-4009-E039-39B1-B89082E6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619" y="2276872"/>
            <a:ext cx="2675089" cy="16561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表格 19457"/>
          <p:cNvGraphicFramePr/>
          <p:nvPr>
            <p:extLst>
              <p:ext uri="{D42A27DB-BD31-4B8C-83A1-F6EECF244321}">
                <p14:modId xmlns:p14="http://schemas.microsoft.com/office/powerpoint/2010/main" val="1500860464"/>
              </p:ext>
            </p:extLst>
          </p:nvPr>
        </p:nvGraphicFramePr>
        <p:xfrm>
          <a:off x="623888" y="1556792"/>
          <a:ext cx="10814050" cy="3145420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4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492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92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MV-CS050-10GM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帧率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0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2448*2048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3.45μm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500us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0.024mm/px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38FPS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92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G-FA7510A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5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50mm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56mm*47mm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078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光源</a:t>
                      </a:r>
                      <a:endParaRPr lang="en-US" altLang="zh-CN" sz="1400" dirty="0">
                        <a:solidFill>
                          <a:srgbClr val="64646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CST-HBS7728-W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76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条光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3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12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背光源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CST-2BS23738-W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条光带漫射板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endParaRPr lang="en-US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6931" marR="16931" marT="16933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92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92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zh-CN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47993" marR="47993" marT="47999" marB="479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卷绕对齐度检测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0">
            <a:extLst>
              <a:ext uri="{FF2B5EF4-FFF2-40B4-BE49-F238E27FC236}">
                <a16:creationId xmlns:a16="http://schemas.microsoft.com/office/drawing/2014/main" id="{F59B129A-85C8-B095-21B9-8912AE224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198" y="2809821"/>
            <a:ext cx="2495273" cy="489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2"/>
          <p:cNvSpPr txBox="1"/>
          <p:nvPr/>
        </p:nvSpPr>
        <p:spPr>
          <a:xfrm>
            <a:off x="255588" y="1000125"/>
            <a:ext cx="1439863" cy="3397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12"/>
          <p:cNvSpPr txBox="1"/>
          <p:nvPr/>
        </p:nvSpPr>
        <p:spPr>
          <a:xfrm>
            <a:off x="8788400" y="982837"/>
            <a:ext cx="1741170" cy="37366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相机视野示意图</a:t>
            </a: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工位四 卷绕对齐度检测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81126" y="1881511"/>
            <a:ext cx="4219474" cy="2567934"/>
            <a:chOff x="-19" y="2225"/>
            <a:chExt cx="7246" cy="4354"/>
          </a:xfrm>
        </p:grpSpPr>
        <p:sp>
          <p:nvSpPr>
            <p:cNvPr id="14" name="矩形 8"/>
            <p:cNvSpPr/>
            <p:nvPr/>
          </p:nvSpPr>
          <p:spPr bwMode="auto">
            <a:xfrm rot="10320000">
              <a:off x="4273" y="2535"/>
              <a:ext cx="1236" cy="1750"/>
            </a:xfrm>
            <a:custGeom>
              <a:avLst/>
              <a:gdLst>
                <a:gd name="connsiteX0" fmla="*/ 0 w 854003"/>
                <a:gd name="connsiteY0" fmla="*/ 0 h 854003"/>
                <a:gd name="connsiteX1" fmla="*/ 854003 w 854003"/>
                <a:gd name="connsiteY1" fmla="*/ 0 h 854003"/>
                <a:gd name="connsiteX2" fmla="*/ 854003 w 854003"/>
                <a:gd name="connsiteY2" fmla="*/ 854003 h 854003"/>
                <a:gd name="connsiteX3" fmla="*/ 0 w 854003"/>
                <a:gd name="connsiteY3" fmla="*/ 854003 h 854003"/>
                <a:gd name="connsiteX4" fmla="*/ 0 w 854003"/>
                <a:gd name="connsiteY4" fmla="*/ 0 h 854003"/>
                <a:gd name="connsiteX0-1" fmla="*/ 0 w 854003"/>
                <a:gd name="connsiteY0-2" fmla="*/ 0 h 854003"/>
                <a:gd name="connsiteX1-3" fmla="*/ 854003 w 854003"/>
                <a:gd name="connsiteY1-4" fmla="*/ 0 h 854003"/>
                <a:gd name="connsiteX2-5" fmla="*/ 854003 w 854003"/>
                <a:gd name="connsiteY2-6" fmla="*/ 854003 h 854003"/>
                <a:gd name="connsiteX3-7" fmla="*/ 0 w 854003"/>
                <a:gd name="connsiteY3-8" fmla="*/ 854003 h 854003"/>
                <a:gd name="connsiteX4-9" fmla="*/ 91440 w 854003"/>
                <a:gd name="connsiteY4-10" fmla="*/ 91440 h 854003"/>
                <a:gd name="connsiteX0-11" fmla="*/ 854003 w 854003"/>
                <a:gd name="connsiteY0-12" fmla="*/ 0 h 854003"/>
                <a:gd name="connsiteX1-13" fmla="*/ 854003 w 854003"/>
                <a:gd name="connsiteY1-14" fmla="*/ 854003 h 854003"/>
                <a:gd name="connsiteX2-15" fmla="*/ 0 w 854003"/>
                <a:gd name="connsiteY2-16" fmla="*/ 854003 h 854003"/>
                <a:gd name="connsiteX3-17" fmla="*/ 91440 w 854003"/>
                <a:gd name="connsiteY3-18" fmla="*/ 91440 h 854003"/>
                <a:gd name="connsiteX0-19" fmla="*/ 854003 w 854003"/>
                <a:gd name="connsiteY0-20" fmla="*/ 0 h 854003"/>
                <a:gd name="connsiteX1-21" fmla="*/ 854003 w 854003"/>
                <a:gd name="connsiteY1-22" fmla="*/ 854003 h 854003"/>
                <a:gd name="connsiteX2-23" fmla="*/ 0 w 854003"/>
                <a:gd name="connsiteY2-24" fmla="*/ 854003 h 854003"/>
                <a:gd name="connsiteX0-25" fmla="*/ 1019595 w 1019595"/>
                <a:gd name="connsiteY0-26" fmla="*/ 0 h 72953"/>
                <a:gd name="connsiteX1-27" fmla="*/ 854003 w 1019595"/>
                <a:gd name="connsiteY1-28" fmla="*/ 72953 h 72953"/>
                <a:gd name="connsiteX2-29" fmla="*/ 0 w 1019595"/>
                <a:gd name="connsiteY2-30" fmla="*/ 72953 h 72953"/>
                <a:gd name="connsiteX0-31" fmla="*/ 1049223 w 1049223"/>
                <a:gd name="connsiteY0-32" fmla="*/ 0 h 306315"/>
                <a:gd name="connsiteX1-33" fmla="*/ 854003 w 1049223"/>
                <a:gd name="connsiteY1-34" fmla="*/ 306315 h 306315"/>
                <a:gd name="connsiteX2-35" fmla="*/ 0 w 1049223"/>
                <a:gd name="connsiteY2-36" fmla="*/ 306315 h 306315"/>
                <a:gd name="connsiteX0-37" fmla="*/ 1054161 w 1054161"/>
                <a:gd name="connsiteY0-38" fmla="*/ 0 h 325365"/>
                <a:gd name="connsiteX1-39" fmla="*/ 854003 w 1054161"/>
                <a:gd name="connsiteY1-40" fmla="*/ 325365 h 325365"/>
                <a:gd name="connsiteX2-41" fmla="*/ 0 w 1054161"/>
                <a:gd name="connsiteY2-42" fmla="*/ 325365 h 325365"/>
                <a:gd name="connsiteX0-43" fmla="*/ 1038427 w 1038427"/>
                <a:gd name="connsiteY0-44" fmla="*/ 0 h 302685"/>
                <a:gd name="connsiteX1-45" fmla="*/ 854003 w 1038427"/>
                <a:gd name="connsiteY1-46" fmla="*/ 302685 h 302685"/>
                <a:gd name="connsiteX2-47" fmla="*/ 0 w 1038427"/>
                <a:gd name="connsiteY2-48" fmla="*/ 302685 h 302685"/>
                <a:gd name="connsiteX0-49" fmla="*/ 736399 w 736399"/>
                <a:gd name="connsiteY0-50" fmla="*/ 0 h 302685"/>
                <a:gd name="connsiteX1-51" fmla="*/ 551975 w 736399"/>
                <a:gd name="connsiteY1-52" fmla="*/ 302685 h 302685"/>
                <a:gd name="connsiteX2-53" fmla="*/ 0 w 736399"/>
                <a:gd name="connsiteY2-54" fmla="*/ 301872 h 302685"/>
                <a:gd name="connsiteX0-55" fmla="*/ 687641 w 687641"/>
                <a:gd name="connsiteY0-56" fmla="*/ 0 h 220527"/>
                <a:gd name="connsiteX1-57" fmla="*/ 551975 w 687641"/>
                <a:gd name="connsiteY1-58" fmla="*/ 220527 h 220527"/>
                <a:gd name="connsiteX2-59" fmla="*/ 0 w 687641"/>
                <a:gd name="connsiteY2-60" fmla="*/ 219714 h 220527"/>
                <a:gd name="connsiteX0-61" fmla="*/ 747234 w 747234"/>
                <a:gd name="connsiteY0-62" fmla="*/ 0 h 220527"/>
                <a:gd name="connsiteX1-63" fmla="*/ 611568 w 747234"/>
                <a:gd name="connsiteY1-64" fmla="*/ 220527 h 220527"/>
                <a:gd name="connsiteX2-65" fmla="*/ 0 w 747234"/>
                <a:gd name="connsiteY2-66" fmla="*/ 219714 h 220527"/>
                <a:gd name="connsiteX0-67" fmla="*/ 548547 w 548547"/>
                <a:gd name="connsiteY0-68" fmla="*/ 0 h 220528"/>
                <a:gd name="connsiteX1-69" fmla="*/ 412881 w 548547"/>
                <a:gd name="connsiteY1-70" fmla="*/ 220527 h 220528"/>
                <a:gd name="connsiteX2-71" fmla="*/ 0 w 548547"/>
                <a:gd name="connsiteY2-72" fmla="*/ 220528 h 220528"/>
                <a:gd name="connsiteX0-73" fmla="*/ 657109 w 657109"/>
                <a:gd name="connsiteY0-74" fmla="*/ 0 h 52144"/>
                <a:gd name="connsiteX1-75" fmla="*/ 412881 w 657109"/>
                <a:gd name="connsiteY1-76" fmla="*/ 52143 h 52144"/>
                <a:gd name="connsiteX2-77" fmla="*/ 0 w 657109"/>
                <a:gd name="connsiteY2-78" fmla="*/ 52144 h 52144"/>
                <a:gd name="connsiteX0-79" fmla="*/ 663254 w 663254"/>
                <a:gd name="connsiteY0-80" fmla="*/ 0 h 52144"/>
                <a:gd name="connsiteX1-81" fmla="*/ 419026 w 663254"/>
                <a:gd name="connsiteY1-82" fmla="*/ 52143 h 52144"/>
                <a:gd name="connsiteX2-83" fmla="*/ 0 w 663254"/>
                <a:gd name="connsiteY2-84" fmla="*/ 52144 h 52144"/>
                <a:gd name="connsiteX0-85" fmla="*/ 650964 w 650964"/>
                <a:gd name="connsiteY0-86" fmla="*/ 0 h 208326"/>
                <a:gd name="connsiteX1-87" fmla="*/ 419026 w 650964"/>
                <a:gd name="connsiteY1-88" fmla="*/ 208325 h 208326"/>
                <a:gd name="connsiteX2-89" fmla="*/ 0 w 650964"/>
                <a:gd name="connsiteY2-90" fmla="*/ 208326 h 208326"/>
                <a:gd name="connsiteX0-1-1" fmla="*/ 563569 w 563569"/>
                <a:gd name="connsiteY0-2-2" fmla="*/ 0 h 202903"/>
                <a:gd name="connsiteX1-3-3" fmla="*/ 419026 w 563569"/>
                <a:gd name="connsiteY1-4-4" fmla="*/ 202902 h 202903"/>
                <a:gd name="connsiteX2-5-5" fmla="*/ 0 w 563569"/>
                <a:gd name="connsiteY2-6-6" fmla="*/ 202903 h 202903"/>
                <a:gd name="connsiteX0-7" fmla="*/ 592701 w 592701"/>
                <a:gd name="connsiteY0-8" fmla="*/ 0 h 260748"/>
                <a:gd name="connsiteX1-9" fmla="*/ 419026 w 592701"/>
                <a:gd name="connsiteY1-10" fmla="*/ 260747 h 260748"/>
                <a:gd name="connsiteX2-11" fmla="*/ 0 w 592701"/>
                <a:gd name="connsiteY2-12" fmla="*/ 260748 h 260748"/>
              </a:gdLst>
              <a:ahLst/>
              <a:cxnLst>
                <a:cxn ang="0">
                  <a:pos x="connsiteX0-1-1" y="connsiteY0-2-2"/>
                </a:cxn>
                <a:cxn ang="0">
                  <a:pos x="connsiteX1-3-3" y="connsiteY1-4-4"/>
                </a:cxn>
                <a:cxn ang="0">
                  <a:pos x="connsiteX2-5-5" y="connsiteY2-6-6"/>
                </a:cxn>
              </a:cxnLst>
              <a:rect l="l" t="t" r="r" b="b"/>
              <a:pathLst>
                <a:path w="592701" h="260748">
                  <a:moveTo>
                    <a:pt x="592701" y="0"/>
                  </a:moveTo>
                  <a:lnTo>
                    <a:pt x="419026" y="260747"/>
                  </a:lnTo>
                  <a:lnTo>
                    <a:pt x="0" y="260748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 bwMode="auto">
            <a:xfrm>
              <a:off x="5744" y="4266"/>
              <a:ext cx="0" cy="15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 bwMode="auto">
            <a:xfrm>
              <a:off x="5291" y="5627"/>
              <a:ext cx="340" cy="0"/>
            </a:xfrm>
            <a:prstGeom prst="straightConnector1">
              <a:avLst/>
            </a:prstGeom>
            <a:ln>
              <a:solidFill>
                <a:schemeClr val="accent1"/>
              </a:solidFill>
              <a:headEnd type="stealth" w="med" len="med"/>
              <a:tailEnd type="stealth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矩形 8"/>
            <p:cNvSpPr/>
            <p:nvPr/>
          </p:nvSpPr>
          <p:spPr bwMode="auto">
            <a:xfrm>
              <a:off x="2812" y="4655"/>
              <a:ext cx="1236" cy="1750"/>
            </a:xfrm>
            <a:custGeom>
              <a:avLst/>
              <a:gdLst>
                <a:gd name="connsiteX0" fmla="*/ 0 w 854003"/>
                <a:gd name="connsiteY0" fmla="*/ 0 h 854003"/>
                <a:gd name="connsiteX1" fmla="*/ 854003 w 854003"/>
                <a:gd name="connsiteY1" fmla="*/ 0 h 854003"/>
                <a:gd name="connsiteX2" fmla="*/ 854003 w 854003"/>
                <a:gd name="connsiteY2" fmla="*/ 854003 h 854003"/>
                <a:gd name="connsiteX3" fmla="*/ 0 w 854003"/>
                <a:gd name="connsiteY3" fmla="*/ 854003 h 854003"/>
                <a:gd name="connsiteX4" fmla="*/ 0 w 854003"/>
                <a:gd name="connsiteY4" fmla="*/ 0 h 854003"/>
                <a:gd name="connsiteX0-1" fmla="*/ 0 w 854003"/>
                <a:gd name="connsiteY0-2" fmla="*/ 0 h 854003"/>
                <a:gd name="connsiteX1-3" fmla="*/ 854003 w 854003"/>
                <a:gd name="connsiteY1-4" fmla="*/ 0 h 854003"/>
                <a:gd name="connsiteX2-5" fmla="*/ 854003 w 854003"/>
                <a:gd name="connsiteY2-6" fmla="*/ 854003 h 854003"/>
                <a:gd name="connsiteX3-7" fmla="*/ 0 w 854003"/>
                <a:gd name="connsiteY3-8" fmla="*/ 854003 h 854003"/>
                <a:gd name="connsiteX4-9" fmla="*/ 91440 w 854003"/>
                <a:gd name="connsiteY4-10" fmla="*/ 91440 h 854003"/>
                <a:gd name="connsiteX0-11" fmla="*/ 854003 w 854003"/>
                <a:gd name="connsiteY0-12" fmla="*/ 0 h 854003"/>
                <a:gd name="connsiteX1-13" fmla="*/ 854003 w 854003"/>
                <a:gd name="connsiteY1-14" fmla="*/ 854003 h 854003"/>
                <a:gd name="connsiteX2-15" fmla="*/ 0 w 854003"/>
                <a:gd name="connsiteY2-16" fmla="*/ 854003 h 854003"/>
                <a:gd name="connsiteX3-17" fmla="*/ 91440 w 854003"/>
                <a:gd name="connsiteY3-18" fmla="*/ 91440 h 854003"/>
                <a:gd name="connsiteX0-19" fmla="*/ 854003 w 854003"/>
                <a:gd name="connsiteY0-20" fmla="*/ 0 h 854003"/>
                <a:gd name="connsiteX1-21" fmla="*/ 854003 w 854003"/>
                <a:gd name="connsiteY1-22" fmla="*/ 854003 h 854003"/>
                <a:gd name="connsiteX2-23" fmla="*/ 0 w 854003"/>
                <a:gd name="connsiteY2-24" fmla="*/ 854003 h 854003"/>
                <a:gd name="connsiteX0-25" fmla="*/ 1019595 w 1019595"/>
                <a:gd name="connsiteY0-26" fmla="*/ 0 h 72953"/>
                <a:gd name="connsiteX1-27" fmla="*/ 854003 w 1019595"/>
                <a:gd name="connsiteY1-28" fmla="*/ 72953 h 72953"/>
                <a:gd name="connsiteX2-29" fmla="*/ 0 w 1019595"/>
                <a:gd name="connsiteY2-30" fmla="*/ 72953 h 72953"/>
                <a:gd name="connsiteX0-31" fmla="*/ 1049223 w 1049223"/>
                <a:gd name="connsiteY0-32" fmla="*/ 0 h 306315"/>
                <a:gd name="connsiteX1-33" fmla="*/ 854003 w 1049223"/>
                <a:gd name="connsiteY1-34" fmla="*/ 306315 h 306315"/>
                <a:gd name="connsiteX2-35" fmla="*/ 0 w 1049223"/>
                <a:gd name="connsiteY2-36" fmla="*/ 306315 h 306315"/>
                <a:gd name="connsiteX0-37" fmla="*/ 1054161 w 1054161"/>
                <a:gd name="connsiteY0-38" fmla="*/ 0 h 325365"/>
                <a:gd name="connsiteX1-39" fmla="*/ 854003 w 1054161"/>
                <a:gd name="connsiteY1-40" fmla="*/ 325365 h 325365"/>
                <a:gd name="connsiteX2-41" fmla="*/ 0 w 1054161"/>
                <a:gd name="connsiteY2-42" fmla="*/ 325365 h 325365"/>
                <a:gd name="connsiteX0-43" fmla="*/ 1038427 w 1038427"/>
                <a:gd name="connsiteY0-44" fmla="*/ 0 h 302685"/>
                <a:gd name="connsiteX1-45" fmla="*/ 854003 w 1038427"/>
                <a:gd name="connsiteY1-46" fmla="*/ 302685 h 302685"/>
                <a:gd name="connsiteX2-47" fmla="*/ 0 w 1038427"/>
                <a:gd name="connsiteY2-48" fmla="*/ 302685 h 302685"/>
                <a:gd name="connsiteX0-49" fmla="*/ 736399 w 736399"/>
                <a:gd name="connsiteY0-50" fmla="*/ 0 h 302685"/>
                <a:gd name="connsiteX1-51" fmla="*/ 551975 w 736399"/>
                <a:gd name="connsiteY1-52" fmla="*/ 302685 h 302685"/>
                <a:gd name="connsiteX2-53" fmla="*/ 0 w 736399"/>
                <a:gd name="connsiteY2-54" fmla="*/ 301872 h 302685"/>
                <a:gd name="connsiteX0-55" fmla="*/ 687641 w 687641"/>
                <a:gd name="connsiteY0-56" fmla="*/ 0 h 220527"/>
                <a:gd name="connsiteX1-57" fmla="*/ 551975 w 687641"/>
                <a:gd name="connsiteY1-58" fmla="*/ 220527 h 220527"/>
                <a:gd name="connsiteX2-59" fmla="*/ 0 w 687641"/>
                <a:gd name="connsiteY2-60" fmla="*/ 219714 h 220527"/>
                <a:gd name="connsiteX0-61" fmla="*/ 747234 w 747234"/>
                <a:gd name="connsiteY0-62" fmla="*/ 0 h 220527"/>
                <a:gd name="connsiteX1-63" fmla="*/ 611568 w 747234"/>
                <a:gd name="connsiteY1-64" fmla="*/ 220527 h 220527"/>
                <a:gd name="connsiteX2-65" fmla="*/ 0 w 747234"/>
                <a:gd name="connsiteY2-66" fmla="*/ 219714 h 220527"/>
                <a:gd name="connsiteX0-67" fmla="*/ 548547 w 548547"/>
                <a:gd name="connsiteY0-68" fmla="*/ 0 h 220528"/>
                <a:gd name="connsiteX1-69" fmla="*/ 412881 w 548547"/>
                <a:gd name="connsiteY1-70" fmla="*/ 220527 h 220528"/>
                <a:gd name="connsiteX2-71" fmla="*/ 0 w 548547"/>
                <a:gd name="connsiteY2-72" fmla="*/ 220528 h 220528"/>
                <a:gd name="connsiteX0-73" fmla="*/ 657109 w 657109"/>
                <a:gd name="connsiteY0-74" fmla="*/ 0 h 52144"/>
                <a:gd name="connsiteX1-75" fmla="*/ 412881 w 657109"/>
                <a:gd name="connsiteY1-76" fmla="*/ 52143 h 52144"/>
                <a:gd name="connsiteX2-77" fmla="*/ 0 w 657109"/>
                <a:gd name="connsiteY2-78" fmla="*/ 52144 h 52144"/>
                <a:gd name="connsiteX0-79" fmla="*/ 663254 w 663254"/>
                <a:gd name="connsiteY0-80" fmla="*/ 0 h 52144"/>
                <a:gd name="connsiteX1-81" fmla="*/ 419026 w 663254"/>
                <a:gd name="connsiteY1-82" fmla="*/ 52143 h 52144"/>
                <a:gd name="connsiteX2-83" fmla="*/ 0 w 663254"/>
                <a:gd name="connsiteY2-84" fmla="*/ 52144 h 52144"/>
                <a:gd name="connsiteX0-85" fmla="*/ 650964 w 650964"/>
                <a:gd name="connsiteY0-86" fmla="*/ 0 h 208326"/>
                <a:gd name="connsiteX1-87" fmla="*/ 419026 w 650964"/>
                <a:gd name="connsiteY1-88" fmla="*/ 208325 h 208326"/>
                <a:gd name="connsiteX2-89" fmla="*/ 0 w 650964"/>
                <a:gd name="connsiteY2-90" fmla="*/ 208326 h 208326"/>
                <a:gd name="connsiteX0-1-1" fmla="*/ 563569 w 563569"/>
                <a:gd name="connsiteY0-2-2" fmla="*/ 0 h 202903"/>
                <a:gd name="connsiteX1-3-3" fmla="*/ 419026 w 563569"/>
                <a:gd name="connsiteY1-4-4" fmla="*/ 202902 h 202903"/>
                <a:gd name="connsiteX2-5-5" fmla="*/ 0 w 563569"/>
                <a:gd name="connsiteY2-6-6" fmla="*/ 202903 h 202903"/>
                <a:gd name="connsiteX0-7" fmla="*/ 592701 w 592701"/>
                <a:gd name="connsiteY0-8" fmla="*/ 0 h 260748"/>
                <a:gd name="connsiteX1-9" fmla="*/ 419026 w 592701"/>
                <a:gd name="connsiteY1-10" fmla="*/ 260747 h 260748"/>
                <a:gd name="connsiteX2-11" fmla="*/ 0 w 592701"/>
                <a:gd name="connsiteY2-12" fmla="*/ 260748 h 260748"/>
              </a:gdLst>
              <a:ahLst/>
              <a:cxnLst>
                <a:cxn ang="0">
                  <a:pos x="connsiteX0-1-1" y="connsiteY0-2-2"/>
                </a:cxn>
                <a:cxn ang="0">
                  <a:pos x="connsiteX1-3-3" y="connsiteY1-4-4"/>
                </a:cxn>
                <a:cxn ang="0">
                  <a:pos x="connsiteX2-5-5" y="connsiteY2-6-6"/>
                </a:cxn>
              </a:cxnLst>
              <a:rect l="l" t="t" r="r" b="b"/>
              <a:pathLst>
                <a:path w="592701" h="260748">
                  <a:moveTo>
                    <a:pt x="592701" y="0"/>
                  </a:moveTo>
                  <a:lnTo>
                    <a:pt x="419026" y="260747"/>
                  </a:lnTo>
                  <a:lnTo>
                    <a:pt x="0" y="260748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矩形 76"/>
            <p:cNvSpPr/>
            <p:nvPr/>
          </p:nvSpPr>
          <p:spPr bwMode="auto">
            <a:xfrm flipH="1">
              <a:off x="2346" y="6310"/>
              <a:ext cx="1003" cy="269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卷针</a:t>
              </a: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1965" y="4634"/>
              <a:ext cx="3465" cy="57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2229" y="3324"/>
              <a:ext cx="3014" cy="131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8" name="组合 47"/>
            <p:cNvGrpSpPr/>
            <p:nvPr/>
          </p:nvGrpSpPr>
          <p:grpSpPr>
            <a:xfrm>
              <a:off x="4880" y="3697"/>
              <a:ext cx="1812" cy="1307"/>
              <a:chOff x="4181396" y="3043355"/>
              <a:chExt cx="1268562" cy="900277"/>
            </a:xfrm>
          </p:grpSpPr>
          <p:sp>
            <p:nvSpPr>
              <p:cNvPr id="19" name="矩形 8"/>
              <p:cNvSpPr/>
              <p:nvPr/>
            </p:nvSpPr>
            <p:spPr>
              <a:xfrm flipH="1" flipV="1">
                <a:off x="4181396" y="3114805"/>
                <a:ext cx="955788" cy="828827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矩形 76"/>
              <p:cNvSpPr/>
              <p:nvPr/>
            </p:nvSpPr>
            <p:spPr>
              <a:xfrm flipH="1">
                <a:off x="4802181" y="3043355"/>
                <a:ext cx="647777" cy="21594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21" name="组合 29"/>
            <p:cNvGrpSpPr/>
            <p:nvPr/>
          </p:nvGrpSpPr>
          <p:grpSpPr>
            <a:xfrm flipV="1">
              <a:off x="5877" y="4655"/>
              <a:ext cx="1350" cy="1072"/>
              <a:chOff x="11655" y="3729"/>
              <a:chExt cx="1489" cy="1132"/>
            </a:xfrm>
          </p:grpSpPr>
          <p:sp>
            <p:nvSpPr>
              <p:cNvPr id="22" name="矩形 76"/>
              <p:cNvSpPr/>
              <p:nvPr/>
            </p:nvSpPr>
            <p:spPr>
              <a:xfrm flipH="1" flipV="1">
                <a:off x="12159" y="3729"/>
                <a:ext cx="985" cy="328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光源</a:t>
                </a:r>
              </a:p>
            </p:txBody>
          </p:sp>
          <p:sp>
            <p:nvSpPr>
              <p:cNvPr id="23" name="矩形 8"/>
              <p:cNvSpPr/>
              <p:nvPr/>
            </p:nvSpPr>
            <p:spPr>
              <a:xfrm flipH="1" flipV="1">
                <a:off x="11655" y="4018"/>
                <a:ext cx="796" cy="843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50964 w 650964"/>
                  <a:gd name="connsiteY0-86" fmla="*/ 0 h 208326"/>
                  <a:gd name="connsiteX1-87" fmla="*/ 419026 w 650964"/>
                  <a:gd name="connsiteY1-88" fmla="*/ 208325 h 208326"/>
                  <a:gd name="connsiteX2-89" fmla="*/ 0 w 650964"/>
                  <a:gd name="connsiteY2-90" fmla="*/ 208326 h 208326"/>
                  <a:gd name="connsiteX0-91" fmla="*/ 1004915 w 1004915"/>
                  <a:gd name="connsiteY0-92" fmla="*/ 0 h 515484"/>
                  <a:gd name="connsiteX1-93" fmla="*/ 419026 w 1004915"/>
                  <a:gd name="connsiteY1-94" fmla="*/ 515483 h 515484"/>
                  <a:gd name="connsiteX2-95" fmla="*/ 0 w 1004915"/>
                  <a:gd name="connsiteY2-96" fmla="*/ 515484 h 515484"/>
                  <a:gd name="connsiteX0-97" fmla="*/ 578863 w 578863"/>
                  <a:gd name="connsiteY0-98" fmla="*/ 0 h 445202"/>
                  <a:gd name="connsiteX1-99" fmla="*/ 419026 w 578863"/>
                  <a:gd name="connsiteY1-100" fmla="*/ 445201 h 445202"/>
                  <a:gd name="connsiteX2-101" fmla="*/ 0 w 578863"/>
                  <a:gd name="connsiteY2-102" fmla="*/ 445202 h 445202"/>
                  <a:gd name="connsiteX0-1-1" fmla="*/ 578863 w 578863"/>
                  <a:gd name="connsiteY0-2-2" fmla="*/ 0 h 157784"/>
                  <a:gd name="connsiteX1-3-3" fmla="*/ 419026 w 578863"/>
                  <a:gd name="connsiteY1-4-4" fmla="*/ 157783 h 157784"/>
                  <a:gd name="connsiteX2-5-5" fmla="*/ 0 w 578863"/>
                  <a:gd name="connsiteY2-6-6" fmla="*/ 157784 h 157784"/>
                </a:gdLst>
                <a:ahLst/>
                <a:cxnLst>
                  <a:cxn ang="0">
                    <a:pos x="connsiteX0-1-1" y="connsiteY0-2-2"/>
                  </a:cxn>
                  <a:cxn ang="0">
                    <a:pos x="connsiteX1-3-3" y="connsiteY1-4-4"/>
                  </a:cxn>
                  <a:cxn ang="0">
                    <a:pos x="connsiteX2-5-5" y="connsiteY2-6-6"/>
                  </a:cxn>
                </a:cxnLst>
                <a:rect l="l" t="t" r="r" b="b"/>
                <a:pathLst>
                  <a:path w="578863" h="157784">
                    <a:moveTo>
                      <a:pt x="578863" y="0"/>
                    </a:moveTo>
                    <a:lnTo>
                      <a:pt x="419026" y="157783"/>
                    </a:lnTo>
                    <a:lnTo>
                      <a:pt x="0" y="157784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4" name="组合 20"/>
            <p:cNvGrpSpPr/>
            <p:nvPr/>
          </p:nvGrpSpPr>
          <p:grpSpPr>
            <a:xfrm>
              <a:off x="-19" y="4831"/>
              <a:ext cx="1474" cy="409"/>
              <a:chOff x="1067197" y="3993948"/>
              <a:chExt cx="1032106" cy="281926"/>
            </a:xfrm>
          </p:grpSpPr>
          <p:sp>
            <p:nvSpPr>
              <p:cNvPr id="25" name="矩形 8"/>
              <p:cNvSpPr/>
              <p:nvPr/>
            </p:nvSpPr>
            <p:spPr>
              <a:xfrm>
                <a:off x="1543793" y="3993948"/>
                <a:ext cx="555510" cy="179644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50964 w 650964"/>
                  <a:gd name="connsiteY0-86" fmla="*/ 0 h 208326"/>
                  <a:gd name="connsiteX1-87" fmla="*/ 419026 w 650964"/>
                  <a:gd name="connsiteY1-88" fmla="*/ 208325 h 208326"/>
                  <a:gd name="connsiteX2-89" fmla="*/ 0 w 650964"/>
                  <a:gd name="connsiteY2-90" fmla="*/ 208326 h 208326"/>
                  <a:gd name="connsiteX0-91" fmla="*/ 1004915 w 1004915"/>
                  <a:gd name="connsiteY0-92" fmla="*/ 0 h 515484"/>
                  <a:gd name="connsiteX1-93" fmla="*/ 419026 w 1004915"/>
                  <a:gd name="connsiteY1-94" fmla="*/ 515483 h 515484"/>
                  <a:gd name="connsiteX2-95" fmla="*/ 0 w 1004915"/>
                  <a:gd name="connsiteY2-96" fmla="*/ 515484 h 515484"/>
                  <a:gd name="connsiteX0-97" fmla="*/ 578863 w 578863"/>
                  <a:gd name="connsiteY0-98" fmla="*/ 0 h 445202"/>
                  <a:gd name="connsiteX1-99" fmla="*/ 419026 w 578863"/>
                  <a:gd name="connsiteY1-100" fmla="*/ 445201 h 445202"/>
                  <a:gd name="connsiteX2-101" fmla="*/ 0 w 578863"/>
                  <a:gd name="connsiteY2-102" fmla="*/ 445202 h 445202"/>
                  <a:gd name="connsiteX0-1-1" fmla="*/ 578863 w 578863"/>
                  <a:gd name="connsiteY0-2-2" fmla="*/ 0 h 157784"/>
                  <a:gd name="connsiteX1-3-3" fmla="*/ 419026 w 578863"/>
                  <a:gd name="connsiteY1-4-4" fmla="*/ 157783 h 157784"/>
                  <a:gd name="connsiteX2-5-5" fmla="*/ 0 w 578863"/>
                  <a:gd name="connsiteY2-6-6" fmla="*/ 157784 h 157784"/>
                </a:gdLst>
                <a:ahLst/>
                <a:cxnLst>
                  <a:cxn ang="0">
                    <a:pos x="connsiteX0-1-1" y="connsiteY0-2-2"/>
                  </a:cxn>
                  <a:cxn ang="0">
                    <a:pos x="connsiteX1-3-3" y="connsiteY1-4-4"/>
                  </a:cxn>
                  <a:cxn ang="0">
                    <a:pos x="connsiteX2-5-5" y="connsiteY2-6-6"/>
                  </a:cxn>
                </a:cxnLst>
                <a:rect l="l" t="t" r="r" b="b"/>
                <a:pathLst>
                  <a:path w="578863" h="157784">
                    <a:moveTo>
                      <a:pt x="578863" y="0"/>
                    </a:moveTo>
                    <a:lnTo>
                      <a:pt x="419026" y="157783"/>
                    </a:lnTo>
                    <a:lnTo>
                      <a:pt x="0" y="157784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矩形 76"/>
              <p:cNvSpPr/>
              <p:nvPr/>
            </p:nvSpPr>
            <p:spPr>
              <a:xfrm flipH="1">
                <a:off x="1067197" y="4059934"/>
                <a:ext cx="647777" cy="21594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光源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7" name="组合 21"/>
            <p:cNvGrpSpPr/>
            <p:nvPr/>
          </p:nvGrpSpPr>
          <p:grpSpPr>
            <a:xfrm>
              <a:off x="353" y="4517"/>
              <a:ext cx="1834" cy="1591"/>
              <a:chOff x="1012735" y="3608023"/>
              <a:chExt cx="1284479" cy="1095269"/>
            </a:xfrm>
          </p:grpSpPr>
          <p:sp>
            <p:nvSpPr>
              <p:cNvPr id="28" name="矩形 8"/>
              <p:cNvSpPr/>
              <p:nvPr/>
            </p:nvSpPr>
            <p:spPr>
              <a:xfrm>
                <a:off x="1322052" y="3608023"/>
                <a:ext cx="975162" cy="919704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矩形 76"/>
              <p:cNvSpPr/>
              <p:nvPr/>
            </p:nvSpPr>
            <p:spPr>
              <a:xfrm flipH="1">
                <a:off x="1012735" y="4487353"/>
                <a:ext cx="647776" cy="215939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  <a:endPara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pic>
          <p:nvPicPr>
            <p:cNvPr id="38" name="图片 257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5944" y="4258"/>
              <a:ext cx="346" cy="74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9" name="图片 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0" y="4296"/>
              <a:ext cx="552" cy="5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" name="图片 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9" y="4314"/>
              <a:ext cx="587" cy="59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" name="图片 257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1181" y="4286"/>
              <a:ext cx="346" cy="746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48" name="直接连接符 47"/>
            <p:cNvCxnSpPr/>
            <p:nvPr/>
          </p:nvCxnSpPr>
          <p:spPr>
            <a:xfrm>
              <a:off x="2229" y="2905"/>
              <a:ext cx="0" cy="2949"/>
            </a:xfrm>
            <a:prstGeom prst="line">
              <a:avLst/>
            </a:prstGeom>
            <a:ln w="12700" cmpd="sng">
              <a:solidFill>
                <a:srgbClr val="035CD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795" y="4606"/>
              <a:ext cx="5896" cy="0"/>
            </a:xfrm>
            <a:prstGeom prst="line">
              <a:avLst/>
            </a:prstGeom>
            <a:ln w="12700" cmpd="sng">
              <a:solidFill>
                <a:srgbClr val="035CD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50" name="文本框 23"/>
            <p:cNvSpPr txBox="1"/>
            <p:nvPr/>
          </p:nvSpPr>
          <p:spPr>
            <a:xfrm>
              <a:off x="4950" y="5705"/>
              <a:ext cx="1739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</a:t>
              </a:r>
              <a:r>
                <a:rPr lang="zh-CN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±</a:t>
              </a: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10mm</a:t>
              </a: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43" y="2905"/>
              <a:ext cx="0" cy="2949"/>
            </a:xfrm>
            <a:prstGeom prst="line">
              <a:avLst/>
            </a:prstGeom>
            <a:ln w="12700" cmpd="sng">
              <a:solidFill>
                <a:srgbClr val="035CDF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76"/>
            <p:cNvSpPr/>
            <p:nvPr/>
          </p:nvSpPr>
          <p:spPr bwMode="auto">
            <a:xfrm flipH="1">
              <a:off x="5177" y="2225"/>
              <a:ext cx="1865" cy="472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入卷极片</a:t>
              </a:r>
            </a:p>
          </p:txBody>
        </p:sp>
      </p:grpSp>
      <p:sp>
        <p:nvSpPr>
          <p:cNvPr id="57" name="矩形 8"/>
          <p:cNvSpPr/>
          <p:nvPr/>
        </p:nvSpPr>
        <p:spPr>
          <a:xfrm flipV="1">
            <a:off x="1047881" y="2524723"/>
            <a:ext cx="680720" cy="432000"/>
          </a:xfrm>
          <a:custGeom>
            <a:avLst/>
            <a:gdLst>
              <a:gd name="connsiteX0" fmla="*/ 1395 w 1395"/>
              <a:gd name="connsiteY0" fmla="*/ 0 h 3145"/>
              <a:gd name="connsiteX1" fmla="*/ 707 w 1395"/>
              <a:gd name="connsiteY1" fmla="*/ 3145 h 3145"/>
              <a:gd name="connsiteX2" fmla="*/ 0 w 1395"/>
              <a:gd name="connsiteY2" fmla="*/ 3145 h 3145"/>
              <a:gd name="connsiteX0-1" fmla="*/ 9140 w 9140"/>
              <a:gd name="connsiteY0-2" fmla="*/ 0 h 10000"/>
              <a:gd name="connsiteX1-3" fmla="*/ 5068 w 9140"/>
              <a:gd name="connsiteY1-4" fmla="*/ 10000 h 10000"/>
              <a:gd name="connsiteX2-5" fmla="*/ 0 w 9140"/>
              <a:gd name="connsiteY2-6" fmla="*/ 10000 h 10000"/>
              <a:gd name="connsiteX0-7" fmla="*/ 10000 w 10000"/>
              <a:gd name="connsiteY0-8" fmla="*/ 0 h 9322"/>
              <a:gd name="connsiteX1-9" fmla="*/ 5545 w 10000"/>
              <a:gd name="connsiteY1-10" fmla="*/ 9322 h 9322"/>
              <a:gd name="connsiteX2-11" fmla="*/ 0 w 10000"/>
              <a:gd name="connsiteY2-12" fmla="*/ 9322 h 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322">
                <a:moveTo>
                  <a:pt x="10000" y="0"/>
                </a:moveTo>
                <a:lnTo>
                  <a:pt x="5545" y="9322"/>
                </a:lnTo>
                <a:lnTo>
                  <a:pt x="0" y="9322"/>
                </a:ln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矩形 76"/>
          <p:cNvSpPr/>
          <p:nvPr/>
        </p:nvSpPr>
        <p:spPr>
          <a:xfrm flipH="1">
            <a:off x="898525" y="2458720"/>
            <a:ext cx="653415" cy="218440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背光源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4987314" y="1882775"/>
            <a:ext cx="4457618" cy="2865120"/>
            <a:chOff x="7621" y="2905"/>
            <a:chExt cx="7294" cy="4512"/>
          </a:xfrm>
        </p:grpSpPr>
        <p:grpSp>
          <p:nvGrpSpPr>
            <p:cNvPr id="20503" name="组合 89"/>
            <p:cNvGrpSpPr/>
            <p:nvPr/>
          </p:nvGrpSpPr>
          <p:grpSpPr>
            <a:xfrm>
              <a:off x="7621" y="2905"/>
              <a:ext cx="7294" cy="4512"/>
              <a:chOff x="6889062" y="1877695"/>
              <a:chExt cx="4688541" cy="3167927"/>
            </a:xfrm>
          </p:grpSpPr>
          <p:cxnSp>
            <p:nvCxnSpPr>
              <p:cNvPr id="43" name="直接连接符 42"/>
              <p:cNvCxnSpPr/>
              <p:nvPr/>
            </p:nvCxnSpPr>
            <p:spPr bwMode="auto">
              <a:xfrm>
                <a:off x="7878327" y="1877695"/>
                <a:ext cx="0" cy="1393222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504" name="图片 2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04488" y="2894409"/>
                <a:ext cx="717586" cy="34147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0505" name="图片 1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576568">
                <a:off x="8821108" y="3088579"/>
                <a:ext cx="256567" cy="34147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2" name="椭圆 41"/>
              <p:cNvSpPr/>
              <p:nvPr/>
            </p:nvSpPr>
            <p:spPr bwMode="auto">
              <a:xfrm>
                <a:off x="7784440" y="3011653"/>
                <a:ext cx="173088" cy="517331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45" name="直接连接符 44"/>
              <p:cNvCxnSpPr/>
              <p:nvPr/>
            </p:nvCxnSpPr>
            <p:spPr bwMode="auto">
              <a:xfrm>
                <a:off x="7784440" y="3114802"/>
                <a:ext cx="0" cy="590328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auto">
              <a:xfrm>
                <a:off x="8794384" y="3333795"/>
                <a:ext cx="0" cy="57604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/>
              <p:nvPr/>
            </p:nvCxnSpPr>
            <p:spPr bwMode="auto">
              <a:xfrm>
                <a:off x="7986047" y="3635718"/>
                <a:ext cx="773337" cy="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14" name="文本框 23"/>
              <p:cNvSpPr txBox="1"/>
              <p:nvPr/>
            </p:nvSpPr>
            <p:spPr>
              <a:xfrm>
                <a:off x="7891792" y="3576376"/>
                <a:ext cx="1280305" cy="339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ctr">
                  <a:buFontTx/>
                </a:pPr>
                <a:r>
                  <a:rPr lang="en-US" altLang="zh-CN" sz="1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160±10mm</a:t>
                </a:r>
              </a:p>
            </p:txBody>
          </p:sp>
          <p:grpSp>
            <p:nvGrpSpPr>
              <p:cNvPr id="20515" name="组合 33"/>
              <p:cNvGrpSpPr/>
              <p:nvPr/>
            </p:nvGrpSpPr>
            <p:grpSpPr>
              <a:xfrm flipV="1">
                <a:off x="7878123" y="2008285"/>
                <a:ext cx="737507" cy="754963"/>
                <a:chOff x="3886352" y="3858841"/>
                <a:chExt cx="1168020" cy="926943"/>
              </a:xfrm>
            </p:grpSpPr>
            <p:sp>
              <p:nvSpPr>
                <p:cNvPr id="69" name="矩形 8"/>
                <p:cNvSpPr/>
                <p:nvPr/>
              </p:nvSpPr>
              <p:spPr>
                <a:xfrm flipH="1">
                  <a:off x="3886352" y="3858841"/>
                  <a:ext cx="385787" cy="757870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0" name="矩形 76"/>
                <p:cNvSpPr/>
                <p:nvPr/>
              </p:nvSpPr>
              <p:spPr>
                <a:xfrm flipH="1" flipV="1">
                  <a:off x="4216905" y="4518854"/>
                  <a:ext cx="837467" cy="26693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极片</a:t>
                  </a:r>
                </a:p>
              </p:txBody>
            </p:sp>
          </p:grpSp>
          <p:cxnSp>
            <p:nvCxnSpPr>
              <p:cNvPr id="53" name="直接连接符 52"/>
              <p:cNvCxnSpPr/>
              <p:nvPr/>
            </p:nvCxnSpPr>
            <p:spPr bwMode="auto">
              <a:xfrm>
                <a:off x="7347084" y="3041764"/>
                <a:ext cx="3650026" cy="0"/>
              </a:xfrm>
              <a:prstGeom prst="line">
                <a:avLst/>
              </a:prstGeom>
              <a:ln w="12700" cmpd="sng">
                <a:solidFill>
                  <a:schemeClr val="accent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9" name="组合 47"/>
              <p:cNvGrpSpPr/>
              <p:nvPr/>
            </p:nvGrpSpPr>
            <p:grpSpPr>
              <a:xfrm flipV="1">
                <a:off x="10470783" y="3162103"/>
                <a:ext cx="1106820" cy="617134"/>
                <a:chOff x="-3165197" y="2232306"/>
                <a:chExt cx="1881102" cy="603412"/>
              </a:xfrm>
            </p:grpSpPr>
            <p:sp>
              <p:nvSpPr>
                <p:cNvPr id="67" name="矩形 8"/>
                <p:cNvSpPr/>
                <p:nvPr/>
              </p:nvSpPr>
              <p:spPr>
                <a:xfrm flipH="1" flipV="1">
                  <a:off x="-3165197" y="2355247"/>
                  <a:ext cx="364750" cy="480471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8" name="矩形 76"/>
                <p:cNvSpPr/>
                <p:nvPr/>
              </p:nvSpPr>
              <p:spPr>
                <a:xfrm flipH="1" flipV="1">
                  <a:off x="-2918120" y="2232306"/>
                  <a:ext cx="1634025" cy="22489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1</a:t>
                  </a: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、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2</a:t>
                  </a: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20522" name="组合 50"/>
              <p:cNvGrpSpPr/>
              <p:nvPr/>
            </p:nvGrpSpPr>
            <p:grpSpPr>
              <a:xfrm flipV="1">
                <a:off x="8886485" y="1953211"/>
                <a:ext cx="1084333" cy="1302823"/>
                <a:chOff x="-4984134" y="4389473"/>
                <a:chExt cx="1719392" cy="1314179"/>
              </a:xfrm>
            </p:grpSpPr>
            <p:sp>
              <p:nvSpPr>
                <p:cNvPr id="65" name="矩形 8"/>
                <p:cNvSpPr/>
                <p:nvPr/>
              </p:nvSpPr>
              <p:spPr>
                <a:xfrm flipH="1">
                  <a:off x="-4984134" y="4389473"/>
                  <a:ext cx="1115466" cy="1230965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6" name="矩形 76"/>
                <p:cNvSpPr/>
                <p:nvPr/>
              </p:nvSpPr>
              <p:spPr>
                <a:xfrm flipH="1" flipV="1">
                  <a:off x="-4225602" y="5460340"/>
                  <a:ext cx="960860" cy="24331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光源</a:t>
                  </a:r>
                  <a:r>
                    <a:rPr kumimoji="0" lang="en-US" altLang="zh-CN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1</a:t>
                  </a:r>
                </a:p>
              </p:txBody>
            </p:sp>
          </p:grpSp>
          <p:pic>
            <p:nvPicPr>
              <p:cNvPr id="20525" name="图片 61"/>
              <p:cNvPicPr>
                <a:picLocks noChangeAspect="1"/>
              </p:cNvPicPr>
              <p:nvPr/>
            </p:nvPicPr>
            <p:blipFill>
              <a:blip r:embed="rId7"/>
              <a:srcRect t="6744" b="7253"/>
              <a:stretch>
                <a:fillRect/>
              </a:stretch>
            </p:blipFill>
            <p:spPr>
              <a:xfrm rot="-5400000">
                <a:off x="7161803" y="2838447"/>
                <a:ext cx="411163" cy="33020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82" name="直接连接符 81"/>
              <p:cNvCxnSpPr/>
              <p:nvPr/>
            </p:nvCxnSpPr>
            <p:spPr bwMode="auto">
              <a:xfrm>
                <a:off x="7957528" y="3260797"/>
                <a:ext cx="0" cy="135997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 bwMode="auto">
              <a:xfrm>
                <a:off x="7525603" y="3129084"/>
                <a:ext cx="0" cy="57604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/>
              <p:cNvCxnSpPr/>
              <p:nvPr/>
            </p:nvCxnSpPr>
            <p:spPr bwMode="auto">
              <a:xfrm>
                <a:off x="7489079" y="3555961"/>
                <a:ext cx="295361" cy="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29" name="文本框 21"/>
              <p:cNvSpPr txBox="1"/>
              <p:nvPr/>
            </p:nvSpPr>
            <p:spPr>
              <a:xfrm>
                <a:off x="6889062" y="3619924"/>
                <a:ext cx="1131917" cy="339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ctr">
                  <a:buFontTx/>
                </a:pPr>
                <a:r>
                  <a:rPr lang="en-US" altLang="zh-CN" sz="1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80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±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10mm</a:t>
                </a:r>
                <a:endParaRPr lang="zh-CN" alt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396EAB37-D4C3-9647-10E7-5DAA907847D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0227858" y="2950067"/>
                <a:ext cx="26488" cy="209555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05D26311-A056-0BCF-C1DE-5B9131D0E79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986047" y="4552599"/>
                <a:ext cx="2228172" cy="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文本框 21">
                <a:extLst>
                  <a:ext uri="{FF2B5EF4-FFF2-40B4-BE49-F238E27FC236}">
                    <a16:creationId xmlns:a16="http://schemas.microsoft.com/office/drawing/2014/main" id="{B1DFE907-B1F6-CCC6-A0C3-15252696CD8B}"/>
                  </a:ext>
                </a:extLst>
              </p:cNvPr>
              <p:cNvSpPr txBox="1"/>
              <p:nvPr/>
            </p:nvSpPr>
            <p:spPr>
              <a:xfrm>
                <a:off x="8244136" y="4411011"/>
                <a:ext cx="1588812" cy="3391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ctr">
                  <a:buFontTx/>
                </a:pPr>
                <a:r>
                  <a:rPr lang="en-US" altLang="zh-CN" sz="1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500</a:t>
                </a:r>
                <a:r>
                  <a:rPr lang="zh-CN" altLang="en-US" sz="1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±</a:t>
                </a:r>
                <a:r>
                  <a:rPr lang="en-US" altLang="zh-CN" sz="1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10mm</a:t>
                </a:r>
                <a:endParaRPr lang="zh-CN" altLang="en-US" sz="1400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0" name="矩形 76"/>
            <p:cNvSpPr/>
            <p:nvPr/>
          </p:nvSpPr>
          <p:spPr>
            <a:xfrm flipH="1">
              <a:off x="7785" y="3812"/>
              <a:ext cx="1096" cy="329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背光源</a:t>
              </a:r>
            </a:p>
          </p:txBody>
        </p:sp>
      </p:grpSp>
      <p:sp>
        <p:nvSpPr>
          <p:cNvPr id="62" name="文本框 15"/>
          <p:cNvSpPr txBox="1"/>
          <p:nvPr/>
        </p:nvSpPr>
        <p:spPr>
          <a:xfrm>
            <a:off x="624613" y="4747745"/>
            <a:ext cx="5529580" cy="107721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相机长边视野平行于产品走带方向</a:t>
            </a:r>
          </a:p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光源安装垂直于走带方向，光源上下、左右角度可调；</a:t>
            </a:r>
          </a:p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入卷极片要在背光源中心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9642789" y="1608773"/>
            <a:ext cx="2515870" cy="4150995"/>
            <a:chOff x="14448" y="2792"/>
            <a:chExt cx="3962" cy="6537"/>
          </a:xfrm>
        </p:grpSpPr>
        <p:grpSp>
          <p:nvGrpSpPr>
            <p:cNvPr id="85" name="组合 84"/>
            <p:cNvGrpSpPr/>
            <p:nvPr/>
          </p:nvGrpSpPr>
          <p:grpSpPr>
            <a:xfrm>
              <a:off x="14589" y="7280"/>
              <a:ext cx="2339" cy="760"/>
              <a:chOff x="14589" y="7280"/>
              <a:chExt cx="2339" cy="760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4589" y="7280"/>
                <a:ext cx="2339" cy="76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 flipV="1">
                <a:off x="14590" y="7280"/>
                <a:ext cx="120" cy="7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 flipV="1">
                <a:off x="16808" y="7280"/>
                <a:ext cx="120" cy="7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8" name="组合 87"/>
            <p:cNvGrpSpPr/>
            <p:nvPr/>
          </p:nvGrpSpPr>
          <p:grpSpPr>
            <a:xfrm>
              <a:off x="14448" y="2797"/>
              <a:ext cx="496" cy="5892"/>
              <a:chOff x="14448" y="2565"/>
              <a:chExt cx="496" cy="6124"/>
            </a:xfrm>
          </p:grpSpPr>
          <p:sp>
            <p:nvSpPr>
              <p:cNvPr id="72" name="矩形 71"/>
              <p:cNvSpPr/>
              <p:nvPr/>
            </p:nvSpPr>
            <p:spPr>
              <a:xfrm>
                <a:off x="14448" y="7074"/>
                <a:ext cx="405" cy="1083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3" name="图片 2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448" y="3255"/>
                <a:ext cx="496" cy="13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74" name="直接连接符 73"/>
              <p:cNvCxnSpPr>
                <a:stCxn id="73" idx="2"/>
                <a:endCxn id="72" idx="1"/>
              </p:cNvCxnSpPr>
              <p:nvPr/>
            </p:nvCxnSpPr>
            <p:spPr>
              <a:xfrm flipH="1">
                <a:off x="14448" y="4645"/>
                <a:ext cx="248" cy="297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>
                <a:stCxn id="73" idx="2"/>
                <a:endCxn id="72" idx="3"/>
              </p:cNvCxnSpPr>
              <p:nvPr/>
            </p:nvCxnSpPr>
            <p:spPr>
              <a:xfrm>
                <a:off x="14696" y="4645"/>
                <a:ext cx="157" cy="297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flipH="1">
                <a:off x="14703" y="2565"/>
                <a:ext cx="0" cy="6124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矩形 8"/>
            <p:cNvSpPr/>
            <p:nvPr/>
          </p:nvSpPr>
          <p:spPr bwMode="auto">
            <a:xfrm flipH="1" flipV="1">
              <a:off x="16808" y="6453"/>
              <a:ext cx="570" cy="1388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矩形 8"/>
            <p:cNvSpPr/>
            <p:nvPr/>
          </p:nvSpPr>
          <p:spPr bwMode="auto">
            <a:xfrm flipH="1">
              <a:off x="14816" y="8175"/>
              <a:ext cx="823" cy="904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矩形 76"/>
            <p:cNvSpPr/>
            <p:nvPr/>
          </p:nvSpPr>
          <p:spPr bwMode="auto">
            <a:xfrm flipH="1">
              <a:off x="15497" y="8802"/>
              <a:ext cx="1440" cy="52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相机视野</a:t>
              </a:r>
              <a:r>
                <a:rPr lang="en-US" altLang="zh-CN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56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x47mm</a:t>
              </a:r>
            </a:p>
          </p:txBody>
        </p:sp>
        <p:sp>
          <p:nvSpPr>
            <p:cNvPr id="80" name="矩形 76"/>
            <p:cNvSpPr/>
            <p:nvPr/>
          </p:nvSpPr>
          <p:spPr bwMode="auto">
            <a:xfrm flipH="1">
              <a:off x="17170" y="6317"/>
              <a:ext cx="1240" cy="40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拍照区域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16553" y="2792"/>
              <a:ext cx="497" cy="5892"/>
              <a:chOff x="14448" y="2565"/>
              <a:chExt cx="497" cy="6124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14448" y="7096"/>
                <a:ext cx="497" cy="1060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91" name="图片 2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448" y="3255"/>
                <a:ext cx="496" cy="13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92" name="直接连接符 91"/>
              <p:cNvCxnSpPr>
                <a:stCxn id="91" idx="2"/>
                <a:endCxn id="90" idx="1"/>
              </p:cNvCxnSpPr>
              <p:nvPr/>
            </p:nvCxnSpPr>
            <p:spPr>
              <a:xfrm flipH="1">
                <a:off x="14448" y="4645"/>
                <a:ext cx="248" cy="298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>
                <a:stCxn id="91" idx="2"/>
                <a:endCxn id="90" idx="3"/>
              </p:cNvCxnSpPr>
              <p:nvPr/>
            </p:nvCxnSpPr>
            <p:spPr>
              <a:xfrm>
                <a:off x="14696" y="4645"/>
                <a:ext cx="249" cy="298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 flipH="1">
                <a:off x="14703" y="2565"/>
                <a:ext cx="0" cy="6124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0" name="直接连接符 109"/>
            <p:cNvCxnSpPr/>
            <p:nvPr/>
          </p:nvCxnSpPr>
          <p:spPr>
            <a:xfrm flipV="1">
              <a:off x="14624" y="7668"/>
              <a:ext cx="2347" cy="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</a:t>
                      </a:r>
                      <a:r>
                        <a:rPr 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收尾错位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endParaRPr lang="en-US" altLang="zh-CN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23888" y="908050"/>
            <a:ext cx="200818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工位五 卷绕收尾错位检测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690" y="2277110"/>
            <a:ext cx="3034665" cy="12350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DAD12F-33AF-5CAC-DA6C-80581924C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232" y="3648047"/>
            <a:ext cx="3437999" cy="216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表格 19457"/>
          <p:cNvGraphicFramePr/>
          <p:nvPr>
            <p:extLst>
              <p:ext uri="{D42A27DB-BD31-4B8C-83A1-F6EECF244321}">
                <p14:modId xmlns:p14="http://schemas.microsoft.com/office/powerpoint/2010/main" val="1606069175"/>
              </p:ext>
            </p:extLst>
          </p:nvPr>
        </p:nvGraphicFramePr>
        <p:xfrm>
          <a:off x="623888" y="1628775"/>
          <a:ext cx="10814050" cy="3457575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142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7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MV-CS050-10GC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帧率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8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2448*2048</a:t>
                      </a:r>
                      <a:endParaRPr lang="en-US" altLang="zh-CN" sz="1400" dirty="0">
                        <a:solidFill>
                          <a:srgbClr val="0D0D0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3.45μm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500us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0.03mm/px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38FPS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C3523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50mm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316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60mm*51mm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02" marR="121902" marT="60959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5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光源</a:t>
                      </a: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CST-HBS7728-W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条光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3" marB="6095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837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zh-CN" altLang="en-US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47993" marR="47993" marT="47999" marB="4799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BFC197D-0872-AADA-7151-93525C86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工位五 卷绕收尾错位检测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/>
          <p:cNvSpPr txBox="1"/>
          <p:nvPr/>
        </p:nvSpPr>
        <p:spPr>
          <a:xfrm>
            <a:off x="255588" y="1000125"/>
            <a:ext cx="1439863" cy="3397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12"/>
          <p:cNvSpPr txBox="1"/>
          <p:nvPr/>
        </p:nvSpPr>
        <p:spPr>
          <a:xfrm>
            <a:off x="8788400" y="982980"/>
            <a:ext cx="1741170" cy="3733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面阵视野示意图</a:t>
            </a:r>
          </a:p>
        </p:txBody>
      </p:sp>
      <p:sp>
        <p:nvSpPr>
          <p:cNvPr id="62" name="文本框 15"/>
          <p:cNvSpPr txBox="1"/>
          <p:nvPr/>
        </p:nvSpPr>
        <p:spPr>
          <a:xfrm>
            <a:off x="767080" y="4797425"/>
            <a:ext cx="8515985" cy="13519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相机长边视野垂直于产品走带方向</a:t>
            </a: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光源安装平行于走带方向，光源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°角度可调；</a:t>
            </a: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机构必须保证相机每次拍摄角度一致，拍摄电芯区域一致，相机垂直于电芯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°拍摄</a:t>
            </a:r>
          </a:p>
          <a:p>
            <a:pPr marL="285750" indent="-285750" eaLnBrk="0" hangingPunct="0">
              <a:buFont typeface="Wingdings" panose="05000000000000000000" charset="0"/>
              <a:buChar char="u"/>
            </a:pP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192260" y="1548765"/>
            <a:ext cx="1593850" cy="4130675"/>
            <a:chOff x="14136" y="2596"/>
            <a:chExt cx="2510" cy="6505"/>
          </a:xfrm>
        </p:grpSpPr>
        <p:grpSp>
          <p:nvGrpSpPr>
            <p:cNvPr id="5" name="组合 4"/>
            <p:cNvGrpSpPr/>
            <p:nvPr/>
          </p:nvGrpSpPr>
          <p:grpSpPr>
            <a:xfrm>
              <a:off x="14298" y="7101"/>
              <a:ext cx="1908" cy="737"/>
              <a:chOff x="14589" y="7280"/>
              <a:chExt cx="2339" cy="73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4589" y="7280"/>
                <a:ext cx="2339" cy="73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 flipV="1">
                <a:off x="14590" y="7280"/>
                <a:ext cx="276" cy="7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14136" y="2596"/>
              <a:ext cx="749" cy="5892"/>
              <a:chOff x="14448" y="2565"/>
              <a:chExt cx="496" cy="6124"/>
            </a:xfrm>
          </p:grpSpPr>
          <p:sp>
            <p:nvSpPr>
              <p:cNvPr id="72" name="矩形 71"/>
              <p:cNvSpPr/>
              <p:nvPr/>
            </p:nvSpPr>
            <p:spPr>
              <a:xfrm>
                <a:off x="14448" y="7074"/>
                <a:ext cx="405" cy="1083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3" name="图片 22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448" y="3255"/>
                <a:ext cx="496" cy="13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74" name="直接连接符 73"/>
              <p:cNvCxnSpPr>
                <a:stCxn id="73" idx="2"/>
                <a:endCxn id="72" idx="1"/>
              </p:cNvCxnSpPr>
              <p:nvPr/>
            </p:nvCxnSpPr>
            <p:spPr>
              <a:xfrm flipH="1">
                <a:off x="14448" y="4645"/>
                <a:ext cx="248" cy="297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>
                <a:stCxn id="73" idx="2"/>
                <a:endCxn id="72" idx="3"/>
              </p:cNvCxnSpPr>
              <p:nvPr/>
            </p:nvCxnSpPr>
            <p:spPr>
              <a:xfrm>
                <a:off x="14696" y="4645"/>
                <a:ext cx="157" cy="297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flipH="1">
                <a:off x="14703" y="2565"/>
                <a:ext cx="0" cy="6124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矩形 8"/>
            <p:cNvSpPr/>
            <p:nvPr/>
          </p:nvSpPr>
          <p:spPr bwMode="auto">
            <a:xfrm flipH="1" flipV="1">
              <a:off x="14342" y="6678"/>
              <a:ext cx="1005" cy="1037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矩形 8"/>
            <p:cNvSpPr/>
            <p:nvPr/>
          </p:nvSpPr>
          <p:spPr bwMode="auto">
            <a:xfrm flipH="1">
              <a:off x="14525" y="7948"/>
              <a:ext cx="823" cy="904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矩形 76"/>
            <p:cNvSpPr/>
            <p:nvPr/>
          </p:nvSpPr>
          <p:spPr bwMode="auto">
            <a:xfrm flipH="1">
              <a:off x="15206" y="8575"/>
              <a:ext cx="1440" cy="52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相机视野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60x51mm</a:t>
              </a:r>
            </a:p>
          </p:txBody>
        </p:sp>
        <p:sp>
          <p:nvSpPr>
            <p:cNvPr id="8" name="矩形 76"/>
            <p:cNvSpPr/>
            <p:nvPr/>
          </p:nvSpPr>
          <p:spPr bwMode="auto">
            <a:xfrm flipH="1">
              <a:off x="15383" y="6497"/>
              <a:ext cx="1240" cy="40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收尾边</a:t>
              </a: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FA62CA96-ED52-B740-2F3B-15920F9F1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工位五 卷绕收尾错位检测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9B955FA-B8E1-8C34-D2D8-3058EB96BDF0}"/>
              </a:ext>
            </a:extLst>
          </p:cNvPr>
          <p:cNvGrpSpPr/>
          <p:nvPr/>
        </p:nvGrpSpPr>
        <p:grpSpPr>
          <a:xfrm>
            <a:off x="5043333" y="2394922"/>
            <a:ext cx="2972435" cy="1849324"/>
            <a:chOff x="7190" y="3033"/>
            <a:chExt cx="5100" cy="3204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7C2503B5-933A-46EC-4653-59B0D8AA2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print"/>
            <a:srcRect t="6745" b="7252"/>
            <a:stretch>
              <a:fillRect/>
            </a:stretch>
          </p:blipFill>
          <p:spPr>
            <a:xfrm rot="6660000">
              <a:off x="9969" y="4768"/>
              <a:ext cx="509" cy="411"/>
            </a:xfrm>
            <a:prstGeom prst="rect">
              <a:avLst/>
            </a:prstGeom>
          </p:spPr>
        </p:pic>
        <p:grpSp>
          <p:nvGrpSpPr>
            <p:cNvPr id="41" name="组合 89">
              <a:extLst>
                <a:ext uri="{FF2B5EF4-FFF2-40B4-BE49-F238E27FC236}">
                  <a16:creationId xmlns:a16="http://schemas.microsoft.com/office/drawing/2014/main" id="{99DB6E06-22D4-5223-E1A5-8C3B2DC73ECF}"/>
                </a:ext>
              </a:extLst>
            </p:cNvPr>
            <p:cNvGrpSpPr/>
            <p:nvPr/>
          </p:nvGrpSpPr>
          <p:grpSpPr>
            <a:xfrm>
              <a:off x="7190" y="3033"/>
              <a:ext cx="5100" cy="3204"/>
              <a:chOff x="7206422" y="2194376"/>
              <a:chExt cx="3650026" cy="2564596"/>
            </a:xfrm>
          </p:grpSpPr>
          <p:pic>
            <p:nvPicPr>
              <p:cNvPr id="45" name="图片 22">
                <a:extLst>
                  <a:ext uri="{FF2B5EF4-FFF2-40B4-BE49-F238E27FC236}">
                    <a16:creationId xmlns:a16="http://schemas.microsoft.com/office/drawing/2014/main" id="{71B27889-F912-45E7-F4B9-20D272594B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855426" y="2895596"/>
                <a:ext cx="717586" cy="34147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E582C828-30E1-47D9-50DB-F5DC5205D9D6}"/>
                  </a:ext>
                </a:extLst>
              </p:cNvPr>
              <p:cNvSpPr/>
              <p:nvPr/>
            </p:nvSpPr>
            <p:spPr bwMode="auto">
              <a:xfrm>
                <a:off x="7764677" y="2889281"/>
                <a:ext cx="192985" cy="63973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D34DF1F1-9782-34EA-19BE-56B8649151F9}"/>
                  </a:ext>
                </a:extLst>
              </p:cNvPr>
              <p:cNvCxnSpPr/>
              <p:nvPr/>
            </p:nvCxnSpPr>
            <p:spPr bwMode="auto">
              <a:xfrm>
                <a:off x="9836625" y="3084623"/>
                <a:ext cx="4763" cy="16297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2F9340A6-43B8-5432-2E44-D5520BB136C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9051045" y="3487851"/>
                <a:ext cx="231839" cy="59613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F0B14490-FB0E-DA84-27C0-356823527A0B}"/>
                  </a:ext>
                </a:extLst>
              </p:cNvPr>
              <p:cNvCxnSpPr/>
              <p:nvPr/>
            </p:nvCxnSpPr>
            <p:spPr bwMode="auto">
              <a:xfrm flipV="1">
                <a:off x="7992463" y="4345913"/>
                <a:ext cx="1771346" cy="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文本框 21">
                <a:extLst>
                  <a:ext uri="{FF2B5EF4-FFF2-40B4-BE49-F238E27FC236}">
                    <a16:creationId xmlns:a16="http://schemas.microsoft.com/office/drawing/2014/main" id="{9E97DC26-FE1C-700B-8501-3131FFD539EC}"/>
                  </a:ext>
                </a:extLst>
              </p:cNvPr>
              <p:cNvSpPr txBox="1"/>
              <p:nvPr/>
            </p:nvSpPr>
            <p:spPr>
              <a:xfrm>
                <a:off x="8087061" y="4419060"/>
                <a:ext cx="1588812" cy="339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316</a:t>
                </a: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±</a:t>
                </a: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10mm</a:t>
                </a:r>
                <a:endPara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BAC206EE-B94A-1647-28B6-BE857D0AA235}"/>
                  </a:ext>
                </a:extLst>
              </p:cNvPr>
              <p:cNvCxnSpPr>
                <a:cxnSpLocks/>
                <a:stCxn id="48" idx="6"/>
              </p:cNvCxnSpPr>
              <p:nvPr/>
            </p:nvCxnSpPr>
            <p:spPr bwMode="auto">
              <a:xfrm>
                <a:off x="7957662" y="3209146"/>
                <a:ext cx="1110709" cy="565793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6" name="文本框 23">
                <a:extLst>
                  <a:ext uri="{FF2B5EF4-FFF2-40B4-BE49-F238E27FC236}">
                    <a16:creationId xmlns:a16="http://schemas.microsoft.com/office/drawing/2014/main" id="{196D9108-3F31-D02F-1618-4BB4C11A1BE1}"/>
                  </a:ext>
                </a:extLst>
              </p:cNvPr>
              <p:cNvSpPr txBox="1"/>
              <p:nvPr/>
            </p:nvSpPr>
            <p:spPr>
              <a:xfrm rot="1475333">
                <a:off x="7880691" y="3433961"/>
                <a:ext cx="1236689" cy="339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160±10mm</a:t>
                </a:r>
              </a:p>
            </p:txBody>
          </p:sp>
          <p:grpSp>
            <p:nvGrpSpPr>
              <p:cNvPr id="57" name="组合 33">
                <a:extLst>
                  <a:ext uri="{FF2B5EF4-FFF2-40B4-BE49-F238E27FC236}">
                    <a16:creationId xmlns:a16="http://schemas.microsoft.com/office/drawing/2014/main" id="{B179E93E-2635-1C92-05A4-C26D039C9FA3}"/>
                  </a:ext>
                </a:extLst>
              </p:cNvPr>
              <p:cNvGrpSpPr/>
              <p:nvPr/>
            </p:nvGrpSpPr>
            <p:grpSpPr>
              <a:xfrm flipV="1">
                <a:off x="7878123" y="2194376"/>
                <a:ext cx="737507" cy="761283"/>
                <a:chOff x="3886352" y="3622599"/>
                <a:chExt cx="1168020" cy="934703"/>
              </a:xfrm>
            </p:grpSpPr>
            <p:sp>
              <p:nvSpPr>
                <p:cNvPr id="90" name="矩形 8">
                  <a:extLst>
                    <a:ext uri="{FF2B5EF4-FFF2-40B4-BE49-F238E27FC236}">
                      <a16:creationId xmlns:a16="http://schemas.microsoft.com/office/drawing/2014/main" id="{733F80C2-3B97-AF22-EAD9-BB21E6FD4427}"/>
                    </a:ext>
                  </a:extLst>
                </p:cNvPr>
                <p:cNvSpPr/>
                <p:nvPr/>
              </p:nvSpPr>
              <p:spPr>
                <a:xfrm flipH="1">
                  <a:off x="3886352" y="3622599"/>
                  <a:ext cx="385787" cy="757870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矩形 76">
                  <a:extLst>
                    <a:ext uri="{FF2B5EF4-FFF2-40B4-BE49-F238E27FC236}">
                      <a16:creationId xmlns:a16="http://schemas.microsoft.com/office/drawing/2014/main" id="{C13EDABC-B693-7865-8A68-21B36C858098}"/>
                    </a:ext>
                  </a:extLst>
                </p:cNvPr>
                <p:cNvSpPr/>
                <p:nvPr/>
              </p:nvSpPr>
              <p:spPr>
                <a:xfrm flipH="1" flipV="1">
                  <a:off x="4216905" y="4290372"/>
                  <a:ext cx="837467" cy="26693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电芯</a:t>
                  </a:r>
                </a:p>
              </p:txBody>
            </p:sp>
          </p:grp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AE279C56-8911-632C-51E5-DF91194C5520}"/>
                  </a:ext>
                </a:extLst>
              </p:cNvPr>
              <p:cNvCxnSpPr/>
              <p:nvPr/>
            </p:nvCxnSpPr>
            <p:spPr bwMode="auto">
              <a:xfrm>
                <a:off x="7206422" y="3057674"/>
                <a:ext cx="3650026" cy="0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组合 47">
                <a:extLst>
                  <a:ext uri="{FF2B5EF4-FFF2-40B4-BE49-F238E27FC236}">
                    <a16:creationId xmlns:a16="http://schemas.microsoft.com/office/drawing/2014/main" id="{CCE98095-027E-68E0-5292-479AF1109127}"/>
                  </a:ext>
                </a:extLst>
              </p:cNvPr>
              <p:cNvGrpSpPr/>
              <p:nvPr/>
            </p:nvGrpSpPr>
            <p:grpSpPr>
              <a:xfrm flipV="1">
                <a:off x="10164347" y="2514292"/>
                <a:ext cx="633721" cy="518802"/>
                <a:chOff x="-3686000" y="2961855"/>
                <a:chExt cx="1077044" cy="507266"/>
              </a:xfrm>
            </p:grpSpPr>
            <p:sp>
              <p:nvSpPr>
                <p:cNvPr id="83" name="矩形 8">
                  <a:extLst>
                    <a:ext uri="{FF2B5EF4-FFF2-40B4-BE49-F238E27FC236}">
                      <a16:creationId xmlns:a16="http://schemas.microsoft.com/office/drawing/2014/main" id="{78700E58-F887-CD7B-3C83-9AFC9CDEE12E}"/>
                    </a:ext>
                  </a:extLst>
                </p:cNvPr>
                <p:cNvSpPr/>
                <p:nvPr/>
              </p:nvSpPr>
              <p:spPr>
                <a:xfrm flipH="1">
                  <a:off x="-3686000" y="2961855"/>
                  <a:ext cx="693599" cy="425143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矩形 76">
                  <a:extLst>
                    <a:ext uri="{FF2B5EF4-FFF2-40B4-BE49-F238E27FC236}">
                      <a16:creationId xmlns:a16="http://schemas.microsoft.com/office/drawing/2014/main" id="{93984D2C-4574-10E5-ECF3-4E873F46A45C}"/>
                    </a:ext>
                  </a:extLst>
                </p:cNvPr>
                <p:cNvSpPr/>
                <p:nvPr/>
              </p:nvSpPr>
              <p:spPr>
                <a:xfrm flipH="1" flipV="1">
                  <a:off x="-3375423" y="3251895"/>
                  <a:ext cx="766467" cy="2172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</a:p>
              </p:txBody>
            </p:sp>
          </p:grpSp>
          <p:grpSp>
            <p:nvGrpSpPr>
              <p:cNvPr id="60" name="组合 50">
                <a:extLst>
                  <a:ext uri="{FF2B5EF4-FFF2-40B4-BE49-F238E27FC236}">
                    <a16:creationId xmlns:a16="http://schemas.microsoft.com/office/drawing/2014/main" id="{9EE72AA9-77C6-FF8A-C4AF-9D591ED73A60}"/>
                  </a:ext>
                </a:extLst>
              </p:cNvPr>
              <p:cNvGrpSpPr/>
              <p:nvPr/>
            </p:nvGrpSpPr>
            <p:grpSpPr>
              <a:xfrm flipV="1">
                <a:off x="9483455" y="3934644"/>
                <a:ext cx="1174230" cy="302591"/>
                <a:chOff x="-4037538" y="3399719"/>
                <a:chExt cx="1861939" cy="305229"/>
              </a:xfrm>
            </p:grpSpPr>
            <p:sp>
              <p:nvSpPr>
                <p:cNvPr id="63" name="矩形 8">
                  <a:extLst>
                    <a:ext uri="{FF2B5EF4-FFF2-40B4-BE49-F238E27FC236}">
                      <a16:creationId xmlns:a16="http://schemas.microsoft.com/office/drawing/2014/main" id="{083F46D0-3643-608F-25D6-12BDFF302559}"/>
                    </a:ext>
                  </a:extLst>
                </p:cNvPr>
                <p:cNvSpPr/>
                <p:nvPr/>
              </p:nvSpPr>
              <p:spPr>
                <a:xfrm flipH="1" flipV="1">
                  <a:off x="-4037538" y="3529724"/>
                  <a:ext cx="920362" cy="175224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矩形 76">
                  <a:extLst>
                    <a:ext uri="{FF2B5EF4-FFF2-40B4-BE49-F238E27FC236}">
                      <a16:creationId xmlns:a16="http://schemas.microsoft.com/office/drawing/2014/main" id="{8EEB133B-1677-FDA3-CB67-C0F5EEF905C4}"/>
                    </a:ext>
                  </a:extLst>
                </p:cNvPr>
                <p:cNvSpPr/>
                <p:nvPr/>
              </p:nvSpPr>
              <p:spPr>
                <a:xfrm flipH="1" flipV="1">
                  <a:off x="-3136459" y="3399719"/>
                  <a:ext cx="960860" cy="24331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光源</a:t>
                  </a:r>
                </a:p>
              </p:txBody>
            </p:sp>
          </p:grp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5F11FDEB-9FD1-98DE-566F-C945A652FB16}"/>
                  </a:ext>
                </a:extLst>
              </p:cNvPr>
              <p:cNvCxnSpPr/>
              <p:nvPr/>
            </p:nvCxnSpPr>
            <p:spPr bwMode="auto">
              <a:xfrm>
                <a:off x="7957528" y="3260797"/>
                <a:ext cx="0" cy="135997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620A171-14D2-6C91-C880-6358C90D14D4}"/>
                </a:ext>
              </a:extLst>
            </p:cNvPr>
            <p:cNvCxnSpPr/>
            <p:nvPr/>
          </p:nvCxnSpPr>
          <p:spPr bwMode="auto">
            <a:xfrm>
              <a:off x="7672" y="3877"/>
              <a:ext cx="3177" cy="1284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EFC767F5-8698-9278-CE2C-D243FE592F7E}"/>
              </a:ext>
            </a:extLst>
          </p:cNvPr>
          <p:cNvGrpSpPr/>
          <p:nvPr/>
        </p:nvGrpSpPr>
        <p:grpSpPr>
          <a:xfrm>
            <a:off x="732663" y="1637982"/>
            <a:ext cx="3939151" cy="2753045"/>
            <a:chOff x="732663" y="1637982"/>
            <a:chExt cx="3939151" cy="275304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F9BED08-9606-D461-BB12-2BB131AC77F8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732663" y="1637982"/>
              <a:ext cx="3939151" cy="2753045"/>
              <a:chOff x="1154" y="2225"/>
              <a:chExt cx="5629" cy="4858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C4CBF434-C2EC-88C1-2750-ED0C382449F6}"/>
                  </a:ext>
                </a:extLst>
              </p:cNvPr>
              <p:cNvGrpSpPr/>
              <p:nvPr/>
            </p:nvGrpSpPr>
            <p:grpSpPr>
              <a:xfrm>
                <a:off x="1154" y="2225"/>
                <a:ext cx="5629" cy="4858"/>
                <a:chOff x="13115" y="2272"/>
                <a:chExt cx="5629" cy="5291"/>
              </a:xfrm>
            </p:grpSpPr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46E84852-4D88-4A7D-08AD-B56232A97B15}"/>
                    </a:ext>
                  </a:extLst>
                </p:cNvPr>
                <p:cNvGrpSpPr/>
                <p:nvPr/>
              </p:nvGrpSpPr>
              <p:grpSpPr>
                <a:xfrm>
                  <a:off x="13115" y="2272"/>
                  <a:ext cx="4047" cy="5291"/>
                  <a:chOff x="609" y="2045"/>
                  <a:chExt cx="4047" cy="5291"/>
                </a:xfrm>
              </p:grpSpPr>
              <p:grpSp>
                <p:nvGrpSpPr>
                  <p:cNvPr id="22" name="组合 21">
                    <a:extLst>
                      <a:ext uri="{FF2B5EF4-FFF2-40B4-BE49-F238E27FC236}">
                        <a16:creationId xmlns:a16="http://schemas.microsoft.com/office/drawing/2014/main" id="{0F4A4168-BD42-4FF2-EADB-FDC00E2D1C3A}"/>
                      </a:ext>
                    </a:extLst>
                  </p:cNvPr>
                  <p:cNvGrpSpPr/>
                  <p:nvPr/>
                </p:nvGrpSpPr>
                <p:grpSpPr>
                  <a:xfrm>
                    <a:off x="2342" y="2045"/>
                    <a:ext cx="654" cy="5146"/>
                    <a:chOff x="14448" y="2565"/>
                    <a:chExt cx="460" cy="6124"/>
                  </a:xfrm>
                </p:grpSpPr>
                <p:pic>
                  <p:nvPicPr>
                    <p:cNvPr id="32" name="图片 22">
                      <a:extLst>
                        <a:ext uri="{FF2B5EF4-FFF2-40B4-BE49-F238E27FC236}">
                          <a16:creationId xmlns:a16="http://schemas.microsoft.com/office/drawing/2014/main" id="{24CE0A87-18F2-CB6A-37C2-17B392CDCD42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18"/>
                      </p:custDataLst>
                    </p:nvPr>
                  </p:nvPicPr>
                  <p:blipFill>
                    <a:blip r:embed="rId24"/>
                    <a:stretch>
                      <a:fillRect/>
                    </a:stretch>
                  </p:blipFill>
                  <p:spPr>
                    <a:xfrm>
                      <a:off x="14530" y="3425"/>
                      <a:ext cx="323" cy="122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cxnSp>
                  <p:nvCxnSpPr>
                    <p:cNvPr id="33" name="直接连接符 32">
                      <a:extLst>
                        <a:ext uri="{FF2B5EF4-FFF2-40B4-BE49-F238E27FC236}">
                          <a16:creationId xmlns:a16="http://schemas.microsoft.com/office/drawing/2014/main" id="{44E9145C-430A-048F-719A-7D1056560A40}"/>
                        </a:ext>
                      </a:extLst>
                    </p:cNvPr>
                    <p:cNvCxnSpPr>
                      <a:cxnSpLocks/>
                      <a:stCxn id="32" idx="2"/>
                      <a:endCxn id="36" idx="1"/>
                    </p:cNvCxnSpPr>
                    <p:nvPr>
                      <p:custDataLst>
                        <p:tags r:id="rId19"/>
                      </p:custDataLst>
                    </p:nvPr>
                  </p:nvCxnSpPr>
                  <p:spPr>
                    <a:xfrm flipH="1">
                      <a:off x="14448" y="4645"/>
                      <a:ext cx="243" cy="3048"/>
                    </a:xfrm>
                    <a:prstGeom prst="line">
                      <a:avLst/>
                    </a:prstGeom>
                    <a:ln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直接连接符 33">
                      <a:extLst>
                        <a:ext uri="{FF2B5EF4-FFF2-40B4-BE49-F238E27FC236}">
                          <a16:creationId xmlns:a16="http://schemas.microsoft.com/office/drawing/2014/main" id="{81FAE243-3071-C77B-AE8D-97965A9AC3E5}"/>
                        </a:ext>
                      </a:extLst>
                    </p:cNvPr>
                    <p:cNvCxnSpPr>
                      <a:cxnSpLocks/>
                      <a:stCxn id="32" idx="2"/>
                      <a:endCxn id="36" idx="3"/>
                    </p:cNvCxnSpPr>
                    <p:nvPr>
                      <p:custDataLst>
                        <p:tags r:id="rId20"/>
                      </p:custDataLst>
                    </p:nvPr>
                  </p:nvCxnSpPr>
                  <p:spPr>
                    <a:xfrm>
                      <a:off x="14691" y="4645"/>
                      <a:ext cx="217" cy="3048"/>
                    </a:xfrm>
                    <a:prstGeom prst="line">
                      <a:avLst/>
                    </a:prstGeom>
                    <a:ln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连接符 34">
                      <a:extLst>
                        <a:ext uri="{FF2B5EF4-FFF2-40B4-BE49-F238E27FC236}">
                          <a16:creationId xmlns:a16="http://schemas.microsoft.com/office/drawing/2014/main" id="{CCF38070-B8E3-5C64-3447-D08DAED767FD}"/>
                        </a:ext>
                      </a:extLst>
                    </p:cNvPr>
                    <p:cNvCxnSpPr/>
                    <p:nvPr>
                      <p:custDataLst>
                        <p:tags r:id="rId21"/>
                      </p:custDataLst>
                    </p:nvPr>
                  </p:nvCxnSpPr>
                  <p:spPr>
                    <a:xfrm flipH="1">
                      <a:off x="14703" y="2565"/>
                      <a:ext cx="0" cy="6124"/>
                    </a:xfrm>
                    <a:prstGeom prst="line">
                      <a:avLst/>
                    </a:prstGeom>
                    <a:ln w="12700" cmpd="sng">
                      <a:solidFill>
                        <a:srgbClr val="FF0000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矩形 35">
                      <a:extLst>
                        <a:ext uri="{FF2B5EF4-FFF2-40B4-BE49-F238E27FC236}">
                          <a16:creationId xmlns:a16="http://schemas.microsoft.com/office/drawing/2014/main" id="{21983E54-050D-B0B0-88CE-F619088C86E6}"/>
                        </a:ext>
                      </a:extLst>
                    </p:cNvPr>
                    <p:cNvSpPr/>
                    <p:nvPr>
                      <p:custDataLst>
                        <p:tags r:id="rId22"/>
                      </p:custDataLst>
                    </p:nvPr>
                  </p:nvSpPr>
                  <p:spPr>
                    <a:xfrm>
                      <a:off x="14448" y="7229"/>
                      <a:ext cx="460" cy="928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rgbClr val="FF0000"/>
                      </a:solidFill>
                      <a:prstDash val="dash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23" name="组合 22">
                    <a:extLst>
                      <a:ext uri="{FF2B5EF4-FFF2-40B4-BE49-F238E27FC236}">
                        <a16:creationId xmlns:a16="http://schemas.microsoft.com/office/drawing/2014/main" id="{2963652E-20B6-80D2-CA78-4CA599977AA5}"/>
                      </a:ext>
                    </a:extLst>
                  </p:cNvPr>
                  <p:cNvGrpSpPr/>
                  <p:nvPr/>
                </p:nvGrpSpPr>
                <p:grpSpPr>
                  <a:xfrm>
                    <a:off x="609" y="4812"/>
                    <a:ext cx="4047" cy="2524"/>
                    <a:chOff x="609" y="4812"/>
                    <a:chExt cx="4047" cy="2524"/>
                  </a:xfrm>
                </p:grpSpPr>
                <p:grpSp>
                  <p:nvGrpSpPr>
                    <p:cNvPr id="24" name="组合 23">
                      <a:extLst>
                        <a:ext uri="{FF2B5EF4-FFF2-40B4-BE49-F238E27FC236}">
                          <a16:creationId xmlns:a16="http://schemas.microsoft.com/office/drawing/2014/main" id="{D0FF51E9-8753-47E2-D629-AADA9DC79D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71" y="6162"/>
                      <a:ext cx="1618" cy="460"/>
                      <a:chOff x="12992" y="7245"/>
                      <a:chExt cx="2106" cy="770"/>
                    </a:xfrm>
                  </p:grpSpPr>
                  <p:sp>
                    <p:nvSpPr>
                      <p:cNvPr id="30" name="矩形 29">
                        <a:extLst>
                          <a:ext uri="{FF2B5EF4-FFF2-40B4-BE49-F238E27FC236}">
                            <a16:creationId xmlns:a16="http://schemas.microsoft.com/office/drawing/2014/main" id="{D8E399C0-7F82-4E10-F9CF-4E72DFE33465}"/>
                          </a:ext>
                        </a:extLst>
                      </p:cNvPr>
                      <p:cNvSpPr/>
                      <p:nvPr>
                        <p:custDataLst>
                          <p:tags r:id="rId16"/>
                        </p:custDataLst>
                      </p:nvPr>
                    </p:nvSpPr>
                    <p:spPr>
                      <a:xfrm rot="10800000">
                        <a:off x="12992" y="7245"/>
                        <a:ext cx="1945" cy="73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50000"/>
                        </a:schemeClr>
                      </a:solidFill>
                      <a:ln>
                        <a:solidFill>
                          <a:schemeClr val="bg2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  <p:sp>
                    <p:nvSpPr>
                      <p:cNvPr id="31" name="矩形 30">
                        <a:extLst>
                          <a:ext uri="{FF2B5EF4-FFF2-40B4-BE49-F238E27FC236}">
                            <a16:creationId xmlns:a16="http://schemas.microsoft.com/office/drawing/2014/main" id="{39435BEE-F5B4-A960-E315-C7C492D23FB6}"/>
                          </a:ext>
                        </a:extLst>
                      </p:cNvPr>
                      <p:cNvSpPr/>
                      <p:nvPr>
                        <p:custDataLst>
                          <p:tags r:id="rId17"/>
                        </p:custDataLst>
                      </p:nvPr>
                    </p:nvSpPr>
                    <p:spPr>
                      <a:xfrm flipV="1">
                        <a:off x="14880" y="7280"/>
                        <a:ext cx="218" cy="73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00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p:txBody>
                  </p:sp>
                </p:grpSp>
                <p:sp>
                  <p:nvSpPr>
                    <p:cNvPr id="25" name="矩形 8">
                      <a:extLst>
                        <a:ext uri="{FF2B5EF4-FFF2-40B4-BE49-F238E27FC236}">
                          <a16:creationId xmlns:a16="http://schemas.microsoft.com/office/drawing/2014/main" id="{E117D774-40CC-E0C9-E120-33709877100D}"/>
                        </a:ext>
                      </a:extLst>
                    </p:cNvPr>
                    <p:cNvSpPr/>
                    <p:nvPr>
                      <p:custDataLst>
                        <p:tags r:id="rId13"/>
                      </p:custDataLst>
                    </p:nvPr>
                  </p:nvSpPr>
                  <p:spPr bwMode="auto">
                    <a:xfrm>
                      <a:off x="1694" y="6354"/>
                      <a:ext cx="977" cy="806"/>
                    </a:xfrm>
                    <a:custGeom>
                      <a:avLst/>
                      <a:gdLst>
                        <a:gd name="connsiteX0" fmla="*/ 1395 w 1395"/>
                        <a:gd name="connsiteY0" fmla="*/ 0 h 3145"/>
                        <a:gd name="connsiteX1" fmla="*/ 707 w 1395"/>
                        <a:gd name="connsiteY1" fmla="*/ 3145 h 3145"/>
                        <a:gd name="connsiteX2" fmla="*/ 0 w 1395"/>
                        <a:gd name="connsiteY2" fmla="*/ 3145 h 3145"/>
                        <a:gd name="connsiteX0-1" fmla="*/ 9140 w 9140"/>
                        <a:gd name="connsiteY0-2" fmla="*/ 0 h 10000"/>
                        <a:gd name="connsiteX1-3" fmla="*/ 5068 w 9140"/>
                        <a:gd name="connsiteY1-4" fmla="*/ 10000 h 10000"/>
                        <a:gd name="connsiteX2-5" fmla="*/ 0 w 9140"/>
                        <a:gd name="connsiteY2-6" fmla="*/ 10000 h 10000"/>
                        <a:gd name="connsiteX0-7" fmla="*/ 10000 w 10000"/>
                        <a:gd name="connsiteY0-8" fmla="*/ 0 h 9322"/>
                        <a:gd name="connsiteX1-9" fmla="*/ 5545 w 10000"/>
                        <a:gd name="connsiteY1-10" fmla="*/ 9322 h 9322"/>
                        <a:gd name="connsiteX2-11" fmla="*/ 0 w 10000"/>
                        <a:gd name="connsiteY2-12" fmla="*/ 9322 h 9322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10000" h="9322">
                          <a:moveTo>
                            <a:pt x="10000" y="0"/>
                          </a:moveTo>
                          <a:lnTo>
                            <a:pt x="5545" y="9322"/>
                          </a:lnTo>
                          <a:lnTo>
                            <a:pt x="0" y="9322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28" name="矩形 76">
                      <a:extLst>
                        <a:ext uri="{FF2B5EF4-FFF2-40B4-BE49-F238E27FC236}">
                          <a16:creationId xmlns:a16="http://schemas.microsoft.com/office/drawing/2014/main" id="{9B2914AB-4B18-8BF8-5876-0320ABCCB962}"/>
                        </a:ext>
                      </a:extLst>
                    </p:cNvPr>
                    <p:cNvSpPr/>
                    <p:nvPr>
                      <p:custDataLst>
                        <p:tags r:id="rId14"/>
                      </p:custDataLst>
                    </p:nvPr>
                  </p:nvSpPr>
                  <p:spPr bwMode="auto">
                    <a:xfrm flipH="1">
                      <a:off x="609" y="6987"/>
                      <a:ext cx="1168" cy="34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收尾边</a:t>
                      </a:r>
                    </a:p>
                  </p:txBody>
                </p:sp>
                <p:pic>
                  <p:nvPicPr>
                    <p:cNvPr id="29" name="图片 28">
                      <a:extLst>
                        <a:ext uri="{FF2B5EF4-FFF2-40B4-BE49-F238E27FC236}">
                          <a16:creationId xmlns:a16="http://schemas.microsoft.com/office/drawing/2014/main" id="{B0EF7F29-DC2E-2A7D-5E9A-833D53E41EA7}"/>
                        </a:ext>
                      </a:extLst>
                    </p:cNvPr>
                    <p:cNvPicPr>
                      <a:picLocks noChangeAspect="1"/>
                    </p:cNvPicPr>
                    <p:nvPr>
                      <p:custDataLst>
                        <p:tags r:id="rId15"/>
                      </p:custDataLst>
                    </p:nvPr>
                  </p:nvPicPr>
                  <p:blipFill>
                    <a:blip r:embed="rId25" cstate="print"/>
                    <a:srcRect t="6745" b="7252"/>
                    <a:stretch>
                      <a:fillRect/>
                    </a:stretch>
                  </p:blipFill>
                  <p:spPr>
                    <a:xfrm rot="3600000">
                      <a:off x="4095" y="5067"/>
                      <a:ext cx="816" cy="306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C4E5D23D-9111-E86E-0A85-96943B7A6C41}"/>
                    </a:ext>
                  </a:extLst>
                </p:cNvPr>
                <p:cNvCxnSpPr/>
                <p:nvPr>
                  <p:custDataLst>
                    <p:tags r:id="rId4"/>
                  </p:custDataLst>
                </p:nvPr>
              </p:nvCxnSpPr>
              <p:spPr>
                <a:xfrm flipH="1">
                  <a:off x="14764" y="5117"/>
                  <a:ext cx="2653" cy="1916"/>
                </a:xfrm>
                <a:prstGeom prst="line">
                  <a:avLst/>
                </a:prstGeom>
                <a:ln w="12700" cmpd="sng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>
                  <a:extLst>
                    <a:ext uri="{FF2B5EF4-FFF2-40B4-BE49-F238E27FC236}">
                      <a16:creationId xmlns:a16="http://schemas.microsoft.com/office/drawing/2014/main" id="{C8DFB7EF-CABD-7706-4890-462C21C56906}"/>
                    </a:ext>
                  </a:extLst>
                </p:cNvPr>
                <p:cNvCxnSpPr/>
                <p:nvPr>
                  <p:custDataLst>
                    <p:tags r:id="rId5"/>
                  </p:custDataLst>
                </p:nvPr>
              </p:nvCxnSpPr>
              <p:spPr bwMode="auto">
                <a:xfrm flipH="1" flipV="1">
                  <a:off x="13909" y="6393"/>
                  <a:ext cx="3509" cy="0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>
                  <a:extLst>
                    <a:ext uri="{FF2B5EF4-FFF2-40B4-BE49-F238E27FC236}">
                      <a16:creationId xmlns:a16="http://schemas.microsoft.com/office/drawing/2014/main" id="{D6B06C3C-C5A3-93E0-B39B-22D619A01F8F}"/>
                    </a:ext>
                  </a:extLst>
                </p:cNvPr>
                <p:cNvCxnSpPr/>
                <p:nvPr>
                  <p:custDataLst>
                    <p:tags r:id="rId6"/>
                  </p:custDataLst>
                </p:nvPr>
              </p:nvCxnSpPr>
              <p:spPr bwMode="auto">
                <a:xfrm flipH="1" flipV="1">
                  <a:off x="13796" y="4020"/>
                  <a:ext cx="3509" cy="0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9E747EE4-7734-6DAB-0140-B8FB8CBE76B9}"/>
                    </a:ext>
                  </a:extLst>
                </p:cNvPr>
                <p:cNvCxnSpPr/>
                <p:nvPr>
                  <p:custDataLst>
                    <p:tags r:id="rId7"/>
                  </p:custDataLst>
                </p:nvPr>
              </p:nvCxnSpPr>
              <p:spPr bwMode="auto">
                <a:xfrm flipH="1">
                  <a:off x="15210" y="5444"/>
                  <a:ext cx="1544" cy="1106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headEnd type="stealth" w="med" len="med"/>
                  <a:tailEnd type="stealth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箭头连接符 15">
                  <a:extLst>
                    <a:ext uri="{FF2B5EF4-FFF2-40B4-BE49-F238E27FC236}">
                      <a16:creationId xmlns:a16="http://schemas.microsoft.com/office/drawing/2014/main" id="{B44BCE55-E748-9F14-A0F4-3D5F22014737}"/>
                    </a:ext>
                  </a:extLst>
                </p:cNvPr>
                <p:cNvCxnSpPr/>
                <p:nvPr>
                  <p:custDataLst>
                    <p:tags r:id="rId8"/>
                  </p:custDataLst>
                </p:nvPr>
              </p:nvCxnSpPr>
              <p:spPr bwMode="auto">
                <a:xfrm>
                  <a:off x="14363" y="4076"/>
                  <a:ext cx="0" cy="2231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headEnd type="stealth" w="med" len="med"/>
                  <a:tailEnd type="stealth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文本框 21">
                  <a:extLst>
                    <a:ext uri="{FF2B5EF4-FFF2-40B4-BE49-F238E27FC236}">
                      <a16:creationId xmlns:a16="http://schemas.microsoft.com/office/drawing/2014/main" id="{AABC2875-EFC2-700D-C77B-03E041C31ED6}"/>
                    </a:ext>
                  </a:extLst>
                </p:cNvPr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13349" y="4946"/>
                  <a:ext cx="1241" cy="7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lstStyle/>
                <a:p>
                  <a:pPr algn="ctr">
                    <a:buFontTx/>
                  </a:pPr>
                  <a:r>
                    <a:rPr lang="en-US" altLang="zh-CN" sz="10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316</a:t>
                  </a:r>
                  <a:r>
                    <a:rPr lang="zh-CN" altLang="en-US" sz="10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±</a:t>
                  </a:r>
                </a:p>
                <a:p>
                  <a:pPr algn="ctr">
                    <a:buFontTx/>
                  </a:pPr>
                  <a:r>
                    <a:rPr lang="en-US" altLang="zh-CN" sz="10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rPr>
                    <a:t>10mm</a:t>
                  </a:r>
                  <a:endParaRPr lang="zh-CN" altLang="en-US" sz="1000" dirty="0">
                    <a:latin typeface="Arial" panose="020B0604020202020204" pitchFamily="34" charset="0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sp>
              <p:nvSpPr>
                <p:cNvPr id="18" name="矩形 8">
                  <a:extLst>
                    <a:ext uri="{FF2B5EF4-FFF2-40B4-BE49-F238E27FC236}">
                      <a16:creationId xmlns:a16="http://schemas.microsoft.com/office/drawing/2014/main" id="{02DC30A6-9B8F-579A-1A9E-6F7E7EB1E782}"/>
                    </a:ext>
                  </a:extLst>
                </p:cNvPr>
                <p:cNvSpPr/>
                <p:nvPr/>
              </p:nvSpPr>
              <p:spPr>
                <a:xfrm flipH="1" flipV="1">
                  <a:off x="17212" y="5394"/>
                  <a:ext cx="662" cy="167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50964 w 650964"/>
                    <a:gd name="connsiteY0-86" fmla="*/ 0 h 208326"/>
                    <a:gd name="connsiteX1-87" fmla="*/ 419026 w 650964"/>
                    <a:gd name="connsiteY1-88" fmla="*/ 208325 h 208326"/>
                    <a:gd name="connsiteX2-89" fmla="*/ 0 w 650964"/>
                    <a:gd name="connsiteY2-90" fmla="*/ 208326 h 208326"/>
                    <a:gd name="connsiteX0-91" fmla="*/ 1004915 w 1004915"/>
                    <a:gd name="connsiteY0-92" fmla="*/ 0 h 515484"/>
                    <a:gd name="connsiteX1-93" fmla="*/ 419026 w 1004915"/>
                    <a:gd name="connsiteY1-94" fmla="*/ 515483 h 515484"/>
                    <a:gd name="connsiteX2-95" fmla="*/ 0 w 1004915"/>
                    <a:gd name="connsiteY2-96" fmla="*/ 515484 h 515484"/>
                    <a:gd name="connsiteX0-97" fmla="*/ 578863 w 578863"/>
                    <a:gd name="connsiteY0-98" fmla="*/ 0 h 445202"/>
                    <a:gd name="connsiteX1-99" fmla="*/ 419026 w 578863"/>
                    <a:gd name="connsiteY1-100" fmla="*/ 445201 h 445202"/>
                    <a:gd name="connsiteX2-101" fmla="*/ 0 w 578863"/>
                    <a:gd name="connsiteY2-102" fmla="*/ 445202 h 445202"/>
                    <a:gd name="connsiteX0-1-1" fmla="*/ 578863 w 578863"/>
                    <a:gd name="connsiteY0-2-2" fmla="*/ 0 h 157784"/>
                    <a:gd name="connsiteX1-3-3" fmla="*/ 419026 w 578863"/>
                    <a:gd name="connsiteY1-4-4" fmla="*/ 157783 h 157784"/>
                    <a:gd name="connsiteX2-5-5" fmla="*/ 0 w 578863"/>
                    <a:gd name="connsiteY2-6-6" fmla="*/ 157784 h 157784"/>
                  </a:gdLst>
                  <a:ahLst/>
                  <a:cxnLst>
                    <a:cxn ang="0">
                      <a:pos x="connsiteX0-1-1" y="connsiteY0-2-2"/>
                    </a:cxn>
                    <a:cxn ang="0">
                      <a:pos x="connsiteX1-3-3" y="connsiteY1-4-4"/>
                    </a:cxn>
                    <a:cxn ang="0">
                      <a:pos x="connsiteX2-5-5" y="connsiteY2-6-6"/>
                    </a:cxn>
                  </a:cxnLst>
                  <a:rect l="l" t="t" r="r" b="b"/>
                  <a:pathLst>
                    <a:path w="578863" h="157784">
                      <a:moveTo>
                        <a:pt x="578863" y="0"/>
                      </a:moveTo>
                      <a:lnTo>
                        <a:pt x="419026" y="157783"/>
                      </a:lnTo>
                      <a:lnTo>
                        <a:pt x="0" y="15778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9" name="矩形 76">
                  <a:extLst>
                    <a:ext uri="{FF2B5EF4-FFF2-40B4-BE49-F238E27FC236}">
                      <a16:creationId xmlns:a16="http://schemas.microsoft.com/office/drawing/2014/main" id="{6C4D7FEA-2973-5C93-4EF2-AB2BAE5F4EBF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 flipH="1">
                  <a:off x="17796" y="5255"/>
                  <a:ext cx="948" cy="26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光源</a:t>
                  </a:r>
                </a:p>
              </p:txBody>
            </p:sp>
            <p:sp>
              <p:nvSpPr>
                <p:cNvPr id="20" name="矩形 8">
                  <a:extLst>
                    <a:ext uri="{FF2B5EF4-FFF2-40B4-BE49-F238E27FC236}">
                      <a16:creationId xmlns:a16="http://schemas.microsoft.com/office/drawing/2014/main" id="{634D65E9-2D32-511D-0B5D-A2AAC9F90B00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 flipV="1">
                  <a:off x="14363" y="3134"/>
                  <a:ext cx="764" cy="364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1" name="矩形 76">
                  <a:extLst>
                    <a:ext uri="{FF2B5EF4-FFF2-40B4-BE49-F238E27FC236}">
                      <a16:creationId xmlns:a16="http://schemas.microsoft.com/office/drawing/2014/main" id="{6A050BA0-844F-3FE4-5144-99F366914C2D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 flipH="1">
                  <a:off x="13682" y="3018"/>
                  <a:ext cx="849" cy="29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</a:p>
              </p:txBody>
            </p:sp>
          </p:grpSp>
          <p:sp>
            <p:nvSpPr>
              <p:cNvPr id="9" name="文本框 23">
                <a:extLst>
                  <a:ext uri="{FF2B5EF4-FFF2-40B4-BE49-F238E27FC236}">
                    <a16:creationId xmlns:a16="http://schemas.microsoft.com/office/drawing/2014/main" id="{CDC7F6DF-06F7-48E2-043B-5FDAB1A1996A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620" y="4722"/>
                <a:ext cx="1142" cy="7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160±</a:t>
                </a:r>
              </a:p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10mm</a:t>
                </a:r>
              </a:p>
            </p:txBody>
          </p:sp>
        </p:grpSp>
        <p:sp>
          <p:nvSpPr>
            <p:cNvPr id="94" name="弧形 93">
              <a:extLst>
                <a:ext uri="{FF2B5EF4-FFF2-40B4-BE49-F238E27FC236}">
                  <a16:creationId xmlns:a16="http://schemas.microsoft.com/office/drawing/2014/main" id="{7476C335-C228-0A73-C773-4E4661FF74AC}"/>
                </a:ext>
              </a:extLst>
            </p:cNvPr>
            <p:cNvSpPr/>
            <p:nvPr/>
          </p:nvSpPr>
          <p:spPr>
            <a:xfrm>
              <a:off x="2571469" y="3644180"/>
              <a:ext cx="159385" cy="356870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文本框 23">
              <a:extLst>
                <a:ext uri="{FF2B5EF4-FFF2-40B4-BE49-F238E27FC236}">
                  <a16:creationId xmlns:a16="http://schemas.microsoft.com/office/drawing/2014/main" id="{6387A6C2-D2AF-CD3F-B0DD-0C319F31CE7E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2593694" y="3564170"/>
              <a:ext cx="516255" cy="245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ctr">
                <a:buFontTx/>
              </a:pPr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30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°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644336"/>
              </p:ext>
            </p:extLst>
          </p:nvPr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</a:t>
                      </a:r>
                      <a:r>
                        <a:rPr 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在压扁电芯后对电芯边距、中心距、宽度、极耳胶高、极耳倾斜角度等进行检测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视野要求：电芯宽度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30-120mm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，极耳高度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10-30mm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±0.05mm，单像素精度0.1/3=0.03mm/px</a:t>
                      </a: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23888" y="908050"/>
            <a:ext cx="198913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工位六 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下料搓电芯检测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B1E3A5-39D8-0D7F-115B-2DBF5CEEA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734" y="2158147"/>
            <a:ext cx="2474628" cy="5021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12491F7-847F-B3FA-E48C-76CF5347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316" y="2871563"/>
            <a:ext cx="2772809" cy="10614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表格 22529"/>
          <p:cNvGraphicFramePr/>
          <p:nvPr>
            <p:extLst>
              <p:ext uri="{D42A27DB-BD31-4B8C-83A1-F6EECF244321}">
                <p14:modId xmlns:p14="http://schemas.microsoft.com/office/powerpoint/2010/main" val="1976249741"/>
              </p:ext>
            </p:extLst>
          </p:nvPr>
        </p:nvGraphicFramePr>
        <p:xfrm>
          <a:off x="623888" y="1628775"/>
          <a:ext cx="10814050" cy="3455988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6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7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MV-CS200-10GM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帧率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5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5472*3648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2.4μm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200us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0.024mm/px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5FPS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MVL-KF3524M-25MP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356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131mm*87mm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5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/>
                        <a:t>CST-PHFS13050-W+</a:t>
                      </a:r>
                      <a:r>
                        <a:rPr lang="zh-CN" altLang="en-US" sz="1400" dirty="0"/>
                        <a:t>定制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背光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1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DA3841A3-5408-56CE-4204-3F5CFF3DD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工位六 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下料搓电芯检测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8846820" y="4393565"/>
            <a:ext cx="1050290" cy="701040"/>
            <a:chOff x="11022" y="7328"/>
            <a:chExt cx="1654" cy="1104"/>
          </a:xfrm>
        </p:grpSpPr>
        <p:sp>
          <p:nvSpPr>
            <p:cNvPr id="6" name="圆角矩形 5"/>
            <p:cNvSpPr/>
            <p:nvPr/>
          </p:nvSpPr>
          <p:spPr>
            <a:xfrm>
              <a:off x="11414" y="7328"/>
              <a:ext cx="227" cy="45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1981" y="7328"/>
              <a:ext cx="227" cy="45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11022" y="7594"/>
              <a:ext cx="1654" cy="83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2"/>
          <p:cNvSpPr txBox="1"/>
          <p:nvPr/>
        </p:nvSpPr>
        <p:spPr>
          <a:xfrm>
            <a:off x="255588" y="982663"/>
            <a:ext cx="1439863" cy="3746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554" name="文本框 49"/>
          <p:cNvSpPr txBox="1"/>
          <p:nvPr/>
        </p:nvSpPr>
        <p:spPr>
          <a:xfrm>
            <a:off x="876300" y="5260975"/>
            <a:ext cx="3381375" cy="736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buFontTx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0" hangingPunct="0">
              <a:buFontTx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、相机安装方向要如图所示；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577" name="组合 119"/>
          <p:cNvGrpSpPr/>
          <p:nvPr/>
        </p:nvGrpSpPr>
        <p:grpSpPr>
          <a:xfrm rot="10800000">
            <a:off x="577382" y="1836419"/>
            <a:ext cx="3326675" cy="3038475"/>
            <a:chOff x="256154" y="1704801"/>
            <a:chExt cx="3325932" cy="3038059"/>
          </a:xfrm>
        </p:grpSpPr>
        <p:pic>
          <p:nvPicPr>
            <p:cNvPr id="23578" name="图片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3050" y="1704801"/>
              <a:ext cx="328465" cy="8905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579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3926" y="4499168"/>
              <a:ext cx="1200322" cy="15556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" name="矩形 10"/>
            <p:cNvSpPr/>
            <p:nvPr/>
          </p:nvSpPr>
          <p:spPr>
            <a:xfrm>
              <a:off x="1414863" y="4365087"/>
              <a:ext cx="576180" cy="46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3581" name="组合 21"/>
            <p:cNvGrpSpPr/>
            <p:nvPr/>
          </p:nvGrpSpPr>
          <p:grpSpPr>
            <a:xfrm>
              <a:off x="533926" y="3876203"/>
              <a:ext cx="907920" cy="490472"/>
              <a:chOff x="533926" y="3876203"/>
              <a:chExt cx="907920" cy="490472"/>
            </a:xfrm>
          </p:grpSpPr>
          <p:sp>
            <p:nvSpPr>
              <p:cNvPr id="13" name="矩形 8"/>
              <p:cNvSpPr/>
              <p:nvPr/>
            </p:nvSpPr>
            <p:spPr bwMode="auto">
              <a:xfrm flipV="1">
                <a:off x="965664" y="4026996"/>
                <a:ext cx="476182" cy="339679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矩形 76"/>
              <p:cNvSpPr/>
              <p:nvPr/>
            </p:nvSpPr>
            <p:spPr bwMode="auto">
              <a:xfrm rot="10633076" flipH="1">
                <a:off x="533926" y="3876203"/>
                <a:ext cx="528562" cy="21587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产品</a:t>
                </a:r>
              </a:p>
            </p:txBody>
          </p:sp>
        </p:grpSp>
        <p:grpSp>
          <p:nvGrpSpPr>
            <p:cNvPr id="23584" name="组合 22"/>
            <p:cNvGrpSpPr/>
            <p:nvPr/>
          </p:nvGrpSpPr>
          <p:grpSpPr>
            <a:xfrm>
              <a:off x="256154" y="4526990"/>
              <a:ext cx="1093631" cy="215870"/>
              <a:chOff x="534657" y="3876612"/>
              <a:chExt cx="1093631" cy="215870"/>
            </a:xfrm>
          </p:grpSpPr>
          <p:sp>
            <p:nvSpPr>
              <p:cNvPr id="24" name="矩形 8"/>
              <p:cNvSpPr/>
              <p:nvPr/>
            </p:nvSpPr>
            <p:spPr bwMode="auto">
              <a:xfrm>
                <a:off x="966395" y="3911532"/>
                <a:ext cx="661893" cy="114284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矩形 76"/>
              <p:cNvSpPr/>
              <p:nvPr/>
            </p:nvSpPr>
            <p:spPr bwMode="auto">
              <a:xfrm rot="10800000" flipH="1">
                <a:off x="534657" y="3876612"/>
                <a:ext cx="528562" cy="21587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背光</a:t>
                </a:r>
              </a:p>
            </p:txBody>
          </p:sp>
        </p:grpSp>
        <p:cxnSp>
          <p:nvCxnSpPr>
            <p:cNvPr id="51" name="直接连接符 50"/>
            <p:cNvCxnSpPr>
              <a:stCxn id="23578" idx="2"/>
            </p:cNvCxnSpPr>
            <p:nvPr/>
          </p:nvCxnSpPr>
          <p:spPr>
            <a:xfrm>
              <a:off x="1706922" y="2595267"/>
              <a:ext cx="13650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stCxn id="11" idx="3"/>
            </p:cNvCxnSpPr>
            <p:nvPr/>
          </p:nvCxnSpPr>
          <p:spPr>
            <a:xfrm>
              <a:off x="1991043" y="4387309"/>
              <a:ext cx="9364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/>
          </p:nvCxnSpPr>
          <p:spPr>
            <a:xfrm flipH="1">
              <a:off x="2440242" y="2630187"/>
              <a:ext cx="0" cy="173489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90" name="文本框 13311"/>
            <p:cNvSpPr txBox="1"/>
            <p:nvPr/>
          </p:nvSpPr>
          <p:spPr>
            <a:xfrm rot="5400000">
              <a:off x="1939739" y="3337434"/>
              <a:ext cx="1183175" cy="3077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356±10mm</a:t>
              </a: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2118344" y="4499054"/>
              <a:ext cx="5038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 flipV="1">
              <a:off x="2567224" y="4444451"/>
              <a:ext cx="0" cy="1111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93" name="文本框 13311"/>
            <p:cNvSpPr txBox="1"/>
            <p:nvPr/>
          </p:nvSpPr>
          <p:spPr>
            <a:xfrm rot="10800000">
              <a:off x="2610562" y="4347084"/>
              <a:ext cx="971524" cy="3077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±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5mm</a:t>
              </a:r>
            </a:p>
          </p:txBody>
        </p:sp>
      </p:grpSp>
      <p:grpSp>
        <p:nvGrpSpPr>
          <p:cNvPr id="23594" name="组合 118"/>
          <p:cNvGrpSpPr/>
          <p:nvPr/>
        </p:nvGrpSpPr>
        <p:grpSpPr>
          <a:xfrm>
            <a:off x="4676775" y="2303145"/>
            <a:ext cx="2498725" cy="2286000"/>
            <a:chOff x="3303998" y="2010579"/>
            <a:chExt cx="2499381" cy="2284937"/>
          </a:xfrm>
        </p:grpSpPr>
        <p:sp>
          <p:nvSpPr>
            <p:cNvPr id="26" name="矩形 25"/>
            <p:cNvSpPr/>
            <p:nvPr/>
          </p:nvSpPr>
          <p:spPr>
            <a:xfrm>
              <a:off x="3894703" y="2629416"/>
              <a:ext cx="1697483" cy="8663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4161473" y="3032454"/>
              <a:ext cx="1182997" cy="866372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342496" y="2751597"/>
              <a:ext cx="160379" cy="282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926849" y="2751597"/>
              <a:ext cx="160379" cy="282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23599" name="图片 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07495" y="2920295"/>
              <a:ext cx="454370" cy="45092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3600" name="组合 84"/>
            <p:cNvGrpSpPr/>
            <p:nvPr/>
          </p:nvGrpSpPr>
          <p:grpSpPr>
            <a:xfrm>
              <a:off x="3303998" y="2042144"/>
              <a:ext cx="634441" cy="639598"/>
              <a:chOff x="534657" y="3876582"/>
              <a:chExt cx="634441" cy="639598"/>
            </a:xfrm>
          </p:grpSpPr>
          <p:sp>
            <p:nvSpPr>
              <p:cNvPr id="88" name="矩形 8"/>
              <p:cNvSpPr/>
              <p:nvPr/>
            </p:nvSpPr>
            <p:spPr bwMode="auto">
              <a:xfrm flipV="1">
                <a:off x="968158" y="3986239"/>
                <a:ext cx="201666" cy="529978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2" name="矩形 76"/>
              <p:cNvSpPr/>
              <p:nvPr/>
            </p:nvSpPr>
            <p:spPr bwMode="auto">
              <a:xfrm flipH="1">
                <a:off x="534657" y="3876752"/>
                <a:ext cx="528776" cy="215799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背光</a:t>
                </a:r>
              </a:p>
            </p:txBody>
          </p:sp>
        </p:grpSp>
        <p:grpSp>
          <p:nvGrpSpPr>
            <p:cNvPr id="23603" name="组合 112"/>
            <p:cNvGrpSpPr/>
            <p:nvPr/>
          </p:nvGrpSpPr>
          <p:grpSpPr>
            <a:xfrm>
              <a:off x="3344770" y="3798331"/>
              <a:ext cx="1007368" cy="497185"/>
              <a:chOff x="534657" y="3595297"/>
              <a:chExt cx="1007368" cy="497185"/>
            </a:xfrm>
          </p:grpSpPr>
          <p:sp>
            <p:nvSpPr>
              <p:cNvPr id="114" name="矩形 8"/>
              <p:cNvSpPr/>
              <p:nvPr/>
            </p:nvSpPr>
            <p:spPr bwMode="auto">
              <a:xfrm>
                <a:off x="967084" y="3595826"/>
                <a:ext cx="574826" cy="430012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矩形 76"/>
              <p:cNvSpPr/>
              <p:nvPr/>
            </p:nvSpPr>
            <p:spPr bwMode="auto">
              <a:xfrm flipH="1">
                <a:off x="535171" y="3876682"/>
                <a:ext cx="528776" cy="21580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产品</a:t>
                </a:r>
              </a:p>
            </p:txBody>
          </p:sp>
        </p:grpSp>
        <p:grpSp>
          <p:nvGrpSpPr>
            <p:cNvPr id="23606" name="组合 115"/>
            <p:cNvGrpSpPr/>
            <p:nvPr/>
          </p:nvGrpSpPr>
          <p:grpSpPr>
            <a:xfrm>
              <a:off x="4748430" y="2010579"/>
              <a:ext cx="1054949" cy="1201537"/>
              <a:chOff x="306025" y="3902826"/>
              <a:chExt cx="1054949" cy="1201537"/>
            </a:xfrm>
          </p:grpSpPr>
          <p:sp>
            <p:nvSpPr>
              <p:cNvPr id="117" name="矩形 8"/>
              <p:cNvSpPr/>
              <p:nvPr/>
            </p:nvSpPr>
            <p:spPr bwMode="auto">
              <a:xfrm flipH="1" flipV="1">
                <a:off x="306597" y="4026593"/>
                <a:ext cx="660573" cy="1077412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8" name="矩形 76"/>
              <p:cNvSpPr/>
              <p:nvPr/>
            </p:nvSpPr>
            <p:spPr bwMode="auto">
              <a:xfrm flipH="1">
                <a:off x="832197" y="3902826"/>
                <a:ext cx="528777" cy="21580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en-US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</a:p>
            </p:txBody>
          </p:sp>
        </p:grpSp>
      </p:grpSp>
      <p:sp>
        <p:nvSpPr>
          <p:cNvPr id="38" name="文本框 12"/>
          <p:cNvSpPr txBox="1"/>
          <p:nvPr/>
        </p:nvSpPr>
        <p:spPr>
          <a:xfrm>
            <a:off x="8253730" y="1068070"/>
            <a:ext cx="1741170" cy="3733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面阵视野示意图</a:t>
            </a:r>
          </a:p>
        </p:txBody>
      </p:sp>
      <p:sp>
        <p:nvSpPr>
          <p:cNvPr id="72" name="矩形 71"/>
          <p:cNvSpPr/>
          <p:nvPr/>
        </p:nvSpPr>
        <p:spPr>
          <a:xfrm>
            <a:off x="8750300" y="4303395"/>
            <a:ext cx="1243965" cy="37401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260" y="1970405"/>
            <a:ext cx="375285" cy="84899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4" name="直接连接符 73"/>
          <p:cNvCxnSpPr>
            <a:stCxn id="3" idx="2"/>
            <a:endCxn id="72" idx="1"/>
          </p:cNvCxnSpPr>
          <p:nvPr/>
        </p:nvCxnSpPr>
        <p:spPr>
          <a:xfrm flipH="1">
            <a:off x="8750300" y="2819400"/>
            <a:ext cx="629920" cy="167132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3" idx="2"/>
            <a:endCxn id="72" idx="3"/>
          </p:cNvCxnSpPr>
          <p:nvPr/>
        </p:nvCxnSpPr>
        <p:spPr>
          <a:xfrm>
            <a:off x="9380220" y="2819400"/>
            <a:ext cx="614045" cy="167132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9385300" y="1548765"/>
            <a:ext cx="0" cy="3741420"/>
          </a:xfrm>
          <a:prstGeom prst="line">
            <a:avLst/>
          </a:prstGeom>
          <a:ln w="12700" cmpd="sng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8"/>
          <p:cNvSpPr/>
          <p:nvPr/>
        </p:nvSpPr>
        <p:spPr bwMode="auto">
          <a:xfrm flipH="1" flipV="1">
            <a:off x="9799955" y="4070985"/>
            <a:ext cx="503555" cy="475615"/>
          </a:xfrm>
          <a:custGeom>
            <a:avLst/>
            <a:gdLst>
              <a:gd name="connsiteX0" fmla="*/ 1395 w 1395"/>
              <a:gd name="connsiteY0" fmla="*/ 0 h 3145"/>
              <a:gd name="connsiteX1" fmla="*/ 707 w 1395"/>
              <a:gd name="connsiteY1" fmla="*/ 3145 h 3145"/>
              <a:gd name="connsiteX2" fmla="*/ 0 w 1395"/>
              <a:gd name="connsiteY2" fmla="*/ 3145 h 3145"/>
              <a:gd name="connsiteX0-1" fmla="*/ 9140 w 9140"/>
              <a:gd name="connsiteY0-2" fmla="*/ 0 h 10000"/>
              <a:gd name="connsiteX1-3" fmla="*/ 5068 w 9140"/>
              <a:gd name="connsiteY1-4" fmla="*/ 10000 h 10000"/>
              <a:gd name="connsiteX2-5" fmla="*/ 0 w 9140"/>
              <a:gd name="connsiteY2-6" fmla="*/ 10000 h 10000"/>
              <a:gd name="connsiteX0-7" fmla="*/ 10000 w 10000"/>
              <a:gd name="connsiteY0-8" fmla="*/ 0 h 9322"/>
              <a:gd name="connsiteX1-9" fmla="*/ 5545 w 10000"/>
              <a:gd name="connsiteY1-10" fmla="*/ 9322 h 9322"/>
              <a:gd name="connsiteX2-11" fmla="*/ 0 w 10000"/>
              <a:gd name="connsiteY2-12" fmla="*/ 9322 h 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322">
                <a:moveTo>
                  <a:pt x="10000" y="0"/>
                </a:moveTo>
                <a:lnTo>
                  <a:pt x="5545" y="9322"/>
                </a:lnTo>
                <a:lnTo>
                  <a:pt x="0" y="9322"/>
                </a:ln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矩形 8"/>
          <p:cNvSpPr/>
          <p:nvPr/>
        </p:nvSpPr>
        <p:spPr bwMode="auto">
          <a:xfrm flipH="1">
            <a:off x="9696450" y="4743450"/>
            <a:ext cx="412750" cy="574040"/>
          </a:xfrm>
          <a:custGeom>
            <a:avLst/>
            <a:gdLst>
              <a:gd name="connsiteX0" fmla="*/ 1395 w 1395"/>
              <a:gd name="connsiteY0" fmla="*/ 0 h 3145"/>
              <a:gd name="connsiteX1" fmla="*/ 707 w 1395"/>
              <a:gd name="connsiteY1" fmla="*/ 3145 h 3145"/>
              <a:gd name="connsiteX2" fmla="*/ 0 w 1395"/>
              <a:gd name="connsiteY2" fmla="*/ 3145 h 3145"/>
              <a:gd name="connsiteX0-1" fmla="*/ 9140 w 9140"/>
              <a:gd name="connsiteY0-2" fmla="*/ 0 h 10000"/>
              <a:gd name="connsiteX1-3" fmla="*/ 5068 w 9140"/>
              <a:gd name="connsiteY1-4" fmla="*/ 10000 h 10000"/>
              <a:gd name="connsiteX2-5" fmla="*/ 0 w 9140"/>
              <a:gd name="connsiteY2-6" fmla="*/ 10000 h 10000"/>
              <a:gd name="connsiteX0-7" fmla="*/ 10000 w 10000"/>
              <a:gd name="connsiteY0-8" fmla="*/ 0 h 9322"/>
              <a:gd name="connsiteX1-9" fmla="*/ 5545 w 10000"/>
              <a:gd name="connsiteY1-10" fmla="*/ 9322 h 9322"/>
              <a:gd name="connsiteX2-11" fmla="*/ 0 w 10000"/>
              <a:gd name="connsiteY2-12" fmla="*/ 9322 h 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322">
                <a:moveTo>
                  <a:pt x="10000" y="0"/>
                </a:moveTo>
                <a:lnTo>
                  <a:pt x="5545" y="9322"/>
                </a:lnTo>
                <a:lnTo>
                  <a:pt x="0" y="9322"/>
                </a:ln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矩形 76"/>
          <p:cNvSpPr/>
          <p:nvPr/>
        </p:nvSpPr>
        <p:spPr bwMode="auto">
          <a:xfrm flipH="1">
            <a:off x="10056495" y="5157470"/>
            <a:ext cx="902970" cy="334645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相机视野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131*87mm</a:t>
            </a:r>
          </a:p>
        </p:txBody>
      </p:sp>
      <p:sp>
        <p:nvSpPr>
          <p:cNvPr id="8" name="矩形 76"/>
          <p:cNvSpPr/>
          <p:nvPr/>
        </p:nvSpPr>
        <p:spPr bwMode="auto">
          <a:xfrm flipH="1">
            <a:off x="10344150" y="3933190"/>
            <a:ext cx="621665" cy="254000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检测区域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58C81C3-22BD-D2AD-DA93-DCA295678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工位六 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下料搓电芯检测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ECA1-A99F-512E-746A-DDCD4ECA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AC6F51C-FBEE-1162-C3A3-44B71B52C37A}"/>
              </a:ext>
            </a:extLst>
          </p:cNvPr>
          <p:cNvGraphicFramePr>
            <a:graphicFrameLocks noGrp="1"/>
          </p:cNvGraphicFramePr>
          <p:nvPr/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</a:t>
                      </a:r>
                      <a:r>
                        <a:rPr 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在压扁电芯后对电芯边距、中心距、宽度、极耳胶高、极耳倾斜角度等进行检测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视野要求：电芯宽度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30-120mm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，极耳高度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10-30mm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±0.05mm，单像素精度0.1/3=0.03mm/px</a:t>
                      </a: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EEB0316-CF94-666B-DC49-29F977B081BE}"/>
              </a:ext>
            </a:extLst>
          </p:cNvPr>
          <p:cNvSpPr txBox="1"/>
          <p:nvPr/>
        </p:nvSpPr>
        <p:spPr>
          <a:xfrm>
            <a:off x="623888" y="908050"/>
            <a:ext cx="198913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D4FB0B1-4742-009D-36D7-E6C50E54F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工位七 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下料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尺寸检测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D5AE8C-27F1-6F52-37DF-7EA548B14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734" y="2158147"/>
            <a:ext cx="2474628" cy="5021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3FC9120-A6FE-021C-9214-97D33C959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316" y="2871563"/>
            <a:ext cx="2772809" cy="106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01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B8B10-568C-622B-A486-55A327BA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表格 22529">
            <a:extLst>
              <a:ext uri="{FF2B5EF4-FFF2-40B4-BE49-F238E27FC236}">
                <a16:creationId xmlns:a16="http://schemas.microsoft.com/office/drawing/2014/main" id="{F0E24505-D3BB-5AA0-8E41-91E934C70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3730480"/>
              </p:ext>
            </p:extLst>
          </p:nvPr>
        </p:nvGraphicFramePr>
        <p:xfrm>
          <a:off x="623888" y="1628775"/>
          <a:ext cx="10814050" cy="3455988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6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7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MV-CS200-10GM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帧率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5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5472*3648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2.4μm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200us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0.024mm/px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5FPS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MVL-KF3524M-25MP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356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131mm*87mm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5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/>
                        <a:t>CST-PHFS13050-W+</a:t>
                      </a:r>
                      <a:r>
                        <a:rPr lang="zh-CN" altLang="en-US" sz="1400" dirty="0"/>
                        <a:t>定制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背光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1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8797DBB-3875-0D55-608A-BBAABB2547BA}"/>
              </a:ext>
            </a:extLst>
          </p:cNvPr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44A0D94-34C1-0A77-A805-6769D12D6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工位七 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下料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尺寸检测</a:t>
            </a:r>
          </a:p>
        </p:txBody>
      </p:sp>
    </p:spTree>
    <p:extLst>
      <p:ext uri="{BB962C8B-B14F-4D97-AF65-F5344CB8AC3E}">
        <p14:creationId xmlns:p14="http://schemas.microsoft.com/office/powerpoint/2010/main" val="2840801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DA1B-0FD3-71B2-8FBF-9F3EBA83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C92CFC2-A01A-645A-3AC3-AC21D8ED7EA5}"/>
              </a:ext>
            </a:extLst>
          </p:cNvPr>
          <p:cNvGrpSpPr/>
          <p:nvPr/>
        </p:nvGrpSpPr>
        <p:grpSpPr>
          <a:xfrm>
            <a:off x="8846820" y="4393565"/>
            <a:ext cx="1050290" cy="701040"/>
            <a:chOff x="11022" y="7328"/>
            <a:chExt cx="1654" cy="1104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6DE10087-EF69-BB62-7414-4EE752651325}"/>
                </a:ext>
              </a:extLst>
            </p:cNvPr>
            <p:cNvSpPr/>
            <p:nvPr/>
          </p:nvSpPr>
          <p:spPr>
            <a:xfrm>
              <a:off x="11414" y="7328"/>
              <a:ext cx="227" cy="45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0001980A-F50D-6D85-3B3F-C95797E21F5E}"/>
                </a:ext>
              </a:extLst>
            </p:cNvPr>
            <p:cNvSpPr/>
            <p:nvPr/>
          </p:nvSpPr>
          <p:spPr>
            <a:xfrm>
              <a:off x="11981" y="7328"/>
              <a:ext cx="227" cy="45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EB9ED1B1-F7E1-99E6-2746-4BDBDD3C87FA}"/>
                </a:ext>
              </a:extLst>
            </p:cNvPr>
            <p:cNvSpPr/>
            <p:nvPr/>
          </p:nvSpPr>
          <p:spPr>
            <a:xfrm>
              <a:off x="11022" y="7594"/>
              <a:ext cx="1654" cy="83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2">
            <a:extLst>
              <a:ext uri="{FF2B5EF4-FFF2-40B4-BE49-F238E27FC236}">
                <a16:creationId xmlns:a16="http://schemas.microsoft.com/office/drawing/2014/main" id="{A76768DF-CE0E-5A35-B755-3546AB147E1C}"/>
              </a:ext>
            </a:extLst>
          </p:cNvPr>
          <p:cNvSpPr txBox="1"/>
          <p:nvPr/>
        </p:nvSpPr>
        <p:spPr>
          <a:xfrm>
            <a:off x="255588" y="982663"/>
            <a:ext cx="1439863" cy="3746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554" name="文本框 49">
            <a:extLst>
              <a:ext uri="{FF2B5EF4-FFF2-40B4-BE49-F238E27FC236}">
                <a16:creationId xmlns:a16="http://schemas.microsoft.com/office/drawing/2014/main" id="{8F455B1B-842F-308D-96DE-7B9A3EBE2C66}"/>
              </a:ext>
            </a:extLst>
          </p:cNvPr>
          <p:cNvSpPr txBox="1"/>
          <p:nvPr/>
        </p:nvSpPr>
        <p:spPr>
          <a:xfrm>
            <a:off x="876300" y="5260975"/>
            <a:ext cx="3381375" cy="736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buFontTx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0" hangingPunct="0">
              <a:buFontTx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、相机安装方向要如图所示；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577" name="组合 119">
            <a:extLst>
              <a:ext uri="{FF2B5EF4-FFF2-40B4-BE49-F238E27FC236}">
                <a16:creationId xmlns:a16="http://schemas.microsoft.com/office/drawing/2014/main" id="{52C12E3D-1D1D-88A2-BFCF-889E4E551CB8}"/>
              </a:ext>
            </a:extLst>
          </p:cNvPr>
          <p:cNvGrpSpPr/>
          <p:nvPr/>
        </p:nvGrpSpPr>
        <p:grpSpPr>
          <a:xfrm rot="10800000">
            <a:off x="577382" y="1836419"/>
            <a:ext cx="3326675" cy="3038475"/>
            <a:chOff x="256154" y="1704801"/>
            <a:chExt cx="3325932" cy="3038059"/>
          </a:xfrm>
        </p:grpSpPr>
        <p:pic>
          <p:nvPicPr>
            <p:cNvPr id="23578" name="图片 22">
              <a:extLst>
                <a:ext uri="{FF2B5EF4-FFF2-40B4-BE49-F238E27FC236}">
                  <a16:creationId xmlns:a16="http://schemas.microsoft.com/office/drawing/2014/main" id="{9387B2AE-3763-920B-8D01-76EB49310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3050" y="1704801"/>
              <a:ext cx="328465" cy="89058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579" name="图片 6">
              <a:extLst>
                <a:ext uri="{FF2B5EF4-FFF2-40B4-BE49-F238E27FC236}">
                  <a16:creationId xmlns:a16="http://schemas.microsoft.com/office/drawing/2014/main" id="{ECD2FDE2-C19C-8AD7-289C-57545E1CC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3926" y="4499168"/>
              <a:ext cx="1200322" cy="15556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3356A9C-E078-A324-8EF2-B47337DD34ED}"/>
                </a:ext>
              </a:extLst>
            </p:cNvPr>
            <p:cNvSpPr/>
            <p:nvPr/>
          </p:nvSpPr>
          <p:spPr>
            <a:xfrm>
              <a:off x="1414863" y="4365087"/>
              <a:ext cx="576180" cy="46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3581" name="组合 21">
              <a:extLst>
                <a:ext uri="{FF2B5EF4-FFF2-40B4-BE49-F238E27FC236}">
                  <a16:creationId xmlns:a16="http://schemas.microsoft.com/office/drawing/2014/main" id="{B3696ABA-1E06-2313-0FC2-2B76F8C87597}"/>
                </a:ext>
              </a:extLst>
            </p:cNvPr>
            <p:cNvGrpSpPr/>
            <p:nvPr/>
          </p:nvGrpSpPr>
          <p:grpSpPr>
            <a:xfrm>
              <a:off x="533926" y="3876203"/>
              <a:ext cx="907920" cy="490472"/>
              <a:chOff x="533926" y="3876203"/>
              <a:chExt cx="907920" cy="490472"/>
            </a:xfrm>
          </p:grpSpPr>
          <p:sp>
            <p:nvSpPr>
              <p:cNvPr id="13" name="矩形 8">
                <a:extLst>
                  <a:ext uri="{FF2B5EF4-FFF2-40B4-BE49-F238E27FC236}">
                    <a16:creationId xmlns:a16="http://schemas.microsoft.com/office/drawing/2014/main" id="{FA67891D-E081-0A82-48F9-A847C00CAE92}"/>
                  </a:ext>
                </a:extLst>
              </p:cNvPr>
              <p:cNvSpPr/>
              <p:nvPr/>
            </p:nvSpPr>
            <p:spPr bwMode="auto">
              <a:xfrm flipV="1">
                <a:off x="965664" y="4026996"/>
                <a:ext cx="476182" cy="339679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矩形 76">
                <a:extLst>
                  <a:ext uri="{FF2B5EF4-FFF2-40B4-BE49-F238E27FC236}">
                    <a16:creationId xmlns:a16="http://schemas.microsoft.com/office/drawing/2014/main" id="{313A4A6A-CA91-657A-87A6-F2E192593A0D}"/>
                  </a:ext>
                </a:extLst>
              </p:cNvPr>
              <p:cNvSpPr/>
              <p:nvPr/>
            </p:nvSpPr>
            <p:spPr bwMode="auto">
              <a:xfrm rot="10633076" flipH="1">
                <a:off x="533926" y="3876203"/>
                <a:ext cx="528562" cy="21587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产品</a:t>
                </a:r>
              </a:p>
            </p:txBody>
          </p:sp>
        </p:grpSp>
        <p:grpSp>
          <p:nvGrpSpPr>
            <p:cNvPr id="23584" name="组合 22">
              <a:extLst>
                <a:ext uri="{FF2B5EF4-FFF2-40B4-BE49-F238E27FC236}">
                  <a16:creationId xmlns:a16="http://schemas.microsoft.com/office/drawing/2014/main" id="{51BC3F07-3C4F-1212-50FA-3BBA546145BC}"/>
                </a:ext>
              </a:extLst>
            </p:cNvPr>
            <p:cNvGrpSpPr/>
            <p:nvPr/>
          </p:nvGrpSpPr>
          <p:grpSpPr>
            <a:xfrm>
              <a:off x="256154" y="4526990"/>
              <a:ext cx="1093631" cy="215870"/>
              <a:chOff x="534657" y="3876612"/>
              <a:chExt cx="1093631" cy="215870"/>
            </a:xfrm>
          </p:grpSpPr>
          <p:sp>
            <p:nvSpPr>
              <p:cNvPr id="24" name="矩形 8">
                <a:extLst>
                  <a:ext uri="{FF2B5EF4-FFF2-40B4-BE49-F238E27FC236}">
                    <a16:creationId xmlns:a16="http://schemas.microsoft.com/office/drawing/2014/main" id="{767F6145-7C68-5CA7-F843-9DD7C0E3CCD4}"/>
                  </a:ext>
                </a:extLst>
              </p:cNvPr>
              <p:cNvSpPr/>
              <p:nvPr/>
            </p:nvSpPr>
            <p:spPr bwMode="auto">
              <a:xfrm>
                <a:off x="966395" y="3911532"/>
                <a:ext cx="661893" cy="114284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矩形 76">
                <a:extLst>
                  <a:ext uri="{FF2B5EF4-FFF2-40B4-BE49-F238E27FC236}">
                    <a16:creationId xmlns:a16="http://schemas.microsoft.com/office/drawing/2014/main" id="{29503C9B-47CE-540D-C4D4-F6C8FF6C4AE9}"/>
                  </a:ext>
                </a:extLst>
              </p:cNvPr>
              <p:cNvSpPr/>
              <p:nvPr/>
            </p:nvSpPr>
            <p:spPr bwMode="auto">
              <a:xfrm rot="10800000" flipH="1">
                <a:off x="534657" y="3876612"/>
                <a:ext cx="528562" cy="21587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背光</a:t>
                </a:r>
              </a:p>
            </p:txBody>
          </p: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035328DA-35C2-2B03-AE74-FFC916412129}"/>
                </a:ext>
              </a:extLst>
            </p:cNvPr>
            <p:cNvCxnSpPr>
              <a:stCxn id="23578" idx="2"/>
            </p:cNvCxnSpPr>
            <p:nvPr/>
          </p:nvCxnSpPr>
          <p:spPr>
            <a:xfrm>
              <a:off x="1706922" y="2595267"/>
              <a:ext cx="136505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4F7CA03-E96E-2CE7-EC71-64C54A2F1A2B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1991043" y="4387309"/>
              <a:ext cx="9364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649E8502-B767-B8E3-4929-74C3AFA273E9}"/>
                </a:ext>
              </a:extLst>
            </p:cNvPr>
            <p:cNvCxnSpPr/>
            <p:nvPr/>
          </p:nvCxnSpPr>
          <p:spPr>
            <a:xfrm flipH="1">
              <a:off x="2440242" y="2630187"/>
              <a:ext cx="0" cy="173489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90" name="文本框 13311">
              <a:extLst>
                <a:ext uri="{FF2B5EF4-FFF2-40B4-BE49-F238E27FC236}">
                  <a16:creationId xmlns:a16="http://schemas.microsoft.com/office/drawing/2014/main" id="{5C8D367E-8040-3799-8270-F088A0CBAD01}"/>
                </a:ext>
              </a:extLst>
            </p:cNvPr>
            <p:cNvSpPr txBox="1"/>
            <p:nvPr/>
          </p:nvSpPr>
          <p:spPr>
            <a:xfrm rot="5400000">
              <a:off x="1939739" y="3337434"/>
              <a:ext cx="1183175" cy="3077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356±10mm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84A81544-8AD9-8D06-BB58-C4E745324EEA}"/>
                </a:ext>
              </a:extLst>
            </p:cNvPr>
            <p:cNvCxnSpPr/>
            <p:nvPr/>
          </p:nvCxnSpPr>
          <p:spPr>
            <a:xfrm>
              <a:off x="2118344" y="4499054"/>
              <a:ext cx="5038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63F96946-5B9F-9F6D-D8CD-4F979B770C24}"/>
                </a:ext>
              </a:extLst>
            </p:cNvPr>
            <p:cNvCxnSpPr/>
            <p:nvPr/>
          </p:nvCxnSpPr>
          <p:spPr>
            <a:xfrm flipV="1">
              <a:off x="2567224" y="4444451"/>
              <a:ext cx="0" cy="1111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93" name="文本框 13311">
              <a:extLst>
                <a:ext uri="{FF2B5EF4-FFF2-40B4-BE49-F238E27FC236}">
                  <a16:creationId xmlns:a16="http://schemas.microsoft.com/office/drawing/2014/main" id="{DE1851EE-5F4A-ABEA-14EF-494AAE01FF72}"/>
                </a:ext>
              </a:extLst>
            </p:cNvPr>
            <p:cNvSpPr txBox="1"/>
            <p:nvPr/>
          </p:nvSpPr>
          <p:spPr>
            <a:xfrm rot="10800000">
              <a:off x="2610562" y="4347084"/>
              <a:ext cx="971524" cy="3077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25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±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5mm</a:t>
              </a:r>
            </a:p>
          </p:txBody>
        </p:sp>
      </p:grpSp>
      <p:grpSp>
        <p:nvGrpSpPr>
          <p:cNvPr id="23594" name="组合 118">
            <a:extLst>
              <a:ext uri="{FF2B5EF4-FFF2-40B4-BE49-F238E27FC236}">
                <a16:creationId xmlns:a16="http://schemas.microsoft.com/office/drawing/2014/main" id="{3B1ED301-0201-3104-AB4F-2595D225A550}"/>
              </a:ext>
            </a:extLst>
          </p:cNvPr>
          <p:cNvGrpSpPr/>
          <p:nvPr/>
        </p:nvGrpSpPr>
        <p:grpSpPr>
          <a:xfrm>
            <a:off x="4676775" y="2303145"/>
            <a:ext cx="2498725" cy="2286000"/>
            <a:chOff x="3303998" y="2010579"/>
            <a:chExt cx="2499381" cy="228493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86286B5-96F8-4687-06BD-9E9BC2E2A06B}"/>
                </a:ext>
              </a:extLst>
            </p:cNvPr>
            <p:cNvSpPr/>
            <p:nvPr/>
          </p:nvSpPr>
          <p:spPr>
            <a:xfrm>
              <a:off x="3894703" y="2629416"/>
              <a:ext cx="1697483" cy="8663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F09C5CA-BFF8-E669-088B-3AFB92904CFE}"/>
                </a:ext>
              </a:extLst>
            </p:cNvPr>
            <p:cNvSpPr/>
            <p:nvPr/>
          </p:nvSpPr>
          <p:spPr>
            <a:xfrm>
              <a:off x="4161473" y="3032454"/>
              <a:ext cx="1182997" cy="866372"/>
            </a:xfrm>
            <a:prstGeom prst="rec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AB8D118-EF37-7B1E-CE36-142EFFE20344}"/>
                </a:ext>
              </a:extLst>
            </p:cNvPr>
            <p:cNvSpPr/>
            <p:nvPr/>
          </p:nvSpPr>
          <p:spPr>
            <a:xfrm>
              <a:off x="4342496" y="2751597"/>
              <a:ext cx="160379" cy="282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CE6D57D-7173-8A6B-D593-E581E1AA61C1}"/>
                </a:ext>
              </a:extLst>
            </p:cNvPr>
            <p:cNvSpPr/>
            <p:nvPr/>
          </p:nvSpPr>
          <p:spPr>
            <a:xfrm>
              <a:off x="4926849" y="2751597"/>
              <a:ext cx="160379" cy="2824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23599" name="图片 74">
              <a:extLst>
                <a:ext uri="{FF2B5EF4-FFF2-40B4-BE49-F238E27FC236}">
                  <a16:creationId xmlns:a16="http://schemas.microsoft.com/office/drawing/2014/main" id="{5E3868BD-A084-2769-B01B-59CF7176D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07495" y="2920295"/>
              <a:ext cx="454370" cy="45092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3600" name="组合 84">
              <a:extLst>
                <a:ext uri="{FF2B5EF4-FFF2-40B4-BE49-F238E27FC236}">
                  <a16:creationId xmlns:a16="http://schemas.microsoft.com/office/drawing/2014/main" id="{1A41C19D-8CF8-159E-08E9-66263A8BF72A}"/>
                </a:ext>
              </a:extLst>
            </p:cNvPr>
            <p:cNvGrpSpPr/>
            <p:nvPr/>
          </p:nvGrpSpPr>
          <p:grpSpPr>
            <a:xfrm>
              <a:off x="3303998" y="2042144"/>
              <a:ext cx="634441" cy="639598"/>
              <a:chOff x="534657" y="3876582"/>
              <a:chExt cx="634441" cy="639598"/>
            </a:xfrm>
          </p:grpSpPr>
          <p:sp>
            <p:nvSpPr>
              <p:cNvPr id="88" name="矩形 8">
                <a:extLst>
                  <a:ext uri="{FF2B5EF4-FFF2-40B4-BE49-F238E27FC236}">
                    <a16:creationId xmlns:a16="http://schemas.microsoft.com/office/drawing/2014/main" id="{01819858-2F2F-4688-BD11-10C04E977405}"/>
                  </a:ext>
                </a:extLst>
              </p:cNvPr>
              <p:cNvSpPr/>
              <p:nvPr/>
            </p:nvSpPr>
            <p:spPr bwMode="auto">
              <a:xfrm flipV="1">
                <a:off x="968158" y="3986239"/>
                <a:ext cx="201666" cy="529978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2" name="矩形 76">
                <a:extLst>
                  <a:ext uri="{FF2B5EF4-FFF2-40B4-BE49-F238E27FC236}">
                    <a16:creationId xmlns:a16="http://schemas.microsoft.com/office/drawing/2014/main" id="{BCE62385-7D22-0714-C6A2-10032DBE162F}"/>
                  </a:ext>
                </a:extLst>
              </p:cNvPr>
              <p:cNvSpPr/>
              <p:nvPr/>
            </p:nvSpPr>
            <p:spPr bwMode="auto">
              <a:xfrm flipH="1">
                <a:off x="534657" y="3876752"/>
                <a:ext cx="528776" cy="215799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背光</a:t>
                </a:r>
              </a:p>
            </p:txBody>
          </p:sp>
        </p:grpSp>
        <p:grpSp>
          <p:nvGrpSpPr>
            <p:cNvPr id="23603" name="组合 112">
              <a:extLst>
                <a:ext uri="{FF2B5EF4-FFF2-40B4-BE49-F238E27FC236}">
                  <a16:creationId xmlns:a16="http://schemas.microsoft.com/office/drawing/2014/main" id="{2AC69BDC-E4A4-5465-D939-B26FEB484C50}"/>
                </a:ext>
              </a:extLst>
            </p:cNvPr>
            <p:cNvGrpSpPr/>
            <p:nvPr/>
          </p:nvGrpSpPr>
          <p:grpSpPr>
            <a:xfrm>
              <a:off x="3344770" y="3798331"/>
              <a:ext cx="1007368" cy="497185"/>
              <a:chOff x="534657" y="3595297"/>
              <a:chExt cx="1007368" cy="497185"/>
            </a:xfrm>
          </p:grpSpPr>
          <p:sp>
            <p:nvSpPr>
              <p:cNvPr id="114" name="矩形 8">
                <a:extLst>
                  <a:ext uri="{FF2B5EF4-FFF2-40B4-BE49-F238E27FC236}">
                    <a16:creationId xmlns:a16="http://schemas.microsoft.com/office/drawing/2014/main" id="{77CE6749-D000-D669-0F8E-82BE80CB5734}"/>
                  </a:ext>
                </a:extLst>
              </p:cNvPr>
              <p:cNvSpPr/>
              <p:nvPr/>
            </p:nvSpPr>
            <p:spPr bwMode="auto">
              <a:xfrm>
                <a:off x="967084" y="3595826"/>
                <a:ext cx="574826" cy="430012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矩形 76">
                <a:extLst>
                  <a:ext uri="{FF2B5EF4-FFF2-40B4-BE49-F238E27FC236}">
                    <a16:creationId xmlns:a16="http://schemas.microsoft.com/office/drawing/2014/main" id="{A858F32A-6674-6DBA-BD46-E8747E45BE24}"/>
                  </a:ext>
                </a:extLst>
              </p:cNvPr>
              <p:cNvSpPr/>
              <p:nvPr/>
            </p:nvSpPr>
            <p:spPr bwMode="auto">
              <a:xfrm flipH="1">
                <a:off x="535171" y="3876682"/>
                <a:ext cx="528776" cy="21580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产品</a:t>
                </a:r>
              </a:p>
            </p:txBody>
          </p:sp>
        </p:grpSp>
        <p:grpSp>
          <p:nvGrpSpPr>
            <p:cNvPr id="23606" name="组合 115">
              <a:extLst>
                <a:ext uri="{FF2B5EF4-FFF2-40B4-BE49-F238E27FC236}">
                  <a16:creationId xmlns:a16="http://schemas.microsoft.com/office/drawing/2014/main" id="{3F32B83D-0A64-5ACE-ECEC-A2DEE2622AD3}"/>
                </a:ext>
              </a:extLst>
            </p:cNvPr>
            <p:cNvGrpSpPr/>
            <p:nvPr/>
          </p:nvGrpSpPr>
          <p:grpSpPr>
            <a:xfrm>
              <a:off x="4748430" y="2010579"/>
              <a:ext cx="1054949" cy="1201537"/>
              <a:chOff x="306025" y="3902826"/>
              <a:chExt cx="1054949" cy="1201537"/>
            </a:xfrm>
          </p:grpSpPr>
          <p:sp>
            <p:nvSpPr>
              <p:cNvPr id="117" name="矩形 8">
                <a:extLst>
                  <a:ext uri="{FF2B5EF4-FFF2-40B4-BE49-F238E27FC236}">
                    <a16:creationId xmlns:a16="http://schemas.microsoft.com/office/drawing/2014/main" id="{39BCAA42-9970-F412-0506-7EB1C0D5C244}"/>
                  </a:ext>
                </a:extLst>
              </p:cNvPr>
              <p:cNvSpPr/>
              <p:nvPr/>
            </p:nvSpPr>
            <p:spPr bwMode="auto">
              <a:xfrm flipH="1" flipV="1">
                <a:off x="306597" y="4026593"/>
                <a:ext cx="660573" cy="1077412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8" name="矩形 76">
                <a:extLst>
                  <a:ext uri="{FF2B5EF4-FFF2-40B4-BE49-F238E27FC236}">
                    <a16:creationId xmlns:a16="http://schemas.microsoft.com/office/drawing/2014/main" id="{7A622AEC-813D-AF1D-1F99-4D2758831472}"/>
                  </a:ext>
                </a:extLst>
              </p:cNvPr>
              <p:cNvSpPr/>
              <p:nvPr/>
            </p:nvSpPr>
            <p:spPr bwMode="auto">
              <a:xfrm flipH="1">
                <a:off x="832197" y="3902826"/>
                <a:ext cx="528777" cy="21580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>
                <a:defPPr>
                  <a:defRPr lang="en-US"/>
                </a:defPPr>
                <a:lvl1pPr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</a:p>
            </p:txBody>
          </p:sp>
        </p:grpSp>
      </p:grpSp>
      <p:sp>
        <p:nvSpPr>
          <p:cNvPr id="38" name="文本框 12">
            <a:extLst>
              <a:ext uri="{FF2B5EF4-FFF2-40B4-BE49-F238E27FC236}">
                <a16:creationId xmlns:a16="http://schemas.microsoft.com/office/drawing/2014/main" id="{EFCB230F-238A-36AD-1EF2-3B96A6597278}"/>
              </a:ext>
            </a:extLst>
          </p:cNvPr>
          <p:cNvSpPr txBox="1"/>
          <p:nvPr/>
        </p:nvSpPr>
        <p:spPr>
          <a:xfrm>
            <a:off x="8253730" y="1068070"/>
            <a:ext cx="1741170" cy="3733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面阵视野示意图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CA1C2B2-C529-DE1A-9B25-D08F0ED5223E}"/>
              </a:ext>
            </a:extLst>
          </p:cNvPr>
          <p:cNvSpPr/>
          <p:nvPr/>
        </p:nvSpPr>
        <p:spPr>
          <a:xfrm>
            <a:off x="8750300" y="4303395"/>
            <a:ext cx="1243965" cy="37401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2">
            <a:extLst>
              <a:ext uri="{FF2B5EF4-FFF2-40B4-BE49-F238E27FC236}">
                <a16:creationId xmlns:a16="http://schemas.microsoft.com/office/drawing/2014/main" id="{C433BC18-8F31-6991-5DDB-5314371D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260" y="1970405"/>
            <a:ext cx="375285" cy="84899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5CD5F920-A54B-8624-BF2A-98369DDB61FA}"/>
              </a:ext>
            </a:extLst>
          </p:cNvPr>
          <p:cNvCxnSpPr>
            <a:stCxn id="3" idx="2"/>
            <a:endCxn id="72" idx="1"/>
          </p:cNvCxnSpPr>
          <p:nvPr/>
        </p:nvCxnSpPr>
        <p:spPr>
          <a:xfrm flipH="1">
            <a:off x="8750300" y="2819400"/>
            <a:ext cx="629920" cy="167132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6FFDF06-9B32-736C-28B3-E69A5FE5D9A4}"/>
              </a:ext>
            </a:extLst>
          </p:cNvPr>
          <p:cNvCxnSpPr>
            <a:stCxn id="3" idx="2"/>
            <a:endCxn id="72" idx="3"/>
          </p:cNvCxnSpPr>
          <p:nvPr/>
        </p:nvCxnSpPr>
        <p:spPr>
          <a:xfrm>
            <a:off x="9380220" y="2819400"/>
            <a:ext cx="614045" cy="167132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FA25358C-E50B-9B1E-378F-443CBA6E9273}"/>
              </a:ext>
            </a:extLst>
          </p:cNvPr>
          <p:cNvCxnSpPr/>
          <p:nvPr/>
        </p:nvCxnSpPr>
        <p:spPr>
          <a:xfrm flipH="1">
            <a:off x="9385300" y="1548765"/>
            <a:ext cx="0" cy="3741420"/>
          </a:xfrm>
          <a:prstGeom prst="line">
            <a:avLst/>
          </a:prstGeom>
          <a:ln w="12700" cmpd="sng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8">
            <a:extLst>
              <a:ext uri="{FF2B5EF4-FFF2-40B4-BE49-F238E27FC236}">
                <a16:creationId xmlns:a16="http://schemas.microsoft.com/office/drawing/2014/main" id="{8E01D37E-CDAD-87DA-CC9D-09614DD28156}"/>
              </a:ext>
            </a:extLst>
          </p:cNvPr>
          <p:cNvSpPr/>
          <p:nvPr/>
        </p:nvSpPr>
        <p:spPr bwMode="auto">
          <a:xfrm flipH="1" flipV="1">
            <a:off x="9799955" y="4070985"/>
            <a:ext cx="503555" cy="475615"/>
          </a:xfrm>
          <a:custGeom>
            <a:avLst/>
            <a:gdLst>
              <a:gd name="connsiteX0" fmla="*/ 1395 w 1395"/>
              <a:gd name="connsiteY0" fmla="*/ 0 h 3145"/>
              <a:gd name="connsiteX1" fmla="*/ 707 w 1395"/>
              <a:gd name="connsiteY1" fmla="*/ 3145 h 3145"/>
              <a:gd name="connsiteX2" fmla="*/ 0 w 1395"/>
              <a:gd name="connsiteY2" fmla="*/ 3145 h 3145"/>
              <a:gd name="connsiteX0-1" fmla="*/ 9140 w 9140"/>
              <a:gd name="connsiteY0-2" fmla="*/ 0 h 10000"/>
              <a:gd name="connsiteX1-3" fmla="*/ 5068 w 9140"/>
              <a:gd name="connsiteY1-4" fmla="*/ 10000 h 10000"/>
              <a:gd name="connsiteX2-5" fmla="*/ 0 w 9140"/>
              <a:gd name="connsiteY2-6" fmla="*/ 10000 h 10000"/>
              <a:gd name="connsiteX0-7" fmla="*/ 10000 w 10000"/>
              <a:gd name="connsiteY0-8" fmla="*/ 0 h 9322"/>
              <a:gd name="connsiteX1-9" fmla="*/ 5545 w 10000"/>
              <a:gd name="connsiteY1-10" fmla="*/ 9322 h 9322"/>
              <a:gd name="connsiteX2-11" fmla="*/ 0 w 10000"/>
              <a:gd name="connsiteY2-12" fmla="*/ 9322 h 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322">
                <a:moveTo>
                  <a:pt x="10000" y="0"/>
                </a:moveTo>
                <a:lnTo>
                  <a:pt x="5545" y="9322"/>
                </a:lnTo>
                <a:lnTo>
                  <a:pt x="0" y="9322"/>
                </a:ln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矩形 8">
            <a:extLst>
              <a:ext uri="{FF2B5EF4-FFF2-40B4-BE49-F238E27FC236}">
                <a16:creationId xmlns:a16="http://schemas.microsoft.com/office/drawing/2014/main" id="{9A6BB5FA-C091-7A8A-AA59-D3480D817FE3}"/>
              </a:ext>
            </a:extLst>
          </p:cNvPr>
          <p:cNvSpPr/>
          <p:nvPr/>
        </p:nvSpPr>
        <p:spPr bwMode="auto">
          <a:xfrm flipH="1">
            <a:off x="9696450" y="4743450"/>
            <a:ext cx="412750" cy="574040"/>
          </a:xfrm>
          <a:custGeom>
            <a:avLst/>
            <a:gdLst>
              <a:gd name="connsiteX0" fmla="*/ 1395 w 1395"/>
              <a:gd name="connsiteY0" fmla="*/ 0 h 3145"/>
              <a:gd name="connsiteX1" fmla="*/ 707 w 1395"/>
              <a:gd name="connsiteY1" fmla="*/ 3145 h 3145"/>
              <a:gd name="connsiteX2" fmla="*/ 0 w 1395"/>
              <a:gd name="connsiteY2" fmla="*/ 3145 h 3145"/>
              <a:gd name="connsiteX0-1" fmla="*/ 9140 w 9140"/>
              <a:gd name="connsiteY0-2" fmla="*/ 0 h 10000"/>
              <a:gd name="connsiteX1-3" fmla="*/ 5068 w 9140"/>
              <a:gd name="connsiteY1-4" fmla="*/ 10000 h 10000"/>
              <a:gd name="connsiteX2-5" fmla="*/ 0 w 9140"/>
              <a:gd name="connsiteY2-6" fmla="*/ 10000 h 10000"/>
              <a:gd name="connsiteX0-7" fmla="*/ 10000 w 10000"/>
              <a:gd name="connsiteY0-8" fmla="*/ 0 h 9322"/>
              <a:gd name="connsiteX1-9" fmla="*/ 5545 w 10000"/>
              <a:gd name="connsiteY1-10" fmla="*/ 9322 h 9322"/>
              <a:gd name="connsiteX2-11" fmla="*/ 0 w 10000"/>
              <a:gd name="connsiteY2-12" fmla="*/ 9322 h 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322">
                <a:moveTo>
                  <a:pt x="10000" y="0"/>
                </a:moveTo>
                <a:lnTo>
                  <a:pt x="5545" y="9322"/>
                </a:lnTo>
                <a:lnTo>
                  <a:pt x="0" y="9322"/>
                </a:ln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矩形 76">
            <a:extLst>
              <a:ext uri="{FF2B5EF4-FFF2-40B4-BE49-F238E27FC236}">
                <a16:creationId xmlns:a16="http://schemas.microsoft.com/office/drawing/2014/main" id="{CFD50250-0317-E479-4982-272A286D47C8}"/>
              </a:ext>
            </a:extLst>
          </p:cNvPr>
          <p:cNvSpPr/>
          <p:nvPr/>
        </p:nvSpPr>
        <p:spPr bwMode="auto">
          <a:xfrm flipH="1">
            <a:off x="10056495" y="5157470"/>
            <a:ext cx="902970" cy="334645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相机视野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131*87mm</a:t>
            </a:r>
          </a:p>
        </p:txBody>
      </p:sp>
      <p:sp>
        <p:nvSpPr>
          <p:cNvPr id="8" name="矩形 76">
            <a:extLst>
              <a:ext uri="{FF2B5EF4-FFF2-40B4-BE49-F238E27FC236}">
                <a16:creationId xmlns:a16="http://schemas.microsoft.com/office/drawing/2014/main" id="{AD61BC92-BCE6-F7C6-744F-BFC9D1CF0696}"/>
              </a:ext>
            </a:extLst>
          </p:cNvPr>
          <p:cNvSpPr/>
          <p:nvPr/>
        </p:nvSpPr>
        <p:spPr bwMode="auto">
          <a:xfrm flipH="1">
            <a:off x="10344150" y="3933190"/>
            <a:ext cx="621665" cy="254000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检测区域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ED7B0E9-E3C8-35FD-087B-895F7547C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工位七 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下料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尺寸检测</a:t>
            </a:r>
          </a:p>
        </p:txBody>
      </p:sp>
    </p:spTree>
    <p:extLst>
      <p:ext uri="{BB962C8B-B14F-4D97-AF65-F5344CB8AC3E}">
        <p14:creationId xmlns:p14="http://schemas.microsoft.com/office/powerpoint/2010/main" val="215779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CBD8-49FE-2A41-2525-7ED5B19E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6B1C9C-FE10-0FFF-5F74-FACF18A7C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32262"/>
              </p:ext>
            </p:extLst>
          </p:nvPr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视觉需求：对电芯引导定位，进行抓取；检测电芯表面褶皱，终止胶打折、气泡；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视野要求：电芯宽度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，高度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160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单像素精度0.1/3=0.03mm/px</a:t>
                      </a: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FE47B418-1C72-669B-017E-C59211F543AE}"/>
              </a:ext>
            </a:extLst>
          </p:cNvPr>
          <p:cNvSpPr txBox="1"/>
          <p:nvPr/>
        </p:nvSpPr>
        <p:spPr>
          <a:xfrm>
            <a:off x="623888" y="908050"/>
            <a:ext cx="198913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1A98CA-DD7C-3F1C-9279-86B1F29D2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248" y="2302209"/>
            <a:ext cx="2977470" cy="6947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A572FBF-8EE3-5933-1579-9424A958F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562" y="3454104"/>
            <a:ext cx="2808312" cy="317002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11563FB-4668-11F5-FB02-4A3628BC2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工位八 电芯定位及表面检测</a:t>
            </a:r>
          </a:p>
        </p:txBody>
      </p:sp>
    </p:spTree>
    <p:extLst>
      <p:ext uri="{BB962C8B-B14F-4D97-AF65-F5344CB8AC3E}">
        <p14:creationId xmlns:p14="http://schemas.microsoft.com/office/powerpoint/2010/main" val="2475630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8565-E5C9-DD8D-77B1-951B74EC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表格 22529">
            <a:extLst>
              <a:ext uri="{FF2B5EF4-FFF2-40B4-BE49-F238E27FC236}">
                <a16:creationId xmlns:a16="http://schemas.microsoft.com/office/drawing/2014/main" id="{D248D9D5-D4F4-A190-A9D0-47E6809CA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3110590"/>
              </p:ext>
            </p:extLst>
          </p:nvPr>
        </p:nvGraphicFramePr>
        <p:xfrm>
          <a:off x="623888" y="1628775"/>
          <a:ext cx="10814050" cy="4154488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6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7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MV-CS200-10GC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帧率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5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5472*3648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2.4μm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200us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0.024mm/px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5FPS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OPT-CDP7528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750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131mm*87mm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55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背光源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CST-PHFS180150-X-W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背光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1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前光源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CST-2BD19228-W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87370"/>
                  </a:ext>
                </a:extLst>
              </a:tr>
              <a:tr h="3492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条光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1" marB="609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05525"/>
                  </a:ext>
                </a:extLst>
              </a:tr>
              <a:tr h="35052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EBDC985-9D4D-E94F-9181-33ED6B702261}"/>
              </a:ext>
            </a:extLst>
          </p:cNvPr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F79866C-D340-7DC5-C22E-90F0710AD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工位八 电芯定位及表面检测</a:t>
            </a:r>
          </a:p>
        </p:txBody>
      </p:sp>
    </p:spTree>
    <p:extLst>
      <p:ext uri="{BB962C8B-B14F-4D97-AF65-F5344CB8AC3E}">
        <p14:creationId xmlns:p14="http://schemas.microsoft.com/office/powerpoint/2010/main" val="2924200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4E86-B470-89AD-52D2-D14E16D7C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6C2BB11-3EAC-FEAB-6DAF-A7E1154FAAE7}"/>
              </a:ext>
            </a:extLst>
          </p:cNvPr>
          <p:cNvGrpSpPr/>
          <p:nvPr/>
        </p:nvGrpSpPr>
        <p:grpSpPr>
          <a:xfrm>
            <a:off x="8846820" y="4393565"/>
            <a:ext cx="1050290" cy="701040"/>
            <a:chOff x="11022" y="7328"/>
            <a:chExt cx="1654" cy="1104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078C23B2-3D5F-049E-CF22-54DC50C6A24F}"/>
                </a:ext>
              </a:extLst>
            </p:cNvPr>
            <p:cNvSpPr/>
            <p:nvPr/>
          </p:nvSpPr>
          <p:spPr>
            <a:xfrm>
              <a:off x="11414" y="7328"/>
              <a:ext cx="227" cy="45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45BD6E75-E40A-13AE-C8C7-97D98F634503}"/>
                </a:ext>
              </a:extLst>
            </p:cNvPr>
            <p:cNvSpPr/>
            <p:nvPr/>
          </p:nvSpPr>
          <p:spPr>
            <a:xfrm>
              <a:off x="11981" y="7328"/>
              <a:ext cx="227" cy="45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E3E8039-8FF0-25D0-6DF1-DDB7551E4D0B}"/>
                </a:ext>
              </a:extLst>
            </p:cNvPr>
            <p:cNvSpPr/>
            <p:nvPr/>
          </p:nvSpPr>
          <p:spPr>
            <a:xfrm>
              <a:off x="11022" y="7594"/>
              <a:ext cx="1654" cy="83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2">
            <a:extLst>
              <a:ext uri="{FF2B5EF4-FFF2-40B4-BE49-F238E27FC236}">
                <a16:creationId xmlns:a16="http://schemas.microsoft.com/office/drawing/2014/main" id="{8AB88B34-CDB7-80F2-1D06-67CAA71FEE2B}"/>
              </a:ext>
            </a:extLst>
          </p:cNvPr>
          <p:cNvSpPr txBox="1"/>
          <p:nvPr/>
        </p:nvSpPr>
        <p:spPr>
          <a:xfrm>
            <a:off x="255588" y="982663"/>
            <a:ext cx="1439863" cy="3746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554" name="文本框 49">
            <a:extLst>
              <a:ext uri="{FF2B5EF4-FFF2-40B4-BE49-F238E27FC236}">
                <a16:creationId xmlns:a16="http://schemas.microsoft.com/office/drawing/2014/main" id="{7198E6C1-CA00-352A-689B-22C0EA2F7015}"/>
              </a:ext>
            </a:extLst>
          </p:cNvPr>
          <p:cNvSpPr txBox="1"/>
          <p:nvPr/>
        </p:nvSpPr>
        <p:spPr>
          <a:xfrm>
            <a:off x="814868" y="5383369"/>
            <a:ext cx="5157932" cy="73866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buFontTx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eaLnBrk="0" hangingPunct="0">
              <a:buFontTx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、相机安装方向要如图所示，两相机安装面朝向一致；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12">
            <a:extLst>
              <a:ext uri="{FF2B5EF4-FFF2-40B4-BE49-F238E27FC236}">
                <a16:creationId xmlns:a16="http://schemas.microsoft.com/office/drawing/2014/main" id="{413A5285-0BAD-420E-EA98-F3418F99C8E5}"/>
              </a:ext>
            </a:extLst>
          </p:cNvPr>
          <p:cNvSpPr txBox="1"/>
          <p:nvPr/>
        </p:nvSpPr>
        <p:spPr>
          <a:xfrm>
            <a:off x="8253730" y="1068070"/>
            <a:ext cx="1741170" cy="3733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面阵视野示意图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3CED055-5CF6-582B-F365-FC0C5574EF6B}"/>
              </a:ext>
            </a:extLst>
          </p:cNvPr>
          <p:cNvSpPr/>
          <p:nvPr/>
        </p:nvSpPr>
        <p:spPr>
          <a:xfrm>
            <a:off x="8749982" y="4454842"/>
            <a:ext cx="1243965" cy="37401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2">
            <a:extLst>
              <a:ext uri="{FF2B5EF4-FFF2-40B4-BE49-F238E27FC236}">
                <a16:creationId xmlns:a16="http://schemas.microsoft.com/office/drawing/2014/main" id="{E81D00A4-C8C8-81BE-3414-EFC0FED5E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2260" y="1970405"/>
            <a:ext cx="375285" cy="84899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82D7DC7A-CA90-7BF6-A938-AA8A509BB81F}"/>
              </a:ext>
            </a:extLst>
          </p:cNvPr>
          <p:cNvCxnSpPr>
            <a:stCxn id="3" idx="2"/>
            <a:endCxn id="72" idx="1"/>
          </p:cNvCxnSpPr>
          <p:nvPr/>
        </p:nvCxnSpPr>
        <p:spPr>
          <a:xfrm flipH="1">
            <a:off x="8749982" y="2819400"/>
            <a:ext cx="629921" cy="182245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C953BB81-A5AD-EE2D-B128-60988E88A6CF}"/>
              </a:ext>
            </a:extLst>
          </p:cNvPr>
          <p:cNvCxnSpPr>
            <a:stCxn id="3" idx="2"/>
            <a:endCxn id="72" idx="3"/>
          </p:cNvCxnSpPr>
          <p:nvPr/>
        </p:nvCxnSpPr>
        <p:spPr>
          <a:xfrm>
            <a:off x="9379903" y="2819400"/>
            <a:ext cx="614044" cy="1822450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1A1DF79-EBFA-90EE-BCDE-99516B9230BD}"/>
              </a:ext>
            </a:extLst>
          </p:cNvPr>
          <p:cNvCxnSpPr/>
          <p:nvPr/>
        </p:nvCxnSpPr>
        <p:spPr>
          <a:xfrm flipH="1">
            <a:off x="9385300" y="1548765"/>
            <a:ext cx="0" cy="3741420"/>
          </a:xfrm>
          <a:prstGeom prst="line">
            <a:avLst/>
          </a:prstGeom>
          <a:ln w="12700" cmpd="sng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8">
            <a:extLst>
              <a:ext uri="{FF2B5EF4-FFF2-40B4-BE49-F238E27FC236}">
                <a16:creationId xmlns:a16="http://schemas.microsoft.com/office/drawing/2014/main" id="{D7C6993E-9A29-8FC0-2AAF-4BF678CEBC4D}"/>
              </a:ext>
            </a:extLst>
          </p:cNvPr>
          <p:cNvSpPr/>
          <p:nvPr/>
        </p:nvSpPr>
        <p:spPr bwMode="auto">
          <a:xfrm flipH="1" flipV="1">
            <a:off x="9799955" y="4070985"/>
            <a:ext cx="503555" cy="475615"/>
          </a:xfrm>
          <a:custGeom>
            <a:avLst/>
            <a:gdLst>
              <a:gd name="connsiteX0" fmla="*/ 1395 w 1395"/>
              <a:gd name="connsiteY0" fmla="*/ 0 h 3145"/>
              <a:gd name="connsiteX1" fmla="*/ 707 w 1395"/>
              <a:gd name="connsiteY1" fmla="*/ 3145 h 3145"/>
              <a:gd name="connsiteX2" fmla="*/ 0 w 1395"/>
              <a:gd name="connsiteY2" fmla="*/ 3145 h 3145"/>
              <a:gd name="connsiteX0-1" fmla="*/ 9140 w 9140"/>
              <a:gd name="connsiteY0-2" fmla="*/ 0 h 10000"/>
              <a:gd name="connsiteX1-3" fmla="*/ 5068 w 9140"/>
              <a:gd name="connsiteY1-4" fmla="*/ 10000 h 10000"/>
              <a:gd name="connsiteX2-5" fmla="*/ 0 w 9140"/>
              <a:gd name="connsiteY2-6" fmla="*/ 10000 h 10000"/>
              <a:gd name="connsiteX0-7" fmla="*/ 10000 w 10000"/>
              <a:gd name="connsiteY0-8" fmla="*/ 0 h 9322"/>
              <a:gd name="connsiteX1-9" fmla="*/ 5545 w 10000"/>
              <a:gd name="connsiteY1-10" fmla="*/ 9322 h 9322"/>
              <a:gd name="connsiteX2-11" fmla="*/ 0 w 10000"/>
              <a:gd name="connsiteY2-12" fmla="*/ 9322 h 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322">
                <a:moveTo>
                  <a:pt x="10000" y="0"/>
                </a:moveTo>
                <a:lnTo>
                  <a:pt x="5545" y="9322"/>
                </a:lnTo>
                <a:lnTo>
                  <a:pt x="0" y="9322"/>
                </a:ln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矩形 8">
            <a:extLst>
              <a:ext uri="{FF2B5EF4-FFF2-40B4-BE49-F238E27FC236}">
                <a16:creationId xmlns:a16="http://schemas.microsoft.com/office/drawing/2014/main" id="{70E52A8A-2435-7B2C-C257-2D54D2EF22F9}"/>
              </a:ext>
            </a:extLst>
          </p:cNvPr>
          <p:cNvSpPr/>
          <p:nvPr/>
        </p:nvSpPr>
        <p:spPr bwMode="auto">
          <a:xfrm flipH="1">
            <a:off x="9696450" y="4743450"/>
            <a:ext cx="412750" cy="574040"/>
          </a:xfrm>
          <a:custGeom>
            <a:avLst/>
            <a:gdLst>
              <a:gd name="connsiteX0" fmla="*/ 1395 w 1395"/>
              <a:gd name="connsiteY0" fmla="*/ 0 h 3145"/>
              <a:gd name="connsiteX1" fmla="*/ 707 w 1395"/>
              <a:gd name="connsiteY1" fmla="*/ 3145 h 3145"/>
              <a:gd name="connsiteX2" fmla="*/ 0 w 1395"/>
              <a:gd name="connsiteY2" fmla="*/ 3145 h 3145"/>
              <a:gd name="connsiteX0-1" fmla="*/ 9140 w 9140"/>
              <a:gd name="connsiteY0-2" fmla="*/ 0 h 10000"/>
              <a:gd name="connsiteX1-3" fmla="*/ 5068 w 9140"/>
              <a:gd name="connsiteY1-4" fmla="*/ 10000 h 10000"/>
              <a:gd name="connsiteX2-5" fmla="*/ 0 w 9140"/>
              <a:gd name="connsiteY2-6" fmla="*/ 10000 h 10000"/>
              <a:gd name="connsiteX0-7" fmla="*/ 10000 w 10000"/>
              <a:gd name="connsiteY0-8" fmla="*/ 0 h 9322"/>
              <a:gd name="connsiteX1-9" fmla="*/ 5545 w 10000"/>
              <a:gd name="connsiteY1-10" fmla="*/ 9322 h 9322"/>
              <a:gd name="connsiteX2-11" fmla="*/ 0 w 10000"/>
              <a:gd name="connsiteY2-12" fmla="*/ 9322 h 93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322">
                <a:moveTo>
                  <a:pt x="10000" y="0"/>
                </a:moveTo>
                <a:lnTo>
                  <a:pt x="5545" y="9322"/>
                </a:lnTo>
                <a:lnTo>
                  <a:pt x="0" y="9322"/>
                </a:lnTo>
              </a:path>
            </a:pathLst>
          </a:custGeom>
          <a:noFill/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矩形 76">
            <a:extLst>
              <a:ext uri="{FF2B5EF4-FFF2-40B4-BE49-F238E27FC236}">
                <a16:creationId xmlns:a16="http://schemas.microsoft.com/office/drawing/2014/main" id="{215C483D-D3F4-4BCA-9523-7AB17D25268C}"/>
              </a:ext>
            </a:extLst>
          </p:cNvPr>
          <p:cNvSpPr/>
          <p:nvPr/>
        </p:nvSpPr>
        <p:spPr bwMode="auto">
          <a:xfrm flipH="1">
            <a:off x="10056495" y="5157470"/>
            <a:ext cx="902970" cy="334645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相机视野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131*87mm</a:t>
            </a:r>
          </a:p>
        </p:txBody>
      </p:sp>
      <p:sp>
        <p:nvSpPr>
          <p:cNvPr id="8" name="矩形 76">
            <a:extLst>
              <a:ext uri="{FF2B5EF4-FFF2-40B4-BE49-F238E27FC236}">
                <a16:creationId xmlns:a16="http://schemas.microsoft.com/office/drawing/2014/main" id="{8CA7A797-DC10-DF25-A43B-9E1F38363871}"/>
              </a:ext>
            </a:extLst>
          </p:cNvPr>
          <p:cNvSpPr/>
          <p:nvPr/>
        </p:nvSpPr>
        <p:spPr bwMode="auto">
          <a:xfrm flipH="1">
            <a:off x="10344150" y="3933190"/>
            <a:ext cx="621665" cy="254000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检测区域</a:t>
            </a:r>
          </a:p>
        </p:txBody>
      </p:sp>
      <p:grpSp>
        <p:nvGrpSpPr>
          <p:cNvPr id="23570" name="组合 23569">
            <a:extLst>
              <a:ext uri="{FF2B5EF4-FFF2-40B4-BE49-F238E27FC236}">
                <a16:creationId xmlns:a16="http://schemas.microsoft.com/office/drawing/2014/main" id="{1BD23AAE-69DF-8732-7B64-3F75C4F23357}"/>
              </a:ext>
            </a:extLst>
          </p:cNvPr>
          <p:cNvGrpSpPr/>
          <p:nvPr/>
        </p:nvGrpSpPr>
        <p:grpSpPr>
          <a:xfrm>
            <a:off x="4387533" y="2303145"/>
            <a:ext cx="2797662" cy="2941733"/>
            <a:chOff x="4387533" y="2303145"/>
            <a:chExt cx="2797662" cy="2941733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B9559CA-D51F-7539-E2ED-2BAB27BF6BA0}"/>
                </a:ext>
              </a:extLst>
            </p:cNvPr>
            <p:cNvGrpSpPr/>
            <p:nvPr/>
          </p:nvGrpSpPr>
          <p:grpSpPr>
            <a:xfrm>
              <a:off x="4387533" y="2303145"/>
              <a:ext cx="2797662" cy="2941733"/>
              <a:chOff x="4387533" y="2303145"/>
              <a:chExt cx="2797662" cy="2941733"/>
            </a:xfrm>
          </p:grpSpPr>
          <p:grpSp>
            <p:nvGrpSpPr>
              <p:cNvPr id="23594" name="组合 118">
                <a:extLst>
                  <a:ext uri="{FF2B5EF4-FFF2-40B4-BE49-F238E27FC236}">
                    <a16:creationId xmlns:a16="http://schemas.microsoft.com/office/drawing/2014/main" id="{EE920467-AE25-97F7-8450-75DCDE7CCA9E}"/>
                  </a:ext>
                </a:extLst>
              </p:cNvPr>
              <p:cNvGrpSpPr/>
              <p:nvPr/>
            </p:nvGrpSpPr>
            <p:grpSpPr>
              <a:xfrm>
                <a:off x="4387533" y="2303145"/>
                <a:ext cx="2787967" cy="2941733"/>
                <a:chOff x="3014680" y="2010579"/>
                <a:chExt cx="2788699" cy="2940365"/>
              </a:xfrm>
            </p:grpSpPr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2F67E580-32F6-DF8A-9FD7-3FDBEEBA7659}"/>
                    </a:ext>
                  </a:extLst>
                </p:cNvPr>
                <p:cNvSpPr/>
                <p:nvPr/>
              </p:nvSpPr>
              <p:spPr>
                <a:xfrm>
                  <a:off x="3894703" y="2629416"/>
                  <a:ext cx="1697483" cy="1863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A31D8484-3A73-478F-DB69-32DEE2729B9F}"/>
                    </a:ext>
                  </a:extLst>
                </p:cNvPr>
                <p:cNvSpPr/>
                <p:nvPr/>
              </p:nvSpPr>
              <p:spPr>
                <a:xfrm>
                  <a:off x="4161473" y="3032454"/>
                  <a:ext cx="1182997" cy="117103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9839437C-DC98-A953-86F7-D3E8EC4E7692}"/>
                    </a:ext>
                  </a:extLst>
                </p:cNvPr>
                <p:cNvSpPr/>
                <p:nvPr/>
              </p:nvSpPr>
              <p:spPr>
                <a:xfrm>
                  <a:off x="4342496" y="2751597"/>
                  <a:ext cx="160379" cy="282444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9F185507-A318-E966-57EB-8AB79B9C226F}"/>
                    </a:ext>
                  </a:extLst>
                </p:cNvPr>
                <p:cNvSpPr/>
                <p:nvPr/>
              </p:nvSpPr>
              <p:spPr>
                <a:xfrm>
                  <a:off x="4926849" y="2751597"/>
                  <a:ext cx="160379" cy="282444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pic>
              <p:nvPicPr>
                <p:cNvPr id="23599" name="图片 74">
                  <a:extLst>
                    <a:ext uri="{FF2B5EF4-FFF2-40B4-BE49-F238E27FC236}">
                      <a16:creationId xmlns:a16="http://schemas.microsoft.com/office/drawing/2014/main" id="{E0687B2F-CC1E-2516-ED22-12D28CCEEC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16418" y="3088543"/>
                  <a:ext cx="454370" cy="4509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pSp>
              <p:nvGrpSpPr>
                <p:cNvPr id="23600" name="组合 84">
                  <a:extLst>
                    <a:ext uri="{FF2B5EF4-FFF2-40B4-BE49-F238E27FC236}">
                      <a16:creationId xmlns:a16="http://schemas.microsoft.com/office/drawing/2014/main" id="{A4D77AC4-3DCD-25F2-2E62-FF18D463F670}"/>
                    </a:ext>
                  </a:extLst>
                </p:cNvPr>
                <p:cNvGrpSpPr/>
                <p:nvPr/>
              </p:nvGrpSpPr>
              <p:grpSpPr>
                <a:xfrm>
                  <a:off x="3014680" y="2026446"/>
                  <a:ext cx="924485" cy="655332"/>
                  <a:chOff x="245339" y="3860884"/>
                  <a:chExt cx="924485" cy="655332"/>
                </a:xfrm>
              </p:grpSpPr>
              <p:sp>
                <p:nvSpPr>
                  <p:cNvPr id="88" name="矩形 8">
                    <a:extLst>
                      <a:ext uri="{FF2B5EF4-FFF2-40B4-BE49-F238E27FC236}">
                        <a16:creationId xmlns:a16="http://schemas.microsoft.com/office/drawing/2014/main" id="{25E13B99-8F75-0F33-B0CF-BAA9A1523DCC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774115" y="3997344"/>
                    <a:ext cx="395709" cy="518872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12" name="矩形 76">
                    <a:extLst>
                      <a:ext uri="{FF2B5EF4-FFF2-40B4-BE49-F238E27FC236}">
                        <a16:creationId xmlns:a16="http://schemas.microsoft.com/office/drawing/2014/main" id="{FBCACD09-BED9-D4F6-E24F-7E8D4310756F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245339" y="3860884"/>
                    <a:ext cx="528776" cy="21579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背光</a:t>
                    </a:r>
                  </a:p>
                </p:txBody>
              </p:sp>
            </p:grpSp>
            <p:grpSp>
              <p:nvGrpSpPr>
                <p:cNvPr id="23603" name="组合 112">
                  <a:extLst>
                    <a:ext uri="{FF2B5EF4-FFF2-40B4-BE49-F238E27FC236}">
                      <a16:creationId xmlns:a16="http://schemas.microsoft.com/office/drawing/2014/main" id="{631C02B1-5932-72E6-EAE9-EB53284D6AAF}"/>
                    </a:ext>
                  </a:extLst>
                </p:cNvPr>
                <p:cNvGrpSpPr/>
                <p:nvPr/>
              </p:nvGrpSpPr>
              <p:grpSpPr>
                <a:xfrm>
                  <a:off x="3556724" y="3893747"/>
                  <a:ext cx="803316" cy="1057197"/>
                  <a:chOff x="746611" y="3690713"/>
                  <a:chExt cx="803316" cy="1057197"/>
                </a:xfrm>
              </p:grpSpPr>
              <p:sp>
                <p:nvSpPr>
                  <p:cNvPr id="114" name="矩形 8">
                    <a:extLst>
                      <a:ext uri="{FF2B5EF4-FFF2-40B4-BE49-F238E27FC236}">
                        <a16:creationId xmlns:a16="http://schemas.microsoft.com/office/drawing/2014/main" id="{92F6B7B0-8B28-EC0E-D5B9-44FDE852A91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24951" y="3690713"/>
                    <a:ext cx="424976" cy="915411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15" name="矩形 76">
                    <a:extLst>
                      <a:ext uri="{FF2B5EF4-FFF2-40B4-BE49-F238E27FC236}">
                        <a16:creationId xmlns:a16="http://schemas.microsoft.com/office/drawing/2014/main" id="{CAA51815-6F15-8C45-6F7A-EF59DCEF1E95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746611" y="4532110"/>
                    <a:ext cx="528776" cy="215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产品</a:t>
                    </a:r>
                  </a:p>
                </p:txBody>
              </p:sp>
            </p:grpSp>
            <p:grpSp>
              <p:nvGrpSpPr>
                <p:cNvPr id="23606" name="组合 115">
                  <a:extLst>
                    <a:ext uri="{FF2B5EF4-FFF2-40B4-BE49-F238E27FC236}">
                      <a16:creationId xmlns:a16="http://schemas.microsoft.com/office/drawing/2014/main" id="{3711D04B-35C4-9507-0DE3-0EFB8F2C2E7A}"/>
                    </a:ext>
                  </a:extLst>
                </p:cNvPr>
                <p:cNvGrpSpPr/>
                <p:nvPr/>
              </p:nvGrpSpPr>
              <p:grpSpPr>
                <a:xfrm>
                  <a:off x="4748430" y="2010579"/>
                  <a:ext cx="1054949" cy="1201537"/>
                  <a:chOff x="306025" y="3902826"/>
                  <a:chExt cx="1054949" cy="1201537"/>
                </a:xfrm>
              </p:grpSpPr>
              <p:sp>
                <p:nvSpPr>
                  <p:cNvPr id="117" name="矩形 8">
                    <a:extLst>
                      <a:ext uri="{FF2B5EF4-FFF2-40B4-BE49-F238E27FC236}">
                        <a16:creationId xmlns:a16="http://schemas.microsoft.com/office/drawing/2014/main" id="{C29A8FD7-453A-D60B-5794-5FD475F191CF}"/>
                      </a:ext>
                    </a:extLst>
                  </p:cNvPr>
                  <p:cNvSpPr/>
                  <p:nvPr/>
                </p:nvSpPr>
                <p:spPr bwMode="auto">
                  <a:xfrm flipH="1" flipV="1">
                    <a:off x="306597" y="4026593"/>
                    <a:ext cx="660573" cy="1077412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18" name="矩形 76">
                    <a:extLst>
                      <a:ext uri="{FF2B5EF4-FFF2-40B4-BE49-F238E27FC236}">
                        <a16:creationId xmlns:a16="http://schemas.microsoft.com/office/drawing/2014/main" id="{D6FE6BA4-D327-5C21-09BD-ED93F18AE53B}"/>
                      </a:ext>
                    </a:extLst>
                  </p:cNvPr>
                  <p:cNvSpPr/>
                  <p:nvPr/>
                </p:nvSpPr>
                <p:spPr bwMode="auto">
                  <a:xfrm flipH="1">
                    <a:off x="832197" y="3902826"/>
                    <a:ext cx="528777" cy="215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>
                    <a:defPPr>
                      <a:defRPr lang="en-US"/>
                    </a:defPPr>
                    <a:lvl1pPr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相机</a:t>
                    </a:r>
                  </a:p>
                </p:txBody>
              </p:sp>
            </p:grpSp>
            <p:pic>
              <p:nvPicPr>
                <p:cNvPr id="4" name="图片 74">
                  <a:extLst>
                    <a:ext uri="{FF2B5EF4-FFF2-40B4-BE49-F238E27FC236}">
                      <a16:creationId xmlns:a16="http://schemas.microsoft.com/office/drawing/2014/main" id="{04275860-83E5-CC11-FDE4-BF35FCFD9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22815" y="3732655"/>
                  <a:ext cx="454370" cy="45092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pic>
            <p:nvPicPr>
              <p:cNvPr id="15" name="图片 7">
                <a:extLst>
                  <a:ext uri="{FF2B5EF4-FFF2-40B4-BE49-F238E27FC236}">
                    <a16:creationId xmlns:a16="http://schemas.microsoft.com/office/drawing/2014/main" id="{FB27A2EA-A24F-431D-2ABA-C5999F53C2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4127962" y="3727116"/>
                <a:ext cx="2147792" cy="2686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" name="图片 7">
                <a:extLst>
                  <a:ext uri="{FF2B5EF4-FFF2-40B4-BE49-F238E27FC236}">
                    <a16:creationId xmlns:a16="http://schemas.microsoft.com/office/drawing/2014/main" id="{1AB1FC1D-6F0B-314B-1911-2B59FCF061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 flipV="1">
                <a:off x="5989084" y="3739204"/>
                <a:ext cx="2147792" cy="244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15CD422E-4BEA-2683-0C49-6C90B353CDE5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47" y="3561700"/>
              <a:ext cx="736346" cy="12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D9789E4-D453-8616-C89B-D768E4B6FC8D}"/>
                </a:ext>
              </a:extLst>
            </p:cNvPr>
            <p:cNvCxnSpPr>
              <a:cxnSpLocks/>
            </p:cNvCxnSpPr>
            <p:nvPr/>
          </p:nvCxnSpPr>
          <p:spPr>
            <a:xfrm>
              <a:off x="6068799" y="4291044"/>
              <a:ext cx="787930" cy="17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53" name="直接箭头连接符 23552">
              <a:extLst>
                <a:ext uri="{FF2B5EF4-FFF2-40B4-BE49-F238E27FC236}">
                  <a16:creationId xmlns:a16="http://schemas.microsoft.com/office/drawing/2014/main" id="{FC1C70DD-F089-E6F8-05D8-22BF5C1F0AEC}"/>
                </a:ext>
              </a:extLst>
            </p:cNvPr>
            <p:cNvCxnSpPr>
              <a:cxnSpLocks/>
            </p:cNvCxnSpPr>
            <p:nvPr/>
          </p:nvCxnSpPr>
          <p:spPr>
            <a:xfrm>
              <a:off x="6551687" y="3555773"/>
              <a:ext cx="0" cy="73527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58" name="文本框 13311">
              <a:extLst>
                <a:ext uri="{FF2B5EF4-FFF2-40B4-BE49-F238E27FC236}">
                  <a16:creationId xmlns:a16="http://schemas.microsoft.com/office/drawing/2014/main" id="{3572D662-8787-C7F7-E559-03AE2C330B85}"/>
                </a:ext>
              </a:extLst>
            </p:cNvPr>
            <p:cNvSpPr txBox="1"/>
            <p:nvPr/>
          </p:nvSpPr>
          <p:spPr>
            <a:xfrm rot="5400000">
              <a:off x="6359898" y="3745828"/>
              <a:ext cx="821059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80±10mm</a:t>
              </a:r>
            </a:p>
          </p:txBody>
        </p:sp>
      </p:grpSp>
      <p:grpSp>
        <p:nvGrpSpPr>
          <p:cNvPr id="23569" name="组合 23568">
            <a:extLst>
              <a:ext uri="{FF2B5EF4-FFF2-40B4-BE49-F238E27FC236}">
                <a16:creationId xmlns:a16="http://schemas.microsoft.com/office/drawing/2014/main" id="{2BA8CC2D-AA28-6235-D037-87E07A34E22B}"/>
              </a:ext>
            </a:extLst>
          </p:cNvPr>
          <p:cNvGrpSpPr/>
          <p:nvPr/>
        </p:nvGrpSpPr>
        <p:grpSpPr>
          <a:xfrm>
            <a:off x="373171" y="1813131"/>
            <a:ext cx="3339418" cy="3314797"/>
            <a:chOff x="373171" y="1813131"/>
            <a:chExt cx="3339418" cy="3314797"/>
          </a:xfrm>
        </p:grpSpPr>
        <p:pic>
          <p:nvPicPr>
            <p:cNvPr id="23578" name="图片 22">
              <a:extLst>
                <a:ext uri="{FF2B5EF4-FFF2-40B4-BE49-F238E27FC236}">
                  <a16:creationId xmlns:a16="http://schemas.microsoft.com/office/drawing/2014/main" id="{1E4AAB6D-3F37-09BC-BC2E-8EDB42E20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7500" y="1813131"/>
              <a:ext cx="328538" cy="89070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3579" name="图片 6">
              <a:extLst>
                <a:ext uri="{FF2B5EF4-FFF2-40B4-BE49-F238E27FC236}">
                  <a16:creationId xmlns:a16="http://schemas.microsoft.com/office/drawing/2014/main" id="{5CFFDD68-E856-ED97-2979-0B21D7534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38276" y="4607881"/>
              <a:ext cx="1200590" cy="15558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C99A73C-B527-87B9-6526-C3982D71B6EE}"/>
                </a:ext>
              </a:extLst>
            </p:cNvPr>
            <p:cNvSpPr/>
            <p:nvPr/>
          </p:nvSpPr>
          <p:spPr>
            <a:xfrm>
              <a:off x="1759285" y="4473781"/>
              <a:ext cx="576309" cy="460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3581" name="组合 21">
              <a:extLst>
                <a:ext uri="{FF2B5EF4-FFF2-40B4-BE49-F238E27FC236}">
                  <a16:creationId xmlns:a16="http://schemas.microsoft.com/office/drawing/2014/main" id="{8ABD3C7C-32FE-3DF1-9F93-5014C8F78B67}"/>
                </a:ext>
              </a:extLst>
            </p:cNvPr>
            <p:cNvGrpSpPr/>
            <p:nvPr/>
          </p:nvGrpSpPr>
          <p:grpSpPr>
            <a:xfrm>
              <a:off x="373171" y="4508127"/>
              <a:ext cx="1353558" cy="270680"/>
              <a:chOff x="29059" y="4399434"/>
              <a:chExt cx="1353256" cy="270643"/>
            </a:xfrm>
          </p:grpSpPr>
          <p:sp>
            <p:nvSpPr>
              <p:cNvPr id="13" name="矩形 8">
                <a:extLst>
                  <a:ext uri="{FF2B5EF4-FFF2-40B4-BE49-F238E27FC236}">
                    <a16:creationId xmlns:a16="http://schemas.microsoft.com/office/drawing/2014/main" id="{3679B818-A64E-F552-AED7-C6DCC8CEB478}"/>
                  </a:ext>
                </a:extLst>
              </p:cNvPr>
              <p:cNvSpPr/>
              <p:nvPr/>
            </p:nvSpPr>
            <p:spPr bwMode="auto">
              <a:xfrm flipH="1" flipV="1">
                <a:off x="485414" y="4399434"/>
                <a:ext cx="896901" cy="235285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矩形 76">
                <a:extLst>
                  <a:ext uri="{FF2B5EF4-FFF2-40B4-BE49-F238E27FC236}">
                    <a16:creationId xmlns:a16="http://schemas.microsoft.com/office/drawing/2014/main" id="{652D5843-27AD-922E-D893-E2D24FFE094F}"/>
                  </a:ext>
                </a:extLst>
              </p:cNvPr>
              <p:cNvSpPr/>
              <p:nvPr/>
            </p:nvSpPr>
            <p:spPr bwMode="auto">
              <a:xfrm flipH="1">
                <a:off x="29059" y="4454207"/>
                <a:ext cx="528562" cy="21587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产品</a:t>
                </a:r>
              </a:p>
            </p:txBody>
          </p:sp>
        </p:grpSp>
        <p:grpSp>
          <p:nvGrpSpPr>
            <p:cNvPr id="23584" name="组合 22">
              <a:extLst>
                <a:ext uri="{FF2B5EF4-FFF2-40B4-BE49-F238E27FC236}">
                  <a16:creationId xmlns:a16="http://schemas.microsoft.com/office/drawing/2014/main" id="{BC4B7BFC-5FCA-DD36-D031-1569BF8171E0}"/>
                </a:ext>
              </a:extLst>
            </p:cNvPr>
            <p:cNvGrpSpPr/>
            <p:nvPr/>
          </p:nvGrpSpPr>
          <p:grpSpPr>
            <a:xfrm>
              <a:off x="718233" y="4787272"/>
              <a:ext cx="978356" cy="340656"/>
              <a:chOff x="652547" y="4028157"/>
              <a:chExt cx="978137" cy="340609"/>
            </a:xfrm>
          </p:grpSpPr>
          <p:sp>
            <p:nvSpPr>
              <p:cNvPr id="24" name="矩形 8">
                <a:extLst>
                  <a:ext uri="{FF2B5EF4-FFF2-40B4-BE49-F238E27FC236}">
                    <a16:creationId xmlns:a16="http://schemas.microsoft.com/office/drawing/2014/main" id="{FA8DDE30-5037-BFFB-85DB-9EC32040EF5E}"/>
                  </a:ext>
                </a:extLst>
              </p:cNvPr>
              <p:cNvSpPr/>
              <p:nvPr/>
            </p:nvSpPr>
            <p:spPr bwMode="auto">
              <a:xfrm>
                <a:off x="1102122" y="4028157"/>
                <a:ext cx="528562" cy="256504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30481 w 630481"/>
                  <a:gd name="connsiteY0-86" fmla="*/ 0 h 253879"/>
                  <a:gd name="connsiteX1-87" fmla="*/ 419026 w 630481"/>
                  <a:gd name="connsiteY1-88" fmla="*/ 253878 h 253879"/>
                  <a:gd name="connsiteX2-89" fmla="*/ 0 w 630481"/>
                  <a:gd name="connsiteY2-90" fmla="*/ 253879 h 253879"/>
                  <a:gd name="connsiteX0-91" fmla="*/ 663254 w 663254"/>
                  <a:gd name="connsiteY0-92" fmla="*/ 0 h 297263"/>
                  <a:gd name="connsiteX1-93" fmla="*/ 419026 w 663254"/>
                  <a:gd name="connsiteY1-94" fmla="*/ 297262 h 297263"/>
                  <a:gd name="connsiteX2-95" fmla="*/ 0 w 663254"/>
                  <a:gd name="connsiteY2-96" fmla="*/ 297263 h 297263"/>
                  <a:gd name="connsiteX0-97" fmla="*/ 581321 w 581321"/>
                  <a:gd name="connsiteY0-98" fmla="*/ 0 h 300517"/>
                  <a:gd name="connsiteX1-99" fmla="*/ 419026 w 581321"/>
                  <a:gd name="connsiteY1-100" fmla="*/ 300516 h 300517"/>
                  <a:gd name="connsiteX2-101" fmla="*/ 0 w 581321"/>
                  <a:gd name="connsiteY2-102" fmla="*/ 300517 h 300517"/>
                  <a:gd name="connsiteX0-103" fmla="*/ 581321 w 581321"/>
                  <a:gd name="connsiteY0-104" fmla="*/ 0 h 300517"/>
                  <a:gd name="connsiteX1-105" fmla="*/ 386252 w 581321"/>
                  <a:gd name="connsiteY1-106" fmla="*/ 300516 h 300517"/>
                  <a:gd name="connsiteX2-107" fmla="*/ 0 w 581321"/>
                  <a:gd name="connsiteY2-108" fmla="*/ 300517 h 300517"/>
                  <a:gd name="connsiteX0-109" fmla="*/ 646867 w 646867"/>
                  <a:gd name="connsiteY0-110" fmla="*/ 0 h 385116"/>
                  <a:gd name="connsiteX1-111" fmla="*/ 386252 w 646867"/>
                  <a:gd name="connsiteY1-112" fmla="*/ 385115 h 385116"/>
                  <a:gd name="connsiteX2-113" fmla="*/ 0 w 646867"/>
                  <a:gd name="connsiteY2-114" fmla="*/ 385116 h 38511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646867" h="385116">
                    <a:moveTo>
                      <a:pt x="646867" y="0"/>
                    </a:moveTo>
                    <a:lnTo>
                      <a:pt x="386252" y="385115"/>
                    </a:lnTo>
                    <a:lnTo>
                      <a:pt x="0" y="385116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矩形 76">
                <a:extLst>
                  <a:ext uri="{FF2B5EF4-FFF2-40B4-BE49-F238E27FC236}">
                    <a16:creationId xmlns:a16="http://schemas.microsoft.com/office/drawing/2014/main" id="{65BAAB21-507E-F9F4-10A0-BA497C00215A}"/>
                  </a:ext>
                </a:extLst>
              </p:cNvPr>
              <p:cNvSpPr/>
              <p:nvPr/>
            </p:nvSpPr>
            <p:spPr bwMode="auto">
              <a:xfrm flipH="1">
                <a:off x="652547" y="4152896"/>
                <a:ext cx="528562" cy="21587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背光</a:t>
                </a:r>
              </a:p>
            </p:txBody>
          </p:sp>
        </p:grp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B71163C-2747-5AA3-A96D-84997BADC0EC}"/>
                </a:ext>
              </a:extLst>
            </p:cNvPr>
            <p:cNvCxnSpPr>
              <a:stCxn id="23578" idx="2"/>
            </p:cNvCxnSpPr>
            <p:nvPr/>
          </p:nvCxnSpPr>
          <p:spPr>
            <a:xfrm>
              <a:off x="2051409" y="2703719"/>
              <a:ext cx="13653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9BDF001A-B0BE-78E3-8865-09899DABA732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2335593" y="4496006"/>
              <a:ext cx="9367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EDD5B2E7-182D-31A9-F784-F27A3B6DFAD1}"/>
                </a:ext>
              </a:extLst>
            </p:cNvPr>
            <p:cNvCxnSpPr/>
            <p:nvPr/>
          </p:nvCxnSpPr>
          <p:spPr>
            <a:xfrm flipH="1">
              <a:off x="3129315" y="2750362"/>
              <a:ext cx="0" cy="17351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90" name="文本框 13311">
              <a:extLst>
                <a:ext uri="{FF2B5EF4-FFF2-40B4-BE49-F238E27FC236}">
                  <a16:creationId xmlns:a16="http://schemas.microsoft.com/office/drawing/2014/main" id="{3CA2B873-E4F4-2BD7-0FDF-6528BAB5F08A}"/>
                </a:ext>
              </a:extLst>
            </p:cNvPr>
            <p:cNvSpPr txBox="1"/>
            <p:nvPr/>
          </p:nvSpPr>
          <p:spPr>
            <a:xfrm rot="5400000">
              <a:off x="2737948" y="3444779"/>
              <a:ext cx="896399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750±10mm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EE9D600-96EB-64F1-DB49-28669F250122}"/>
                </a:ext>
              </a:extLst>
            </p:cNvPr>
            <p:cNvCxnSpPr/>
            <p:nvPr/>
          </p:nvCxnSpPr>
          <p:spPr>
            <a:xfrm>
              <a:off x="2462923" y="4607767"/>
              <a:ext cx="5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7D83B806-F24E-E803-E5FE-3459B1F93B03}"/>
                </a:ext>
              </a:extLst>
            </p:cNvPr>
            <p:cNvCxnSpPr/>
            <p:nvPr/>
          </p:nvCxnSpPr>
          <p:spPr>
            <a:xfrm flipV="1">
              <a:off x="2911903" y="4553156"/>
              <a:ext cx="0" cy="111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93" name="文本框 13311">
              <a:extLst>
                <a:ext uri="{FF2B5EF4-FFF2-40B4-BE49-F238E27FC236}">
                  <a16:creationId xmlns:a16="http://schemas.microsoft.com/office/drawing/2014/main" id="{DA8B775E-F91A-499D-E5E4-CF2409715099}"/>
                </a:ext>
              </a:extLst>
            </p:cNvPr>
            <p:cNvSpPr txBox="1"/>
            <p:nvPr/>
          </p:nvSpPr>
          <p:spPr>
            <a:xfrm>
              <a:off x="2966872" y="4456848"/>
              <a:ext cx="745717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±</a:t>
              </a: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5mm</a:t>
              </a:r>
            </a:p>
          </p:txBody>
        </p:sp>
        <p:pic>
          <p:nvPicPr>
            <p:cNvPr id="7" name="图片 61">
              <a:extLst>
                <a:ext uri="{FF2B5EF4-FFF2-40B4-BE49-F238E27FC236}">
                  <a16:creationId xmlns:a16="http://schemas.microsoft.com/office/drawing/2014/main" id="{67DF46FD-319C-1075-4687-1D14BC2A5E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4" b="7253"/>
            <a:stretch>
              <a:fillRect/>
            </a:stretch>
          </p:blipFill>
          <p:spPr bwMode="auto">
            <a:xfrm rot="18669375">
              <a:off x="1223099" y="3833204"/>
              <a:ext cx="308908" cy="248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图片 61">
              <a:extLst>
                <a:ext uri="{FF2B5EF4-FFF2-40B4-BE49-F238E27FC236}">
                  <a16:creationId xmlns:a16="http://schemas.microsoft.com/office/drawing/2014/main" id="{192D191F-8A8D-7525-9820-B33BF0B97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4" b="7253"/>
            <a:stretch>
              <a:fillRect/>
            </a:stretch>
          </p:blipFill>
          <p:spPr bwMode="auto">
            <a:xfrm rot="3429459">
              <a:off x="2646864" y="3833204"/>
              <a:ext cx="308908" cy="248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4B104AFD-40F5-564E-5209-2B28D00CBF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2249" y="3185795"/>
              <a:ext cx="0" cy="7399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61041BC-95C2-83D0-D24D-94AACF24A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0669" y="4126473"/>
              <a:ext cx="468629" cy="1050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C818411C-7776-D44E-3943-BF08AB8B60CB}"/>
                </a:ext>
              </a:extLst>
            </p:cNvPr>
            <p:cNvCxnSpPr>
              <a:cxnSpLocks/>
            </p:cNvCxnSpPr>
            <p:nvPr/>
          </p:nvCxnSpPr>
          <p:spPr>
            <a:xfrm>
              <a:off x="2738310" y="4118457"/>
              <a:ext cx="0" cy="4013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13311">
              <a:extLst>
                <a:ext uri="{FF2B5EF4-FFF2-40B4-BE49-F238E27FC236}">
                  <a16:creationId xmlns:a16="http://schemas.microsoft.com/office/drawing/2014/main" id="{238FAFB6-1576-1758-DFA9-4797360C2B8A}"/>
                </a:ext>
              </a:extLst>
            </p:cNvPr>
            <p:cNvSpPr txBox="1"/>
            <p:nvPr/>
          </p:nvSpPr>
          <p:spPr>
            <a:xfrm>
              <a:off x="2128595" y="4186350"/>
              <a:ext cx="896399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200±10mm</a:t>
              </a:r>
            </a:p>
          </p:txBody>
        </p:sp>
        <p:cxnSp>
          <p:nvCxnSpPr>
            <p:cNvPr id="23559" name="直接连接符 23558">
              <a:extLst>
                <a:ext uri="{FF2B5EF4-FFF2-40B4-BE49-F238E27FC236}">
                  <a16:creationId xmlns:a16="http://schemas.microsoft.com/office/drawing/2014/main" id="{58928BF7-3024-7749-45EC-E45D8E423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9673" y="3224611"/>
              <a:ext cx="0" cy="12835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61" name="文本框 13311">
              <a:extLst>
                <a:ext uri="{FF2B5EF4-FFF2-40B4-BE49-F238E27FC236}">
                  <a16:creationId xmlns:a16="http://schemas.microsoft.com/office/drawing/2014/main" id="{BAD86BCB-98C5-A6C2-AF56-6EA2DF4E3586}"/>
                </a:ext>
              </a:extLst>
            </p:cNvPr>
            <p:cNvSpPr txBox="1"/>
            <p:nvPr/>
          </p:nvSpPr>
          <p:spPr>
            <a:xfrm>
              <a:off x="1351244" y="3283963"/>
              <a:ext cx="896399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100±10mm</a:t>
              </a:r>
            </a:p>
          </p:txBody>
        </p:sp>
        <p:cxnSp>
          <p:nvCxnSpPr>
            <p:cNvPr id="23562" name="直接箭头连接符 23561">
              <a:extLst>
                <a:ext uri="{FF2B5EF4-FFF2-40B4-BE49-F238E27FC236}">
                  <a16:creationId xmlns:a16="http://schemas.microsoft.com/office/drawing/2014/main" id="{E6D4D7FA-40FF-0D1B-BE1E-396C859503A2}"/>
                </a:ext>
              </a:extLst>
            </p:cNvPr>
            <p:cNvCxnSpPr>
              <a:cxnSpLocks/>
            </p:cNvCxnSpPr>
            <p:nvPr/>
          </p:nvCxnSpPr>
          <p:spPr>
            <a:xfrm>
              <a:off x="1432249" y="3575374"/>
              <a:ext cx="32703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67" name="弧形 23566">
              <a:extLst>
                <a:ext uri="{FF2B5EF4-FFF2-40B4-BE49-F238E27FC236}">
                  <a16:creationId xmlns:a16="http://schemas.microsoft.com/office/drawing/2014/main" id="{025177A4-7535-1954-B624-D8FA63823EF8}"/>
                </a:ext>
              </a:extLst>
            </p:cNvPr>
            <p:cNvSpPr/>
            <p:nvPr/>
          </p:nvSpPr>
          <p:spPr>
            <a:xfrm rot="18997009">
              <a:off x="2626328" y="3974897"/>
              <a:ext cx="229474" cy="299984"/>
            </a:xfrm>
            <a:prstGeom prst="arc">
              <a:avLst>
                <a:gd name="adj1" fmla="val 13146773"/>
                <a:gd name="adj2" fmla="val 1841293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68" name="文本框 13311">
              <a:extLst>
                <a:ext uri="{FF2B5EF4-FFF2-40B4-BE49-F238E27FC236}">
                  <a16:creationId xmlns:a16="http://schemas.microsoft.com/office/drawing/2014/main" id="{123664E2-E2F1-A682-0102-B429EDB116A7}"/>
                </a:ext>
              </a:extLst>
            </p:cNvPr>
            <p:cNvSpPr txBox="1"/>
            <p:nvPr/>
          </p:nvSpPr>
          <p:spPr>
            <a:xfrm>
              <a:off x="1936659" y="3878668"/>
              <a:ext cx="776175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0-90°</a:t>
              </a: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可调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标题 1">
            <a:extLst>
              <a:ext uri="{FF2B5EF4-FFF2-40B4-BE49-F238E27FC236}">
                <a16:creationId xmlns:a16="http://schemas.microsoft.com/office/drawing/2014/main" id="{5752D8F7-6128-4168-3D2B-0205FA892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工位八 电芯定位及表面检测</a:t>
            </a:r>
          </a:p>
        </p:txBody>
      </p:sp>
    </p:spTree>
    <p:extLst>
      <p:ext uri="{BB962C8B-B14F-4D97-AF65-F5344CB8AC3E}">
        <p14:creationId xmlns:p14="http://schemas.microsoft.com/office/powerpoint/2010/main" val="546001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FD9AC-9ED2-554F-8717-6C43EF825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>
            <a:extLst>
              <a:ext uri="{FF2B5EF4-FFF2-40B4-BE49-F238E27FC236}">
                <a16:creationId xmlns:a16="http://schemas.microsoft.com/office/drawing/2014/main" id="{7358AF9A-ED5C-B6AE-94E1-CCDEA061CA6B}"/>
              </a:ext>
            </a:extLst>
          </p:cNvPr>
          <p:cNvSpPr txBox="1"/>
          <p:nvPr/>
        </p:nvSpPr>
        <p:spPr>
          <a:xfrm>
            <a:off x="255588" y="982663"/>
            <a:ext cx="1439863" cy="3746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成像效果图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684DE5E-C703-9075-60B2-6025133A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19" y="1690688"/>
            <a:ext cx="3492340" cy="3108528"/>
          </a:xfrm>
          <a:prstGeom prst="rect">
            <a:avLst/>
          </a:prstGeom>
        </p:spPr>
      </p:pic>
      <p:pic>
        <p:nvPicPr>
          <p:cNvPr id="23555" name="图片 23554">
            <a:extLst>
              <a:ext uri="{FF2B5EF4-FFF2-40B4-BE49-F238E27FC236}">
                <a16:creationId xmlns:a16="http://schemas.microsoft.com/office/drawing/2014/main" id="{3FBD5386-F036-7CDA-A084-C0990BD3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94" y="1690688"/>
            <a:ext cx="4484497" cy="3108528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513695B8-A7B4-1437-5AC8-6DD77A891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工位八 电芯定位及表面检测</a:t>
            </a:r>
          </a:p>
        </p:txBody>
      </p:sp>
    </p:spTree>
    <p:extLst>
      <p:ext uri="{BB962C8B-B14F-4D97-AF65-F5344CB8AC3E}">
        <p14:creationId xmlns:p14="http://schemas.microsoft.com/office/powerpoint/2010/main" val="2248791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FBAA5-48DA-8A18-7E73-92B4D1470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56B9F6E-5D47-D538-158F-4735774EC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86498"/>
              </p:ext>
            </p:extLst>
          </p:nvPr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视觉需求：对料盒定位，检测料盒电芯有无；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视野要求：料盒尺寸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400*400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单像素精度0.</a:t>
                      </a:r>
                      <a:r>
                        <a:rPr 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mm/px</a:t>
                      </a: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E724856-E59F-D758-97B8-413752A42DFB}"/>
              </a:ext>
            </a:extLst>
          </p:cNvPr>
          <p:cNvSpPr txBox="1"/>
          <p:nvPr/>
        </p:nvSpPr>
        <p:spPr>
          <a:xfrm>
            <a:off x="623888" y="908050"/>
            <a:ext cx="198913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CDB55B5-722B-8B96-CED9-206FCCCF2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九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料盒定位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45FA08-BBCC-7896-09EC-CE8EA0B84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062" y="2420888"/>
            <a:ext cx="2618900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84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46B-2112-4AFA-4971-463164F9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表格 22529">
            <a:extLst>
              <a:ext uri="{FF2B5EF4-FFF2-40B4-BE49-F238E27FC236}">
                <a16:creationId xmlns:a16="http://schemas.microsoft.com/office/drawing/2014/main" id="{4FB145C2-F103-8978-01EB-67A42DE537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4365494"/>
              </p:ext>
            </p:extLst>
          </p:nvPr>
        </p:nvGraphicFramePr>
        <p:xfrm>
          <a:off x="623888" y="1628775"/>
          <a:ext cx="10814050" cy="3627541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39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95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7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MV-CU200-20GC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像元尺寸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曝光时间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单像素精度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帧率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5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5120 × 3840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1.4μm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200us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0.1mm/px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5FPS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镜头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400" b="0" i="0" u="none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TF3012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焦距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光圈数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视野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数量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F8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950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537mm*425mm</a:t>
                      </a: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21902" marR="121902" marT="60953" marB="60953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前光源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CST-2KFSP700700Y50-W</a:t>
                      </a:r>
                      <a:endParaRPr lang="en-US" altLang="zh-CN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光源亮度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光源工作方式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87370"/>
                  </a:ext>
                </a:extLst>
              </a:tr>
              <a:tr h="3492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白色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</a:t>
                      </a: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</a:t>
                      </a:r>
                      <a:r>
                        <a:rPr lang="zh-CN" altLang="en-US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D0D0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常亮</a:t>
                      </a:r>
                    </a:p>
                  </a:txBody>
                  <a:tcPr marL="47993" marR="47993" marT="47994" marB="479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 marL="16931" marR="16931" marT="16931" marB="609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105525"/>
                  </a:ext>
                </a:extLst>
              </a:tr>
              <a:tr h="35052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背景材质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838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400" dirty="0">
                          <a:solidFill>
                            <a:srgbClr val="64646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0" marR="0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defTabSz="914400" eaLnBrk="1" hangingPunct="1">
                        <a:buNone/>
                      </a:pPr>
                      <a:endParaRPr lang="en-US" altLang="zh-CN" sz="14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47993" marR="47993" marT="47994" marB="47994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4EA7CF6-4F8A-8A76-6EEF-5D9A99C73949}"/>
              </a:ext>
            </a:extLst>
          </p:cNvPr>
          <p:cNvSpPr txBox="1"/>
          <p:nvPr/>
        </p:nvSpPr>
        <p:spPr>
          <a:xfrm>
            <a:off x="623888" y="892175"/>
            <a:ext cx="161925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810605A-1B4A-F334-9714-A673C248B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九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料盒定位</a:t>
            </a:r>
          </a:p>
        </p:txBody>
      </p:sp>
    </p:spTree>
    <p:extLst>
      <p:ext uri="{BB962C8B-B14F-4D97-AF65-F5344CB8AC3E}">
        <p14:creationId xmlns:p14="http://schemas.microsoft.com/office/powerpoint/2010/main" val="1764041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8A615-436D-37A9-E709-570969D3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3312">
            <a:extLst>
              <a:ext uri="{FF2B5EF4-FFF2-40B4-BE49-F238E27FC236}">
                <a16:creationId xmlns:a16="http://schemas.microsoft.com/office/drawing/2014/main" id="{28106FC4-9E55-9285-68B0-4DEF9102522D}"/>
              </a:ext>
            </a:extLst>
          </p:cNvPr>
          <p:cNvGrpSpPr>
            <a:grpSpLocks/>
          </p:cNvGrpSpPr>
          <p:nvPr/>
        </p:nvGrpSpPr>
        <p:grpSpPr bwMode="auto">
          <a:xfrm>
            <a:off x="8788400" y="1000125"/>
            <a:ext cx="3351186" cy="4176713"/>
            <a:chOff x="7572723" y="1147452"/>
            <a:chExt cx="3352053" cy="4177712"/>
          </a:xfrm>
        </p:grpSpPr>
        <p:grpSp>
          <p:nvGrpSpPr>
            <p:cNvPr id="19" name="组合 55">
              <a:extLst>
                <a:ext uri="{FF2B5EF4-FFF2-40B4-BE49-F238E27FC236}">
                  <a16:creationId xmlns:a16="http://schemas.microsoft.com/office/drawing/2014/main" id="{98159869-2AD3-9471-FC35-BAAB977FA7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72723" y="1147452"/>
              <a:ext cx="3352053" cy="4177712"/>
              <a:chOff x="7572723" y="1147452"/>
              <a:chExt cx="3352053" cy="4177712"/>
            </a:xfrm>
          </p:grpSpPr>
          <p:sp>
            <p:nvSpPr>
              <p:cNvPr id="31" name="文本框 12">
                <a:extLst>
                  <a:ext uri="{FF2B5EF4-FFF2-40B4-BE49-F238E27FC236}">
                    <a16:creationId xmlns:a16="http://schemas.microsoft.com/office/drawing/2014/main" id="{5D178E1F-CD14-87BB-F46E-AF0DA020B77C}"/>
                  </a:ext>
                </a:extLst>
              </p:cNvPr>
              <p:cNvSpPr txBox="1"/>
              <p:nvPr/>
            </p:nvSpPr>
            <p:spPr>
              <a:xfrm>
                <a:off x="7572723" y="1147452"/>
                <a:ext cx="1741939" cy="339806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>
                <a:spAutoFit/>
              </a:bodyPr>
              <a:lstStyle>
                <a:defPPr>
                  <a:defRPr lang="zh-CN"/>
                </a:defPPr>
                <a:lvl1pPr>
                  <a:defRPr kumimoji="0" sz="1400" i="0" u="none" strike="noStrike" cap="none" normalizeH="0" baseline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ea"/>
                    <a:ea typeface="+mj-ea"/>
                  </a:rPr>
                  <a:t>面阵视野示意图</a:t>
                </a:r>
                <a:endParaRPr lang="en-US" altLang="zh-CN" dirty="0">
                  <a:latin typeface="+mj-ea"/>
                  <a:ea typeface="+mj-ea"/>
                </a:endParaRPr>
              </a:p>
            </p:txBody>
          </p:sp>
          <p:pic>
            <p:nvPicPr>
              <p:cNvPr id="23552" name="图片 22">
                <a:extLst>
                  <a:ext uri="{FF2B5EF4-FFF2-40B4-BE49-F238E27FC236}">
                    <a16:creationId xmlns:a16="http://schemas.microsoft.com/office/drawing/2014/main" id="{20632868-4234-EB81-8AB5-0F31D12220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86813" y="1690921"/>
                <a:ext cx="328477" cy="890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53" name="平行四边形 23552">
                <a:extLst>
                  <a:ext uri="{FF2B5EF4-FFF2-40B4-BE49-F238E27FC236}">
                    <a16:creationId xmlns:a16="http://schemas.microsoft.com/office/drawing/2014/main" id="{AA290F53-2B9B-3790-7E88-283EABE938B8}"/>
                  </a:ext>
                </a:extLst>
              </p:cNvPr>
              <p:cNvSpPr/>
              <p:nvPr/>
            </p:nvSpPr>
            <p:spPr>
              <a:xfrm>
                <a:off x="8615981" y="4213648"/>
                <a:ext cx="1295735" cy="497006"/>
              </a:xfrm>
              <a:prstGeom prst="parallelogram">
                <a:avLst>
                  <a:gd name="adj" fmla="val 4995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cxnSp>
            <p:nvCxnSpPr>
              <p:cNvPr id="23555" name="直接连接符 23554">
                <a:extLst>
                  <a:ext uri="{FF2B5EF4-FFF2-40B4-BE49-F238E27FC236}">
                    <a16:creationId xmlns:a16="http://schemas.microsoft.com/office/drawing/2014/main" id="{867617F2-AFDD-9D6D-8AFD-6EBB91CC4D08}"/>
                  </a:ext>
                </a:extLst>
              </p:cNvPr>
              <p:cNvCxnSpPr>
                <a:stCxn id="23552" idx="2"/>
              </p:cNvCxnSpPr>
              <p:nvPr/>
            </p:nvCxnSpPr>
            <p:spPr>
              <a:xfrm flipH="1">
                <a:off x="8615981" y="2581308"/>
                <a:ext cx="635164" cy="206583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56" name="直接连接符 23555">
                <a:extLst>
                  <a:ext uri="{FF2B5EF4-FFF2-40B4-BE49-F238E27FC236}">
                    <a16:creationId xmlns:a16="http://schemas.microsoft.com/office/drawing/2014/main" id="{3340E169-9D54-C344-FE1A-5D0D36A001B5}"/>
                  </a:ext>
                </a:extLst>
              </p:cNvPr>
              <p:cNvCxnSpPr>
                <a:cxnSpLocks/>
                <a:stCxn id="23552" idx="2"/>
              </p:cNvCxnSpPr>
              <p:nvPr/>
            </p:nvCxnSpPr>
            <p:spPr>
              <a:xfrm flipH="1">
                <a:off x="8884337" y="2581308"/>
                <a:ext cx="366808" cy="156882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57" name="直接连接符 23556">
                <a:extLst>
                  <a:ext uri="{FF2B5EF4-FFF2-40B4-BE49-F238E27FC236}">
                    <a16:creationId xmlns:a16="http://schemas.microsoft.com/office/drawing/2014/main" id="{28BE91FD-C14A-2137-9A60-D0E59244FC4C}"/>
                  </a:ext>
                </a:extLst>
              </p:cNvPr>
              <p:cNvCxnSpPr>
                <a:cxnSpLocks/>
                <a:stCxn id="23552" idx="2"/>
              </p:cNvCxnSpPr>
              <p:nvPr/>
            </p:nvCxnSpPr>
            <p:spPr>
              <a:xfrm>
                <a:off x="9251145" y="2581308"/>
                <a:ext cx="447791" cy="206583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58" name="直接连接符 23557">
                <a:extLst>
                  <a:ext uri="{FF2B5EF4-FFF2-40B4-BE49-F238E27FC236}">
                    <a16:creationId xmlns:a16="http://schemas.microsoft.com/office/drawing/2014/main" id="{1F47E227-7842-0430-5D7A-64B6EA7F9537}"/>
                  </a:ext>
                </a:extLst>
              </p:cNvPr>
              <p:cNvCxnSpPr>
                <a:cxnSpLocks/>
                <a:stCxn id="23552" idx="2"/>
              </p:cNvCxnSpPr>
              <p:nvPr/>
            </p:nvCxnSpPr>
            <p:spPr>
              <a:xfrm>
                <a:off x="9251145" y="2581308"/>
                <a:ext cx="660571" cy="1568825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59" name="直接连接符 23558">
                <a:extLst>
                  <a:ext uri="{FF2B5EF4-FFF2-40B4-BE49-F238E27FC236}">
                    <a16:creationId xmlns:a16="http://schemas.microsoft.com/office/drawing/2014/main" id="{9A65BAC3-8C4F-7413-11C4-1E4CB55FA33D}"/>
                  </a:ext>
                </a:extLst>
              </p:cNvPr>
              <p:cNvCxnSpPr/>
              <p:nvPr/>
            </p:nvCxnSpPr>
            <p:spPr>
              <a:xfrm>
                <a:off x="8615981" y="4710654"/>
                <a:ext cx="0" cy="3191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0" name="直接连接符 23559">
                <a:extLst>
                  <a:ext uri="{FF2B5EF4-FFF2-40B4-BE49-F238E27FC236}">
                    <a16:creationId xmlns:a16="http://schemas.microsoft.com/office/drawing/2014/main" id="{7E6EF5C5-F29D-36A2-147F-CDD78B38C0F3}"/>
                  </a:ext>
                </a:extLst>
              </p:cNvPr>
              <p:cNvCxnSpPr/>
              <p:nvPr/>
            </p:nvCxnSpPr>
            <p:spPr>
              <a:xfrm>
                <a:off x="9698936" y="4710654"/>
                <a:ext cx="0" cy="3191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1" name="直接连接符 23560">
                <a:extLst>
                  <a:ext uri="{FF2B5EF4-FFF2-40B4-BE49-F238E27FC236}">
                    <a16:creationId xmlns:a16="http://schemas.microsoft.com/office/drawing/2014/main" id="{377D4D5D-F645-61A2-16DB-69D110FE0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8936" y="4710654"/>
                <a:ext cx="35727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2" name="直接连接符 23561">
                <a:extLst>
                  <a:ext uri="{FF2B5EF4-FFF2-40B4-BE49-F238E27FC236}">
                    <a16:creationId xmlns:a16="http://schemas.microsoft.com/office/drawing/2014/main" id="{1D2B0C7F-48D9-BF89-487C-5D2999B51B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11716" y="4213648"/>
                <a:ext cx="35727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3" name="直接箭头连接符 23562">
                <a:extLst>
                  <a:ext uri="{FF2B5EF4-FFF2-40B4-BE49-F238E27FC236}">
                    <a16:creationId xmlns:a16="http://schemas.microsoft.com/office/drawing/2014/main" id="{EEFA0EBC-F3A7-562B-98EE-9BB249605648}"/>
                  </a:ext>
                </a:extLst>
              </p:cNvPr>
              <p:cNvCxnSpPr/>
              <p:nvPr/>
            </p:nvCxnSpPr>
            <p:spPr>
              <a:xfrm>
                <a:off x="8615981" y="4980594"/>
                <a:ext cx="1008323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64" name="直接箭头连接符 23563">
                <a:extLst>
                  <a:ext uri="{FF2B5EF4-FFF2-40B4-BE49-F238E27FC236}">
                    <a16:creationId xmlns:a16="http://schemas.microsoft.com/office/drawing/2014/main" id="{3378CEF6-C3B2-B837-07D5-E01906687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6215" y="4213648"/>
                <a:ext cx="0" cy="49700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65" name="文本框 53">
                <a:extLst>
                  <a:ext uri="{FF2B5EF4-FFF2-40B4-BE49-F238E27FC236}">
                    <a16:creationId xmlns:a16="http://schemas.microsoft.com/office/drawing/2014/main" id="{7C1E2513-DC4A-D14F-7147-43F6032CF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94017" y="4955744"/>
                <a:ext cx="904649" cy="369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dirty="0"/>
                  <a:t>567mm</a:t>
                </a:r>
                <a:endParaRPr lang="zh-CN" altLang="en-US" sz="1800" dirty="0"/>
              </a:p>
            </p:txBody>
          </p:sp>
          <p:sp>
            <p:nvSpPr>
              <p:cNvPr id="23566" name="文本框 54">
                <a:extLst>
                  <a:ext uri="{FF2B5EF4-FFF2-40B4-BE49-F238E27FC236}">
                    <a16:creationId xmlns:a16="http://schemas.microsoft.com/office/drawing/2014/main" id="{0BCB4387-9BD8-714D-3017-811BA2CE27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20127" y="4243850"/>
                <a:ext cx="904649" cy="369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dirty="0"/>
                  <a:t>425mm</a:t>
                </a:r>
                <a:endParaRPr lang="zh-CN" altLang="en-US" sz="1800" dirty="0"/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5585A1D-9104-8C41-1F61-787698E22DCA}"/>
                </a:ext>
              </a:extLst>
            </p:cNvPr>
            <p:cNvCxnSpPr>
              <a:cxnSpLocks/>
              <a:stCxn id="23552" idx="2"/>
            </p:cNvCxnSpPr>
            <p:nvPr/>
          </p:nvCxnSpPr>
          <p:spPr>
            <a:xfrm flipH="1" flipV="1">
              <a:off x="8184069" y="2581308"/>
              <a:ext cx="10670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AC8228E-E519-9700-22AE-51C48CD570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50569" y="4402605"/>
              <a:ext cx="102102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32945BD6-DF56-C83B-A662-96909E590707}"/>
                </a:ext>
              </a:extLst>
            </p:cNvPr>
            <p:cNvCxnSpPr/>
            <p:nvPr/>
          </p:nvCxnSpPr>
          <p:spPr>
            <a:xfrm>
              <a:off x="8400025" y="2644823"/>
              <a:ext cx="0" cy="174984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13311">
              <a:extLst>
                <a:ext uri="{FF2B5EF4-FFF2-40B4-BE49-F238E27FC236}">
                  <a16:creationId xmlns:a16="http://schemas.microsoft.com/office/drawing/2014/main" id="{E14251CE-3A41-38CD-D328-B535A54E8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1275" y="3442628"/>
              <a:ext cx="904649" cy="369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dirty="0"/>
                <a:t>950mm</a:t>
              </a:r>
              <a:endParaRPr lang="zh-CN" altLang="en-US" sz="1800" dirty="0"/>
            </a:p>
          </p:txBody>
        </p:sp>
      </p:grpSp>
      <p:grpSp>
        <p:nvGrpSpPr>
          <p:cNvPr id="23567" name="组合 36">
            <a:extLst>
              <a:ext uri="{FF2B5EF4-FFF2-40B4-BE49-F238E27FC236}">
                <a16:creationId xmlns:a16="http://schemas.microsoft.com/office/drawing/2014/main" id="{CED65ED0-B83A-0F13-30AD-5C7144B83D0B}"/>
              </a:ext>
            </a:extLst>
          </p:cNvPr>
          <p:cNvGrpSpPr>
            <a:grpSpLocks/>
          </p:cNvGrpSpPr>
          <p:nvPr/>
        </p:nvGrpSpPr>
        <p:grpSpPr bwMode="auto">
          <a:xfrm>
            <a:off x="491331" y="1000125"/>
            <a:ext cx="3567661" cy="4716463"/>
            <a:chOff x="256158" y="1000125"/>
            <a:chExt cx="3566665" cy="4716463"/>
          </a:xfrm>
        </p:grpSpPr>
        <p:sp>
          <p:nvSpPr>
            <p:cNvPr id="23568" name="文本框 12">
              <a:extLst>
                <a:ext uri="{FF2B5EF4-FFF2-40B4-BE49-F238E27FC236}">
                  <a16:creationId xmlns:a16="http://schemas.microsoft.com/office/drawing/2014/main" id="{24B91657-475E-14EB-7652-33A43C42EA24}"/>
                </a:ext>
              </a:extLst>
            </p:cNvPr>
            <p:cNvSpPr txBox="1"/>
            <p:nvPr/>
          </p:nvSpPr>
          <p:spPr bwMode="auto">
            <a:xfrm>
              <a:off x="256158" y="1000125"/>
              <a:ext cx="1439460" cy="33972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anchor="ctr">
              <a:spAutoFit/>
            </a:bodyPr>
            <a:lstStyle>
              <a:defPPr>
                <a:defRPr lang="zh-CN"/>
              </a:defPPr>
              <a:lvl1pPr>
                <a:defRPr kumimoji="0" sz="1400" i="0" u="none" strike="noStrike" cap="none" normalizeH="0" baseline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</a:lstStyle>
            <a:p>
              <a:pPr algn="ctr" defTabSz="91437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宋体"/>
                  <a:ea typeface="宋体"/>
                </a:rPr>
                <a:t>安装示意图</a:t>
              </a:r>
              <a:endPara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宋体"/>
                <a:ea typeface="宋体"/>
              </a:endParaRPr>
            </a:p>
          </p:txBody>
        </p:sp>
        <p:pic>
          <p:nvPicPr>
            <p:cNvPr id="23571" name="Picture 4">
              <a:extLst>
                <a:ext uri="{FF2B5EF4-FFF2-40B4-BE49-F238E27FC236}">
                  <a16:creationId xmlns:a16="http://schemas.microsoft.com/office/drawing/2014/main" id="{53C5A205-AA91-D5EE-715C-6875CF2B99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473" y="2152732"/>
              <a:ext cx="350970" cy="1009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3572" name="直接连接符 23571">
              <a:extLst>
                <a:ext uri="{FF2B5EF4-FFF2-40B4-BE49-F238E27FC236}">
                  <a16:creationId xmlns:a16="http://schemas.microsoft.com/office/drawing/2014/main" id="{FBA75231-882C-2564-C51A-69DC24211E9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1782" y="5181600"/>
              <a:ext cx="135376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73" name="矩形 23572">
              <a:extLst>
                <a:ext uri="{FF2B5EF4-FFF2-40B4-BE49-F238E27FC236}">
                  <a16:creationId xmlns:a16="http://schemas.microsoft.com/office/drawing/2014/main" id="{67997C0A-E0B1-C08D-D989-49EF85E4448D}"/>
                </a:ext>
              </a:extLst>
            </p:cNvPr>
            <p:cNvSpPr/>
            <p:nvPr/>
          </p:nvSpPr>
          <p:spPr bwMode="auto">
            <a:xfrm>
              <a:off x="1260764" y="5167313"/>
              <a:ext cx="1110940" cy="4921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23574" name="TextBox 39">
              <a:extLst>
                <a:ext uri="{FF2B5EF4-FFF2-40B4-BE49-F238E27FC236}">
                  <a16:creationId xmlns:a16="http://schemas.microsoft.com/office/drawing/2014/main" id="{2F958726-EEED-8DDD-D556-B8D3452C7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95745" y="4148369"/>
              <a:ext cx="1440134" cy="277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dirty="0"/>
                <a:t>950±10mm</a:t>
              </a:r>
              <a:endParaRPr lang="zh-CN" altLang="en-US" sz="1200" dirty="0"/>
            </a:p>
          </p:txBody>
        </p:sp>
        <p:cxnSp>
          <p:nvCxnSpPr>
            <p:cNvPr id="23575" name="直接箭头连接符 23574">
              <a:extLst>
                <a:ext uri="{FF2B5EF4-FFF2-40B4-BE49-F238E27FC236}">
                  <a16:creationId xmlns:a16="http://schemas.microsoft.com/office/drawing/2014/main" id="{5DE00259-FFB3-0B8C-A917-AFAC0C9DACB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77818" y="3189289"/>
              <a:ext cx="26391" cy="1957386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580" name="组合 36">
              <a:extLst>
                <a:ext uri="{FF2B5EF4-FFF2-40B4-BE49-F238E27FC236}">
                  <a16:creationId xmlns:a16="http://schemas.microsoft.com/office/drawing/2014/main" id="{8B3FC841-D99D-4605-6DE9-555327B55B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2429" y="1985963"/>
              <a:ext cx="2030394" cy="1324589"/>
              <a:chOff x="4027901" y="2616021"/>
              <a:chExt cx="2030377" cy="1324336"/>
            </a:xfrm>
          </p:grpSpPr>
          <p:sp>
            <p:nvSpPr>
              <p:cNvPr id="47" name="矩形 76">
                <a:extLst>
                  <a:ext uri="{FF2B5EF4-FFF2-40B4-BE49-F238E27FC236}">
                    <a16:creationId xmlns:a16="http://schemas.microsoft.com/office/drawing/2014/main" id="{431E006B-8E3A-11B6-76B1-5B2F4230804A}"/>
                  </a:ext>
                </a:extLst>
              </p:cNvPr>
              <p:cNvSpPr/>
              <p:nvPr/>
            </p:nvSpPr>
            <p:spPr bwMode="auto">
              <a:xfrm flipH="1">
                <a:off x="4583366" y="2616021"/>
                <a:ext cx="647514" cy="215859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r>
                  <a:rPr lang="zh-CN" altLang="en-US" sz="10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相机</a:t>
                </a:r>
              </a:p>
            </p:txBody>
          </p:sp>
          <p:sp>
            <p:nvSpPr>
              <p:cNvPr id="48" name="矩形 8">
                <a:extLst>
                  <a:ext uri="{FF2B5EF4-FFF2-40B4-BE49-F238E27FC236}">
                    <a16:creationId xmlns:a16="http://schemas.microsoft.com/office/drawing/2014/main" id="{37893C91-E5DC-8E70-A29B-514F25D6A08E}"/>
                  </a:ext>
                </a:extLst>
              </p:cNvPr>
              <p:cNvSpPr/>
              <p:nvPr/>
            </p:nvSpPr>
            <p:spPr bwMode="auto">
              <a:xfrm flipH="1" flipV="1">
                <a:off x="4027901" y="2706491"/>
                <a:ext cx="955400" cy="511077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000" dirty="0"/>
              </a:p>
            </p:txBody>
          </p:sp>
          <p:sp>
            <p:nvSpPr>
              <p:cNvPr id="49" name="矩形 76">
                <a:extLst>
                  <a:ext uri="{FF2B5EF4-FFF2-40B4-BE49-F238E27FC236}">
                    <a16:creationId xmlns:a16="http://schemas.microsoft.com/office/drawing/2014/main" id="{4078E6D2-CD5F-44B9-F52C-D599432ABA60}"/>
                  </a:ext>
                </a:extLst>
              </p:cNvPr>
              <p:cNvSpPr/>
              <p:nvPr/>
            </p:nvSpPr>
            <p:spPr bwMode="auto">
              <a:xfrm flipH="1">
                <a:off x="5410764" y="3338811"/>
                <a:ext cx="647514" cy="215859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r>
                  <a:rPr lang="zh-CN" altLang="en-US" sz="1000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面光源</a:t>
                </a:r>
              </a:p>
            </p:txBody>
          </p:sp>
          <p:sp>
            <p:nvSpPr>
              <p:cNvPr id="50" name="矩形 8">
                <a:extLst>
                  <a:ext uri="{FF2B5EF4-FFF2-40B4-BE49-F238E27FC236}">
                    <a16:creationId xmlns:a16="http://schemas.microsoft.com/office/drawing/2014/main" id="{2E0970D0-A5BF-1643-920F-383A78850102}"/>
                  </a:ext>
                </a:extLst>
              </p:cNvPr>
              <p:cNvSpPr/>
              <p:nvPr/>
            </p:nvSpPr>
            <p:spPr bwMode="auto">
              <a:xfrm flipH="1" flipV="1">
                <a:off x="4855299" y="3429280"/>
                <a:ext cx="955400" cy="511077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000" dirty="0"/>
              </a:p>
            </p:txBody>
          </p:sp>
        </p:grpSp>
        <p:sp>
          <p:nvSpPr>
            <p:cNvPr id="23582" name="矩形 76">
              <a:extLst>
                <a:ext uri="{FF2B5EF4-FFF2-40B4-BE49-F238E27FC236}">
                  <a16:creationId xmlns:a16="http://schemas.microsoft.com/office/drawing/2014/main" id="{AA577536-9453-8161-B003-6A990351A079}"/>
                </a:ext>
              </a:extLst>
            </p:cNvPr>
            <p:cNvSpPr/>
            <p:nvPr/>
          </p:nvSpPr>
          <p:spPr bwMode="auto">
            <a:xfrm flipH="1">
              <a:off x="2844647" y="5500688"/>
              <a:ext cx="647519" cy="21590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sz="10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料盒</a:t>
              </a:r>
            </a:p>
          </p:txBody>
        </p:sp>
        <p:sp>
          <p:nvSpPr>
            <p:cNvPr id="23583" name="矩形 8">
              <a:extLst>
                <a:ext uri="{FF2B5EF4-FFF2-40B4-BE49-F238E27FC236}">
                  <a16:creationId xmlns:a16="http://schemas.microsoft.com/office/drawing/2014/main" id="{44C394E3-9B9F-BE1E-8C2D-BF437BCDD2FB}"/>
                </a:ext>
              </a:extLst>
            </p:cNvPr>
            <p:cNvSpPr/>
            <p:nvPr/>
          </p:nvSpPr>
          <p:spPr bwMode="auto">
            <a:xfrm flipH="1">
              <a:off x="2136820" y="5260975"/>
              <a:ext cx="955408" cy="374650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1E0EF0C8-D27D-B356-1358-1CC869DD8BA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3462" y="3141084"/>
              <a:ext cx="2118398" cy="143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70218101-9075-F297-C5B5-562D84B27A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34775" y="3162300"/>
              <a:ext cx="2044" cy="17230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39">
              <a:extLst>
                <a:ext uri="{FF2B5EF4-FFF2-40B4-BE49-F238E27FC236}">
                  <a16:creationId xmlns:a16="http://schemas.microsoft.com/office/drawing/2014/main" id="{1A1CC43D-A43A-C0F9-2F6D-878FD286C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955" y="3102242"/>
              <a:ext cx="1439732" cy="277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200" dirty="0"/>
                <a:t>50±10mm</a:t>
              </a:r>
              <a:endParaRPr lang="zh-CN" altLang="en-US" sz="1200" dirty="0"/>
            </a:p>
          </p:txBody>
        </p:sp>
      </p:grpSp>
      <p:grpSp>
        <p:nvGrpSpPr>
          <p:cNvPr id="56" name="组合 18">
            <a:extLst>
              <a:ext uri="{FF2B5EF4-FFF2-40B4-BE49-F238E27FC236}">
                <a16:creationId xmlns:a16="http://schemas.microsoft.com/office/drawing/2014/main" id="{EAA12622-666E-2936-CD9F-9C1212647D2F}"/>
              </a:ext>
            </a:extLst>
          </p:cNvPr>
          <p:cNvGrpSpPr>
            <a:grpSpLocks/>
          </p:cNvGrpSpPr>
          <p:nvPr/>
        </p:nvGrpSpPr>
        <p:grpSpPr bwMode="auto">
          <a:xfrm>
            <a:off x="5672930" y="2209463"/>
            <a:ext cx="2379939" cy="2244576"/>
            <a:chOff x="4515430" y="1929298"/>
            <a:chExt cx="3014083" cy="2765241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52B41048-7789-CAAF-5E46-320E1306F56C}"/>
                </a:ext>
              </a:extLst>
            </p:cNvPr>
            <p:cNvSpPr/>
            <p:nvPr/>
          </p:nvSpPr>
          <p:spPr bwMode="auto">
            <a:xfrm>
              <a:off x="4515430" y="2270767"/>
              <a:ext cx="2258656" cy="24237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1" name="矩形 76">
              <a:extLst>
                <a:ext uri="{FF2B5EF4-FFF2-40B4-BE49-F238E27FC236}">
                  <a16:creationId xmlns:a16="http://schemas.microsoft.com/office/drawing/2014/main" id="{B1D83E85-02AE-A1DE-9EB8-B5C790F66E28}"/>
                </a:ext>
              </a:extLst>
            </p:cNvPr>
            <p:cNvSpPr/>
            <p:nvPr/>
          </p:nvSpPr>
          <p:spPr bwMode="auto">
            <a:xfrm flipH="1">
              <a:off x="6236561" y="1929298"/>
              <a:ext cx="647597" cy="215989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sz="10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光源</a:t>
              </a:r>
            </a:p>
          </p:txBody>
        </p:sp>
        <p:sp>
          <p:nvSpPr>
            <p:cNvPr id="63" name="矩形 8">
              <a:extLst>
                <a:ext uri="{FF2B5EF4-FFF2-40B4-BE49-F238E27FC236}">
                  <a16:creationId xmlns:a16="http://schemas.microsoft.com/office/drawing/2014/main" id="{EF084AA8-6EE1-74DD-BF0B-F4FECA27D800}"/>
                </a:ext>
              </a:extLst>
            </p:cNvPr>
            <p:cNvSpPr/>
            <p:nvPr/>
          </p:nvSpPr>
          <p:spPr bwMode="auto">
            <a:xfrm flipH="1" flipV="1">
              <a:off x="5778225" y="2120918"/>
              <a:ext cx="496810" cy="325570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/>
            </a:p>
          </p:txBody>
        </p:sp>
        <p:sp>
          <p:nvSpPr>
            <p:cNvPr id="65" name="矩形 76">
              <a:extLst>
                <a:ext uri="{FF2B5EF4-FFF2-40B4-BE49-F238E27FC236}">
                  <a16:creationId xmlns:a16="http://schemas.microsoft.com/office/drawing/2014/main" id="{C1935D64-D53F-6A82-5D60-D14FA9A733A9}"/>
                </a:ext>
              </a:extLst>
            </p:cNvPr>
            <p:cNvSpPr/>
            <p:nvPr/>
          </p:nvSpPr>
          <p:spPr bwMode="auto">
            <a:xfrm flipH="1">
              <a:off x="6881915" y="3163307"/>
              <a:ext cx="647598" cy="215989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sz="10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相机</a:t>
              </a:r>
            </a:p>
          </p:txBody>
        </p:sp>
        <p:sp>
          <p:nvSpPr>
            <p:cNvPr id="66" name="矩形 8">
              <a:extLst>
                <a:ext uri="{FF2B5EF4-FFF2-40B4-BE49-F238E27FC236}">
                  <a16:creationId xmlns:a16="http://schemas.microsoft.com/office/drawing/2014/main" id="{A8E6A23C-DC3B-A7E7-6C29-5E1FE078035A}"/>
                </a:ext>
              </a:extLst>
            </p:cNvPr>
            <p:cNvSpPr/>
            <p:nvPr/>
          </p:nvSpPr>
          <p:spPr bwMode="auto">
            <a:xfrm flipH="1" flipV="1">
              <a:off x="5882334" y="3268125"/>
              <a:ext cx="1075768" cy="300252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000" dirty="0"/>
            </a:p>
          </p:txBody>
        </p:sp>
        <p:pic>
          <p:nvPicPr>
            <p:cNvPr id="67" name="图片 59">
              <a:extLst>
                <a:ext uri="{FF2B5EF4-FFF2-40B4-BE49-F238E27FC236}">
                  <a16:creationId xmlns:a16="http://schemas.microsoft.com/office/drawing/2014/main" id="{2C66D6D6-822A-F50E-FBCA-2DF585626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8437" y="3197113"/>
              <a:ext cx="386984" cy="362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7E9675F-BA7A-B73F-725E-3F85FCCB8716}"/>
              </a:ext>
            </a:extLst>
          </p:cNvPr>
          <p:cNvSpPr/>
          <p:nvPr/>
        </p:nvSpPr>
        <p:spPr>
          <a:xfrm>
            <a:off x="1189680" y="3320796"/>
            <a:ext cx="1645563" cy="797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8308E11-11C9-B233-3FCB-CF4C013EB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lang="zh-CN" altLang="en-US" sz="3445" dirty="0">
                <a:solidFill>
                  <a:srgbClr val="0C57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九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料盒定位</a:t>
            </a:r>
          </a:p>
        </p:txBody>
      </p:sp>
    </p:spTree>
    <p:extLst>
      <p:ext uri="{BB962C8B-B14F-4D97-AF65-F5344CB8AC3E}">
        <p14:creationId xmlns:p14="http://schemas.microsoft.com/office/powerpoint/2010/main" val="2461579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223A-F849-0255-B5FB-C399ED01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95767E6-1F5D-1470-CB98-17656E88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工位十 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3D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压花检测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8442C3-FCC1-E13E-53BB-5DA09E918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49" y="1690445"/>
            <a:ext cx="11650701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024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649C-2390-4532-293B-2884D026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39F8405-A621-9DD7-94E7-53CD4117A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设计要求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DC2ABA-0187-EF24-0C98-AAB95E639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268412"/>
            <a:ext cx="11160744" cy="378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、面阵工控机和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工控机共用同一个显示器，采用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切换，请做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切换器安装支架；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料机工控机单独一个显示器；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、采用接触式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24V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编码器，但是到采集卡及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时需降压到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，减少过程中干扰；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、相机有安装方向要求的，按方案俯视图设计安装；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端子排、编码器一分四分配器与工控机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米走线以内；工控机与相机就近原则，走线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米以内；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、相机若做保护罩，镜头有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±10mm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伸缩，保护罩要预留调节空间；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、相机保护罩要采用快拆模式，需要把螺丝拆下即可打开保护罩；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、工控机安装位置要便于背部插拔线，方便线路排查，当时注意线材突出进出设备碰到线材；做防护罩要快拆方式；</a:t>
            </a:r>
          </a:p>
        </p:txBody>
      </p:sp>
    </p:spTree>
    <p:extLst>
      <p:ext uri="{BB962C8B-B14F-4D97-AF65-F5344CB8AC3E}">
        <p14:creationId xmlns:p14="http://schemas.microsoft.com/office/powerpoint/2010/main" val="3460564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5" descr="杰锐思VI PPT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37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Q0NWRjZTU5Yzg3YmYxODBiYWNiYzFiMzczYzU3OD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5.75,&quot;left&quot;:315.55,&quot;top&quot;:48.9,&quot;width&quot;:593.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1936</TotalTime>
  <Words>2701</Words>
  <Application>Microsoft Office PowerPoint</Application>
  <PresentationFormat>宽屏</PresentationFormat>
  <Paragraphs>912</Paragraphs>
  <Slides>35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等线</vt:lpstr>
      <vt:lpstr>黑体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默认设计模板</vt:lpstr>
      <vt:lpstr>PowerPoint 演示文稿</vt:lpstr>
      <vt:lpstr>更新记录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mingxh</dc:creator>
  <cp:lastModifiedBy>谭秀鹏</cp:lastModifiedBy>
  <cp:revision>1864</cp:revision>
  <dcterms:created xsi:type="dcterms:W3CDTF">2018-03-20T12:00:00Z</dcterms:created>
  <dcterms:modified xsi:type="dcterms:W3CDTF">2025-06-18T07:59:50Z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57A9BDA0CA7A4892B5EE4225A7409092_13</vt:lpwstr>
  </property>
</Properties>
</file>